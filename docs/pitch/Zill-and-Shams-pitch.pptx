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Zill and Shams means shade and sun. We built an AI agent that plans every walk and ride around the sun, not just around the clock. We are Abhamzay, Team 13.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hot city the route you choose decides how much direct sun you take, and in summer that is a health risk. In a dark winter the opposite problem appears: too little daylight. And because sun and shade move every minute, a fixed list of shady streets is never right for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of the sunniest places on earth, 72 percent of adults in a large Abu Dhabi study were vitamin D deficient. More than 70,000 delivery riders work across Dubai, and 18.7 million overnight visitors came in 2024. The UAE even bans outdoor work in direct midday sun for three summer months. Sources are on the slide: BMC Research Notes 2019, Dubai RTA, Dubai DET via WAM, and MoHRE.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engine, two modes. Shade mode finds the coolest route for hot cities, using air-conditioned links like the Metro to Dubai Mall walkway. Sun mode finds the sunniest route for people short on daylight. Same engine, the preference just flips.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it works in one picture. We start from open map data, build a 3D model of the city, work out where sun and shadows fall every 10 minutes, find the best route, and an AI agent plans, checks and adjusts. It works for any city with OpenStreetMap data, and Downtown Dubai is our first.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walk computed by the engine: Burj Park to the Business Bay Metro on a summer afternoon at 15:30. The shaded route takes 6.2 minutes less direct sun, 40 percent less, and is only 2.2 minutes longer. It is computed from real map data and it is live. It is a model estimate: awnings and wind are not modelled yet.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Zill and Shams is an agent, not just a map. It understands a request like 'I tire easily in the heat' and compares options. A second AI step verifies every claim, and every number comes from the engine. If you are delayed or a street is closed, it replans and asks before changing your plan.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five groups who would pay. Delivery fleets pay per rider, hotels per property, employers of outdoor workers per site, corporate well-being programmes per employee, and cities with dark winters through a city licence. Individuals use it free, which builds reach and data. The prices are hypotheses we are still validating.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people, one product. A rider in Dubai in July gets the coolest route and an air-conditioned rest stop. A hotel guest gets a 25-minute shaded walk instead of a cab. An office worker gets a sunny lunch walk for daylight. A resident of Oslo in December gets the sunniest path in the few daylight hours. Sun mode is about well-being, not medical advice.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main revenue is B2B software subscriptions from fleets, hotels and employers. Alongside that we offer a pay-per-route API, city and tourism licences, and a free consumer app for reach. Adding a city costs very little because it is built automatically from open data.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 in Dubai with a pilot with one delivery fleet and one hotel, and the prototype is already live. Next we expand across the UAE and Gulf, to Abu Dhabi, Doha and Riyadh, adding sun mode for winter well-being. Then a winter daylight pilot in a northern city like Oslo or Toronto.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prototype is live at zill.itshamza.me, with a 3D city, a shade engine, routing and an AI agent. It runs on real Downtown Dubai data and real sun calculations, and 296 automated tests pass. We are honest about the limits: shade comes from buildings and mapped trees, and field measurements are the next step.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Zill and Shams: shade when you need it, sun when you want it. We are Abhamzay, Mohammed Hamza Ansari and Abhay Preethan. You can try it right now at zill.itshamza.me.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pic>
        <p:nvPicPr>
          <p:cNvPr id="2" name="Picture 1" descr="01_dubai-13-00_f.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6949440" cy="6858000"/>
          </a:xfrm>
          <a:prstGeom prst="rect">
            <a:avLst/>
          </a:prstGeom>
          <a:solidFill>
            <a:srgbClr val="0E0C0A">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22960"/>
            <a:ext cx="6400800" cy="274320"/>
          </a:xfrm>
          <a:prstGeom prst="rect">
            <a:avLst/>
          </a:prstGeom>
          <a:noFill/>
        </p:spPr>
        <p:txBody>
          <a:bodyPr wrap="square" anchor="t" lIns="0" rIns="0" tIns="0" bIns="0">
            <a:spAutoFit/>
          </a:bodyPr>
          <a:lstStyle/>
          <a:p>
            <a:pPr algn="l">
              <a:spcAft>
                <a:spcPts val="0"/>
              </a:spcAft>
            </a:pPr>
            <a:r>
              <a:rPr sz="1100" b="0" i="0" spc="300">
                <a:solidFill>
                  <a:srgbClr val="C8A15A"/>
                </a:solidFill>
                <a:latin typeface="Segoe UI"/>
              </a:rPr>
              <a:t>AI AGENTS HACKATHON · AUD</a:t>
            </a:r>
          </a:p>
        </p:txBody>
      </p:sp>
      <p:sp>
        <p:nvSpPr>
          <p:cNvPr id="5" name="TextBox 4"/>
          <p:cNvSpPr txBox="1"/>
          <p:nvPr/>
        </p:nvSpPr>
        <p:spPr>
          <a:xfrm>
            <a:off x="822960" y="2011680"/>
            <a:ext cx="5852160" cy="1188720"/>
          </a:xfrm>
          <a:prstGeom prst="rect">
            <a:avLst/>
          </a:prstGeom>
          <a:noFill/>
        </p:spPr>
        <p:txBody>
          <a:bodyPr wrap="square" anchor="t" lIns="0" rIns="0" tIns="0" bIns="0">
            <a:spAutoFit/>
          </a:bodyPr>
          <a:lstStyle/>
          <a:p>
            <a:pPr algn="l">
              <a:spcAft>
                <a:spcPts val="0"/>
              </a:spcAft>
            </a:pPr>
            <a:r>
              <a:rPr sz="6000" b="0" i="0">
                <a:solidFill>
                  <a:srgbClr val="E9DCBC"/>
                </a:solidFill>
                <a:latin typeface="Georgia"/>
              </a:rPr>
              <a:t>Zill &amp; Shams</a:t>
            </a:r>
          </a:p>
        </p:txBody>
      </p:sp>
      <p:sp>
        <p:nvSpPr>
          <p:cNvPr id="6" name="TextBox 5"/>
          <p:cNvSpPr txBox="1"/>
          <p:nvPr/>
        </p:nvSpPr>
        <p:spPr>
          <a:xfrm>
            <a:off x="822960" y="3154680"/>
            <a:ext cx="5852160" cy="457200"/>
          </a:xfrm>
          <a:prstGeom prst="rect">
            <a:avLst/>
          </a:prstGeom>
          <a:noFill/>
        </p:spPr>
        <p:txBody>
          <a:bodyPr wrap="square" anchor="t" lIns="0" rIns="0" tIns="0" bIns="0">
            <a:spAutoFit/>
          </a:bodyPr>
          <a:lstStyle/>
          <a:p>
            <a:pPr algn="l">
              <a:spcAft>
                <a:spcPts val="0"/>
              </a:spcAft>
            </a:pPr>
            <a:r>
              <a:rPr sz="2200" b="0" i="0">
                <a:solidFill>
                  <a:srgbClr val="C8A15A"/>
                </a:solidFill>
                <a:latin typeface="Georgia"/>
              </a:rPr>
              <a:t>ظل وشمس</a:t>
            </a:r>
          </a:p>
        </p:txBody>
      </p:sp>
      <p:cxnSp>
        <p:nvCxnSpPr>
          <p:cNvPr id="7" name="Connector 6"/>
          <p:cNvCxnSpPr/>
          <p:nvPr/>
        </p:nvCxnSpPr>
        <p:spPr>
          <a:xfrm>
            <a:off x="822960" y="4023360"/>
            <a:ext cx="1097280" cy="0"/>
          </a:xfrm>
          <a:prstGeom prst="line">
            <a:avLst/>
          </a:prstGeom>
          <a:ln w="9525">
            <a:solidFill>
              <a:srgbClr val="C8A15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4206240"/>
            <a:ext cx="5669280" cy="1005840"/>
          </a:xfrm>
          <a:prstGeom prst="rect">
            <a:avLst/>
          </a:prstGeom>
          <a:noFill/>
        </p:spPr>
        <p:txBody>
          <a:bodyPr wrap="square" anchor="t" lIns="0" rIns="0" tIns="0" bIns="0">
            <a:spAutoFit/>
          </a:bodyPr>
          <a:lstStyle/>
          <a:p>
            <a:pPr algn="l">
              <a:spcAft>
                <a:spcPts val="0"/>
              </a:spcAft>
            </a:pPr>
            <a:r>
              <a:rPr sz="2400" b="0" i="1">
                <a:solidFill>
                  <a:srgbClr val="F4EEE1"/>
                </a:solidFill>
                <a:latin typeface="Georgia"/>
              </a:rPr>
              <a:t>Shade when you need it. Sun when you want it.</a:t>
            </a:r>
          </a:p>
        </p:txBody>
      </p:sp>
      <p:sp>
        <p:nvSpPr>
          <p:cNvPr id="9" name="TextBox 8"/>
          <p:cNvSpPr txBox="1"/>
          <p:nvPr/>
        </p:nvSpPr>
        <p:spPr>
          <a:xfrm>
            <a:off x="822960" y="5257800"/>
            <a:ext cx="5669280" cy="640080"/>
          </a:xfrm>
          <a:prstGeom prst="rect">
            <a:avLst/>
          </a:prstGeom>
          <a:noFill/>
        </p:spPr>
        <p:txBody>
          <a:bodyPr wrap="square" anchor="t" lIns="0" rIns="0" tIns="0" bIns="0">
            <a:spAutoFit/>
          </a:bodyPr>
          <a:lstStyle/>
          <a:p>
            <a:pPr algn="l">
              <a:spcAft>
                <a:spcPts val="0"/>
              </a:spcAft>
            </a:pPr>
            <a:r>
              <a:rPr sz="1500" b="0" i="0">
                <a:solidFill>
                  <a:srgbClr val="F4EEE1"/>
                </a:solidFill>
                <a:latin typeface="Segoe UI"/>
              </a:rPr>
              <a:t>An AI agent that plans every walk and ride around the sun.</a:t>
            </a:r>
          </a:p>
        </p:txBody>
      </p:sp>
      <p:sp>
        <p:nvSpPr>
          <p:cNvPr id="10" name="TextBox 9"/>
          <p:cNvSpPr txBox="1"/>
          <p:nvPr/>
        </p:nvSpPr>
        <p:spPr>
          <a:xfrm>
            <a:off x="822960" y="3611880"/>
            <a:ext cx="5852160" cy="274320"/>
          </a:xfrm>
          <a:prstGeom prst="rect">
            <a:avLst/>
          </a:prstGeom>
          <a:noFill/>
        </p:spPr>
        <p:txBody>
          <a:bodyPr wrap="square" anchor="t" lIns="0" rIns="0" tIns="0" bIns="0">
            <a:spAutoFit/>
          </a:bodyPr>
          <a:lstStyle/>
          <a:p>
            <a:pPr algn="l">
              <a:spcAft>
                <a:spcPts val="0"/>
              </a:spcAft>
            </a:pPr>
            <a:r>
              <a:rPr sz="1400" b="0" i="1">
                <a:solidFill>
                  <a:srgbClr val="7C8A94"/>
                </a:solidFill>
                <a:latin typeface="Segoe UI"/>
              </a:rPr>
              <a:t>shade and sun</a:t>
            </a:r>
          </a:p>
        </p:txBody>
      </p:sp>
      <p:sp>
        <p:nvSpPr>
          <p:cNvPr id="11" name="TextBox 10"/>
          <p:cNvSpPr txBox="1"/>
          <p:nvPr/>
        </p:nvSpPr>
        <p:spPr>
          <a:xfrm>
            <a:off x="822960" y="6263640"/>
            <a:ext cx="5852160" cy="274320"/>
          </a:xfrm>
          <a:prstGeom prst="rect">
            <a:avLst/>
          </a:prstGeom>
          <a:noFill/>
        </p:spPr>
        <p:txBody>
          <a:bodyPr wrap="square" anchor="t" lIns="0" rIns="0" tIns="0" bIns="0">
            <a:spAutoFit/>
          </a:bodyPr>
          <a:lstStyle/>
          <a:p>
            <a:pPr algn="l">
              <a:spcAft>
                <a:spcPts val="0"/>
              </a:spcAft>
            </a:pPr>
            <a:r>
              <a:rPr sz="1100" b="0" i="0" spc="100">
                <a:solidFill>
                  <a:srgbClr val="7C8A94"/>
                </a:solidFill>
                <a:latin typeface="Segoe UI"/>
              </a:rPr>
              <a:t>Abhamzay, Team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pic>
        <p:nvPicPr>
          <p:cNvPr id="2" name="Picture 1" descr="02_the-problem_f.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E0C0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731520"/>
            <a:ext cx="5486400" cy="274320"/>
          </a:xfrm>
          <a:prstGeom prst="rect">
            <a:avLst/>
          </a:prstGeom>
          <a:noFill/>
        </p:spPr>
        <p:txBody>
          <a:bodyPr wrap="square" anchor="t" lIns="0" rIns="0" tIns="0" bIns="0">
            <a:spAutoFit/>
          </a:bodyPr>
          <a:lstStyle/>
          <a:p>
            <a:pPr algn="l">
              <a:spcAft>
                <a:spcPts val="0"/>
              </a:spcAft>
            </a:pPr>
            <a:r>
              <a:rPr sz="1100" b="0" i="0" spc="300">
                <a:solidFill>
                  <a:srgbClr val="C8A15A"/>
                </a:solidFill>
                <a:latin typeface="Segoe UI"/>
              </a:rPr>
              <a:t>THE PROBLEM</a:t>
            </a:r>
          </a:p>
        </p:txBody>
      </p:sp>
      <p:sp>
        <p:nvSpPr>
          <p:cNvPr id="5" name="TextBox 4"/>
          <p:cNvSpPr txBox="1"/>
          <p:nvPr/>
        </p:nvSpPr>
        <p:spPr>
          <a:xfrm>
            <a:off x="822960" y="1188720"/>
            <a:ext cx="8686800" cy="1371600"/>
          </a:xfrm>
          <a:prstGeom prst="rect">
            <a:avLst/>
          </a:prstGeom>
          <a:noFill/>
        </p:spPr>
        <p:txBody>
          <a:bodyPr wrap="square" anchor="t" lIns="0" rIns="0" tIns="0" bIns="0">
            <a:spAutoFit/>
          </a:bodyPr>
          <a:lstStyle/>
          <a:p>
            <a:pPr algn="l">
              <a:spcAft>
                <a:spcPts val="0"/>
              </a:spcAft>
            </a:pPr>
            <a:r>
              <a:rPr sz="4000" b="0" i="0">
                <a:solidFill>
                  <a:srgbClr val="E9DCBC"/>
                </a:solidFill>
                <a:latin typeface="Georgia"/>
              </a:rPr>
              <a:t>Maps plan around time. Nobody plans around the sun.</a:t>
            </a:r>
          </a:p>
        </p:txBody>
      </p:sp>
      <p:cxnSp>
        <p:nvCxnSpPr>
          <p:cNvPr id="6" name="Connector 5"/>
          <p:cNvCxnSpPr/>
          <p:nvPr/>
        </p:nvCxnSpPr>
        <p:spPr>
          <a:xfrm>
            <a:off x="822960" y="3794760"/>
            <a:ext cx="3200400" cy="0"/>
          </a:xfrm>
          <a:prstGeom prst="line">
            <a:avLst/>
          </a:prstGeom>
          <a:ln w="9525">
            <a:solidFill>
              <a:srgbClr val="C8A15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3931920"/>
            <a:ext cx="914400" cy="365760"/>
          </a:xfrm>
          <a:prstGeom prst="rect">
            <a:avLst/>
          </a:prstGeom>
          <a:noFill/>
        </p:spPr>
        <p:txBody>
          <a:bodyPr wrap="square" anchor="t" lIns="0" rIns="0" tIns="0" bIns="0">
            <a:spAutoFit/>
          </a:bodyPr>
          <a:lstStyle/>
          <a:p>
            <a:pPr algn="l">
              <a:spcAft>
                <a:spcPts val="0"/>
              </a:spcAft>
            </a:pPr>
            <a:r>
              <a:rPr sz="1400" b="0" i="0">
                <a:solidFill>
                  <a:srgbClr val="C8A15A"/>
                </a:solidFill>
                <a:latin typeface="Georgia"/>
              </a:rPr>
              <a:t>01</a:t>
            </a:r>
          </a:p>
        </p:txBody>
      </p:sp>
      <p:sp>
        <p:nvSpPr>
          <p:cNvPr id="8" name="TextBox 7"/>
          <p:cNvSpPr txBox="1"/>
          <p:nvPr/>
        </p:nvSpPr>
        <p:spPr>
          <a:xfrm>
            <a:off x="822960" y="4389120"/>
            <a:ext cx="3200400" cy="1463040"/>
          </a:xfrm>
          <a:prstGeom prst="rect">
            <a:avLst/>
          </a:prstGeom>
          <a:noFill/>
        </p:spPr>
        <p:txBody>
          <a:bodyPr wrap="square" anchor="t" lIns="0" rIns="0" tIns="0" bIns="0">
            <a:spAutoFit/>
          </a:bodyPr>
          <a:lstStyle/>
          <a:p>
            <a:pPr algn="l">
              <a:spcAft>
                <a:spcPts val="0"/>
              </a:spcAft>
            </a:pPr>
            <a:r>
              <a:rPr sz="1500" b="0" i="0">
                <a:solidFill>
                  <a:srgbClr val="F4EEE1"/>
                </a:solidFill>
                <a:latin typeface="Segoe UI"/>
              </a:rPr>
              <a:t>In hot cities, the route you pick decides how much direct sun you take, and in summer that is a health risk.</a:t>
            </a:r>
          </a:p>
        </p:txBody>
      </p:sp>
      <p:cxnSp>
        <p:nvCxnSpPr>
          <p:cNvPr id="9" name="Connector 8"/>
          <p:cNvCxnSpPr/>
          <p:nvPr/>
        </p:nvCxnSpPr>
        <p:spPr>
          <a:xfrm>
            <a:off x="4480560" y="3794760"/>
            <a:ext cx="3200400" cy="0"/>
          </a:xfrm>
          <a:prstGeom prst="line">
            <a:avLst/>
          </a:prstGeom>
          <a:ln w="9525">
            <a:solidFill>
              <a:srgbClr val="C8A15A"/>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80560" y="3931920"/>
            <a:ext cx="914400" cy="365760"/>
          </a:xfrm>
          <a:prstGeom prst="rect">
            <a:avLst/>
          </a:prstGeom>
          <a:noFill/>
        </p:spPr>
        <p:txBody>
          <a:bodyPr wrap="square" anchor="t" lIns="0" rIns="0" tIns="0" bIns="0">
            <a:spAutoFit/>
          </a:bodyPr>
          <a:lstStyle/>
          <a:p>
            <a:pPr algn="l">
              <a:spcAft>
                <a:spcPts val="0"/>
              </a:spcAft>
            </a:pPr>
            <a:r>
              <a:rPr sz="1400" b="0" i="0">
                <a:solidFill>
                  <a:srgbClr val="C8A15A"/>
                </a:solidFill>
                <a:latin typeface="Georgia"/>
              </a:rPr>
              <a:t>02</a:t>
            </a:r>
          </a:p>
        </p:txBody>
      </p:sp>
      <p:sp>
        <p:nvSpPr>
          <p:cNvPr id="11" name="TextBox 10"/>
          <p:cNvSpPr txBox="1"/>
          <p:nvPr/>
        </p:nvSpPr>
        <p:spPr>
          <a:xfrm>
            <a:off x="4480560" y="4389120"/>
            <a:ext cx="3200400" cy="1463040"/>
          </a:xfrm>
          <a:prstGeom prst="rect">
            <a:avLst/>
          </a:prstGeom>
          <a:noFill/>
        </p:spPr>
        <p:txBody>
          <a:bodyPr wrap="square" anchor="t" lIns="0" rIns="0" tIns="0" bIns="0">
            <a:spAutoFit/>
          </a:bodyPr>
          <a:lstStyle/>
          <a:p>
            <a:pPr algn="l">
              <a:spcAft>
                <a:spcPts val="0"/>
              </a:spcAft>
            </a:pPr>
            <a:r>
              <a:rPr sz="1500" b="0" i="0">
                <a:solidFill>
                  <a:srgbClr val="F4EEE1"/>
                </a:solidFill>
                <a:latin typeface="Segoe UI"/>
              </a:rPr>
              <a:t>In dark winters, people get too little daylight. Oslo has about 6 hours of daylight in late December.</a:t>
            </a:r>
          </a:p>
        </p:txBody>
      </p:sp>
      <p:cxnSp>
        <p:nvCxnSpPr>
          <p:cNvPr id="12" name="Connector 11"/>
          <p:cNvCxnSpPr/>
          <p:nvPr/>
        </p:nvCxnSpPr>
        <p:spPr>
          <a:xfrm>
            <a:off x="8138160" y="3794760"/>
            <a:ext cx="3200400" cy="0"/>
          </a:xfrm>
          <a:prstGeom prst="line">
            <a:avLst/>
          </a:prstGeom>
          <a:ln w="9525">
            <a:solidFill>
              <a:srgbClr val="C8A15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138160" y="3931920"/>
            <a:ext cx="914400" cy="365760"/>
          </a:xfrm>
          <a:prstGeom prst="rect">
            <a:avLst/>
          </a:prstGeom>
          <a:noFill/>
        </p:spPr>
        <p:txBody>
          <a:bodyPr wrap="square" anchor="t" lIns="0" rIns="0" tIns="0" bIns="0">
            <a:spAutoFit/>
          </a:bodyPr>
          <a:lstStyle/>
          <a:p>
            <a:pPr algn="l">
              <a:spcAft>
                <a:spcPts val="0"/>
              </a:spcAft>
            </a:pPr>
            <a:r>
              <a:rPr sz="1400" b="0" i="0">
                <a:solidFill>
                  <a:srgbClr val="C8A15A"/>
                </a:solidFill>
                <a:latin typeface="Georgia"/>
              </a:rPr>
              <a:t>03</a:t>
            </a:r>
          </a:p>
        </p:txBody>
      </p:sp>
      <p:sp>
        <p:nvSpPr>
          <p:cNvPr id="14" name="TextBox 13"/>
          <p:cNvSpPr txBox="1"/>
          <p:nvPr/>
        </p:nvSpPr>
        <p:spPr>
          <a:xfrm>
            <a:off x="8138160" y="4389120"/>
            <a:ext cx="3200400" cy="1463040"/>
          </a:xfrm>
          <a:prstGeom prst="rect">
            <a:avLst/>
          </a:prstGeom>
          <a:noFill/>
        </p:spPr>
        <p:txBody>
          <a:bodyPr wrap="square" anchor="t" lIns="0" rIns="0" tIns="0" bIns="0">
            <a:spAutoFit/>
          </a:bodyPr>
          <a:lstStyle/>
          <a:p>
            <a:pPr algn="l">
              <a:spcAft>
                <a:spcPts val="0"/>
              </a:spcAft>
            </a:pPr>
            <a:r>
              <a:rPr sz="1500" b="0" i="0">
                <a:solidFill>
                  <a:srgbClr val="F4EEE1"/>
                </a:solidFill>
                <a:latin typeface="Segoe UI"/>
              </a:rPr>
              <a:t>The sun and shade move every minute, so a static “shady street” or “sunny street” list is never right for long.</a:t>
            </a:r>
          </a:p>
        </p:txBody>
      </p:sp>
      <p:sp>
        <p:nvSpPr>
          <p:cNvPr id="15" name="TextBox 14"/>
          <p:cNvSpPr txBox="1"/>
          <p:nvPr/>
        </p:nvSpPr>
        <p:spPr>
          <a:xfrm>
            <a:off x="10881360" y="6355080"/>
            <a:ext cx="548640" cy="228600"/>
          </a:xfrm>
          <a:prstGeom prst="rect">
            <a:avLst/>
          </a:prstGeom>
          <a:noFill/>
        </p:spPr>
        <p:txBody>
          <a:bodyPr wrap="square" anchor="t" lIns="0" rIns="0" tIns="0" bIns="0">
            <a:spAutoFit/>
          </a:bodyPr>
          <a:lstStyle/>
          <a:p>
            <a:pPr algn="r">
              <a:spcAft>
                <a:spcPts val="0"/>
              </a:spcAft>
            </a:pPr>
            <a:r>
              <a:rPr sz="1000" b="0" i="0">
                <a:solidFill>
                  <a:srgbClr val="7C8A94"/>
                </a:solidFill>
                <a:latin typeface="Segoe UI"/>
              </a:rPr>
              <a:t>02 / 13</a:t>
            </a:r>
          </a:p>
        </p:txBody>
      </p:sp>
      <p:sp>
        <p:nvSpPr>
          <p:cNvPr id="16" name="TextBox 15"/>
          <p:cNvSpPr txBox="1"/>
          <p:nvPr/>
        </p:nvSpPr>
        <p:spPr>
          <a:xfrm>
            <a:off x="822960" y="6355080"/>
            <a:ext cx="3657600" cy="228600"/>
          </a:xfrm>
          <a:prstGeom prst="rect">
            <a:avLst/>
          </a:prstGeom>
          <a:noFill/>
        </p:spPr>
        <p:txBody>
          <a:bodyPr wrap="square" anchor="t" lIns="0" rIns="0" tIns="0" bIns="0">
            <a:spAutoFit/>
          </a:bodyPr>
          <a:lstStyle/>
          <a:p>
            <a:pPr algn="l">
              <a:spcAft>
                <a:spcPts val="0"/>
              </a:spcAft>
            </a:pPr>
            <a:r>
              <a:rPr sz="1000" b="0" i="0" spc="300">
                <a:solidFill>
                  <a:srgbClr val="7C8A94"/>
                </a:solidFill>
                <a:latin typeface="Segoe UI"/>
              </a:rPr>
              <a:t>ZILL &amp; SHAMS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sp>
        <p:nvSpPr>
          <p:cNvPr id="2" name="TextBox 1"/>
          <p:cNvSpPr txBox="1"/>
          <p:nvPr/>
        </p:nvSpPr>
        <p:spPr>
          <a:xfrm>
            <a:off x="822960" y="640080"/>
            <a:ext cx="5486400" cy="274320"/>
          </a:xfrm>
          <a:prstGeom prst="rect">
            <a:avLst/>
          </a:prstGeom>
          <a:noFill/>
        </p:spPr>
        <p:txBody>
          <a:bodyPr wrap="square" anchor="t" lIns="0" rIns="0" tIns="0" bIns="0">
            <a:spAutoFit/>
          </a:bodyPr>
          <a:lstStyle/>
          <a:p>
            <a:pPr algn="l">
              <a:spcAft>
                <a:spcPts val="0"/>
              </a:spcAft>
            </a:pPr>
            <a:r>
              <a:rPr sz="1100" b="0" i="0" spc="300">
                <a:solidFill>
                  <a:srgbClr val="C8A15A"/>
                </a:solidFill>
                <a:latin typeface="Segoe UI"/>
              </a:rPr>
              <a:t>WHY IT MATTERS</a:t>
            </a:r>
          </a:p>
        </p:txBody>
      </p:sp>
      <p:sp>
        <p:nvSpPr>
          <p:cNvPr id="3" name="TextBox 2"/>
          <p:cNvSpPr txBox="1"/>
          <p:nvPr/>
        </p:nvSpPr>
        <p:spPr>
          <a:xfrm>
            <a:off x="822960" y="1005840"/>
            <a:ext cx="10515600" cy="1371600"/>
          </a:xfrm>
          <a:prstGeom prst="rect">
            <a:avLst/>
          </a:prstGeom>
          <a:noFill/>
        </p:spPr>
        <p:txBody>
          <a:bodyPr wrap="square" anchor="t" lIns="0" rIns="0" tIns="0" bIns="0">
            <a:spAutoFit/>
          </a:bodyPr>
          <a:lstStyle/>
          <a:p>
            <a:pPr algn="l">
              <a:spcAft>
                <a:spcPts val="0"/>
              </a:spcAft>
            </a:pPr>
            <a:r>
              <a:rPr sz="3400" b="0" i="0">
                <a:solidFill>
                  <a:srgbClr val="E9DCBC"/>
                </a:solidFill>
                <a:latin typeface="Georgia"/>
              </a:rPr>
              <a:t>Sun is a daily health and work question</a:t>
            </a:r>
          </a:p>
        </p:txBody>
      </p:sp>
      <p:sp>
        <p:nvSpPr>
          <p:cNvPr id="4" name="Rectangle 3"/>
          <p:cNvSpPr/>
          <p:nvPr/>
        </p:nvSpPr>
        <p:spPr>
          <a:xfrm>
            <a:off x="822960" y="2103120"/>
            <a:ext cx="2606040" cy="3611880"/>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2331720"/>
            <a:ext cx="2194560" cy="822960"/>
          </a:xfrm>
          <a:prstGeom prst="rect">
            <a:avLst/>
          </a:prstGeom>
          <a:noFill/>
        </p:spPr>
        <p:txBody>
          <a:bodyPr wrap="square" anchor="ctr" lIns="0" rIns="0" tIns="0" bIns="0">
            <a:spAutoFit/>
          </a:bodyPr>
          <a:lstStyle/>
          <a:p>
            <a:pPr algn="l">
              <a:spcAft>
                <a:spcPts val="0"/>
              </a:spcAft>
            </a:pPr>
            <a:r>
              <a:rPr sz="3400" b="0" i="0">
                <a:solidFill>
                  <a:srgbClr val="D07A35"/>
                </a:solidFill>
                <a:latin typeface="Georgia"/>
              </a:rPr>
              <a:t>72%</a:t>
            </a:r>
          </a:p>
        </p:txBody>
      </p:sp>
      <p:cxnSp>
        <p:nvCxnSpPr>
          <p:cNvPr id="6" name="Connector 5"/>
          <p:cNvCxnSpPr/>
          <p:nvPr/>
        </p:nvCxnSpPr>
        <p:spPr>
          <a:xfrm>
            <a:off x="1051560" y="3291840"/>
            <a:ext cx="548640" cy="0"/>
          </a:xfrm>
          <a:prstGeom prst="line">
            <a:avLst/>
          </a:prstGeom>
          <a:ln w="9525">
            <a:solidFill>
              <a:srgbClr val="C8A15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051560" y="3474720"/>
            <a:ext cx="2194560" cy="1554480"/>
          </a:xfrm>
          <a:prstGeom prst="rect">
            <a:avLst/>
          </a:prstGeom>
          <a:noFill/>
        </p:spPr>
        <p:txBody>
          <a:bodyPr wrap="square" anchor="t" lIns="0" rIns="0" tIns="0" bIns="0">
            <a:spAutoFit/>
          </a:bodyPr>
          <a:lstStyle/>
          <a:p>
            <a:pPr algn="l">
              <a:spcAft>
                <a:spcPts val="0"/>
              </a:spcAft>
            </a:pPr>
            <a:r>
              <a:rPr sz="1300" b="0" i="0">
                <a:solidFill>
                  <a:srgbClr val="F4EEE1"/>
                </a:solidFill>
                <a:latin typeface="Segoe UI"/>
              </a:rPr>
              <a:t>of 12,346 adults in an Abu Dhabi study were vitamin D deficient, and another 10% insufficient, in one of the sunniest places on earth.</a:t>
            </a:r>
          </a:p>
        </p:txBody>
      </p:sp>
      <p:sp>
        <p:nvSpPr>
          <p:cNvPr id="8" name="TextBox 7"/>
          <p:cNvSpPr txBox="1"/>
          <p:nvPr/>
        </p:nvSpPr>
        <p:spPr>
          <a:xfrm>
            <a:off x="1051560" y="4983480"/>
            <a:ext cx="2194560" cy="640080"/>
          </a:xfrm>
          <a:prstGeom prst="rect">
            <a:avLst/>
          </a:prstGeom>
          <a:noFill/>
        </p:spPr>
        <p:txBody>
          <a:bodyPr wrap="square" anchor="t" lIns="0" rIns="0" tIns="0" bIns="0">
            <a:spAutoFit/>
          </a:bodyPr>
          <a:lstStyle/>
          <a:p>
            <a:pPr algn="l">
              <a:spcAft>
                <a:spcPts val="0"/>
              </a:spcAft>
            </a:pPr>
            <a:r>
              <a:rPr sz="1000" b="0" i="1">
                <a:solidFill>
                  <a:srgbClr val="7C8A94"/>
                </a:solidFill>
                <a:latin typeface="Segoe UI"/>
              </a:rPr>
              <a:t>BMC Research Notes, 2019</a:t>
            </a:r>
          </a:p>
        </p:txBody>
      </p:sp>
      <p:sp>
        <p:nvSpPr>
          <p:cNvPr id="9" name="Rectangle 8"/>
          <p:cNvSpPr/>
          <p:nvPr/>
        </p:nvSpPr>
        <p:spPr>
          <a:xfrm>
            <a:off x="3611879" y="2103120"/>
            <a:ext cx="2606040" cy="3611880"/>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79" y="2331720"/>
            <a:ext cx="2194560" cy="822960"/>
          </a:xfrm>
          <a:prstGeom prst="rect">
            <a:avLst/>
          </a:prstGeom>
          <a:noFill/>
        </p:spPr>
        <p:txBody>
          <a:bodyPr wrap="square" anchor="ctr" lIns="0" rIns="0" tIns="0" bIns="0">
            <a:spAutoFit/>
          </a:bodyPr>
          <a:lstStyle/>
          <a:p>
            <a:pPr algn="l">
              <a:spcAft>
                <a:spcPts val="0"/>
              </a:spcAft>
            </a:pPr>
            <a:r>
              <a:rPr sz="3400" b="0" i="0">
                <a:solidFill>
                  <a:srgbClr val="C8A15A"/>
                </a:solidFill>
                <a:latin typeface="Georgia"/>
              </a:rPr>
              <a:t>70,000+</a:t>
            </a:r>
          </a:p>
        </p:txBody>
      </p:sp>
      <p:cxnSp>
        <p:nvCxnSpPr>
          <p:cNvPr id="11" name="Connector 10"/>
          <p:cNvCxnSpPr/>
          <p:nvPr/>
        </p:nvCxnSpPr>
        <p:spPr>
          <a:xfrm>
            <a:off x="3840479" y="3291840"/>
            <a:ext cx="548640" cy="0"/>
          </a:xfrm>
          <a:prstGeom prst="line">
            <a:avLst/>
          </a:prstGeom>
          <a:ln w="9525">
            <a:solidFill>
              <a:srgbClr val="C8A15A"/>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840479" y="3474720"/>
            <a:ext cx="2194560" cy="1554480"/>
          </a:xfrm>
          <a:prstGeom prst="rect">
            <a:avLst/>
          </a:prstGeom>
          <a:noFill/>
        </p:spPr>
        <p:txBody>
          <a:bodyPr wrap="square" anchor="t" lIns="0" rIns="0" tIns="0" bIns="0">
            <a:spAutoFit/>
          </a:bodyPr>
          <a:lstStyle/>
          <a:p>
            <a:pPr algn="l">
              <a:spcAft>
                <a:spcPts val="0"/>
              </a:spcAft>
            </a:pPr>
            <a:r>
              <a:rPr sz="1300" b="0" i="0">
                <a:solidFill>
                  <a:srgbClr val="F4EEE1"/>
                </a:solidFill>
                <a:latin typeface="Segoe UI"/>
              </a:rPr>
              <a:t>delivery riders work across Dubai.</a:t>
            </a:r>
          </a:p>
        </p:txBody>
      </p:sp>
      <p:sp>
        <p:nvSpPr>
          <p:cNvPr id="13" name="TextBox 12"/>
          <p:cNvSpPr txBox="1"/>
          <p:nvPr/>
        </p:nvSpPr>
        <p:spPr>
          <a:xfrm>
            <a:off x="3840479" y="4983480"/>
            <a:ext cx="2194560" cy="640080"/>
          </a:xfrm>
          <a:prstGeom prst="rect">
            <a:avLst/>
          </a:prstGeom>
          <a:noFill/>
        </p:spPr>
        <p:txBody>
          <a:bodyPr wrap="square" anchor="t" lIns="0" rIns="0" tIns="0" bIns="0">
            <a:spAutoFit/>
          </a:bodyPr>
          <a:lstStyle/>
          <a:p>
            <a:pPr algn="l">
              <a:spcAft>
                <a:spcPts val="0"/>
              </a:spcAft>
            </a:pPr>
            <a:r>
              <a:rPr sz="1000" b="0" i="1">
                <a:solidFill>
                  <a:srgbClr val="7C8A94"/>
                </a:solidFill>
                <a:latin typeface="Segoe UI"/>
              </a:rPr>
              <a:t>Dubai RTA</a:t>
            </a:r>
          </a:p>
        </p:txBody>
      </p:sp>
      <p:sp>
        <p:nvSpPr>
          <p:cNvPr id="14" name="Rectangle 13"/>
          <p:cNvSpPr/>
          <p:nvPr/>
        </p:nvSpPr>
        <p:spPr>
          <a:xfrm>
            <a:off x="6400800" y="2103120"/>
            <a:ext cx="2606040" cy="3611880"/>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29400" y="2331720"/>
            <a:ext cx="2194560" cy="822960"/>
          </a:xfrm>
          <a:prstGeom prst="rect">
            <a:avLst/>
          </a:prstGeom>
          <a:noFill/>
        </p:spPr>
        <p:txBody>
          <a:bodyPr wrap="square" anchor="ctr" lIns="0" rIns="0" tIns="0" bIns="0">
            <a:spAutoFit/>
          </a:bodyPr>
          <a:lstStyle/>
          <a:p>
            <a:pPr algn="l">
              <a:spcAft>
                <a:spcPts val="0"/>
              </a:spcAft>
            </a:pPr>
            <a:r>
              <a:rPr sz="3400" b="0" i="0">
                <a:solidFill>
                  <a:srgbClr val="C8A15A"/>
                </a:solidFill>
                <a:latin typeface="Georgia"/>
              </a:rPr>
              <a:t>18.72 M</a:t>
            </a:r>
          </a:p>
        </p:txBody>
      </p:sp>
      <p:cxnSp>
        <p:nvCxnSpPr>
          <p:cNvPr id="16" name="Connector 15"/>
          <p:cNvCxnSpPr/>
          <p:nvPr/>
        </p:nvCxnSpPr>
        <p:spPr>
          <a:xfrm>
            <a:off x="6629400" y="3291840"/>
            <a:ext cx="548640" cy="0"/>
          </a:xfrm>
          <a:prstGeom prst="line">
            <a:avLst/>
          </a:prstGeom>
          <a:ln w="9525">
            <a:solidFill>
              <a:srgbClr val="C8A15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629400" y="3474720"/>
            <a:ext cx="2194560" cy="1554480"/>
          </a:xfrm>
          <a:prstGeom prst="rect">
            <a:avLst/>
          </a:prstGeom>
          <a:noFill/>
        </p:spPr>
        <p:txBody>
          <a:bodyPr wrap="square" anchor="t" lIns="0" rIns="0" tIns="0" bIns="0">
            <a:spAutoFit/>
          </a:bodyPr>
          <a:lstStyle/>
          <a:p>
            <a:pPr algn="l">
              <a:spcAft>
                <a:spcPts val="0"/>
              </a:spcAft>
            </a:pPr>
            <a:r>
              <a:rPr sz="1300" b="0" i="0">
                <a:solidFill>
                  <a:srgbClr val="F4EEE1"/>
                </a:solidFill>
                <a:latin typeface="Segoe UI"/>
              </a:rPr>
              <a:t>international overnight visitors came to Dubai in 2024.</a:t>
            </a:r>
          </a:p>
        </p:txBody>
      </p:sp>
      <p:sp>
        <p:nvSpPr>
          <p:cNvPr id="18" name="TextBox 17"/>
          <p:cNvSpPr txBox="1"/>
          <p:nvPr/>
        </p:nvSpPr>
        <p:spPr>
          <a:xfrm>
            <a:off x="6629400" y="4983480"/>
            <a:ext cx="2194560" cy="640080"/>
          </a:xfrm>
          <a:prstGeom prst="rect">
            <a:avLst/>
          </a:prstGeom>
          <a:noFill/>
        </p:spPr>
        <p:txBody>
          <a:bodyPr wrap="square" anchor="t" lIns="0" rIns="0" tIns="0" bIns="0">
            <a:spAutoFit/>
          </a:bodyPr>
          <a:lstStyle/>
          <a:p>
            <a:pPr algn="l">
              <a:spcAft>
                <a:spcPts val="0"/>
              </a:spcAft>
            </a:pPr>
            <a:r>
              <a:rPr sz="1000" b="0" i="1">
                <a:solidFill>
                  <a:srgbClr val="7C8A94"/>
                </a:solidFill>
                <a:latin typeface="Segoe UI"/>
              </a:rPr>
              <a:t>Dubai DET via WAM</a:t>
            </a:r>
          </a:p>
        </p:txBody>
      </p:sp>
      <p:sp>
        <p:nvSpPr>
          <p:cNvPr id="19" name="Rectangle 18"/>
          <p:cNvSpPr/>
          <p:nvPr/>
        </p:nvSpPr>
        <p:spPr>
          <a:xfrm>
            <a:off x="9189719" y="2103120"/>
            <a:ext cx="2606040" cy="3611880"/>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18319" y="2331720"/>
            <a:ext cx="2194560" cy="822960"/>
          </a:xfrm>
          <a:prstGeom prst="rect">
            <a:avLst/>
          </a:prstGeom>
          <a:noFill/>
        </p:spPr>
        <p:txBody>
          <a:bodyPr wrap="square" anchor="ctr" lIns="0" rIns="0" tIns="0" bIns="0">
            <a:spAutoFit/>
          </a:bodyPr>
          <a:lstStyle/>
          <a:p>
            <a:pPr algn="l">
              <a:spcAft>
                <a:spcPts val="0"/>
              </a:spcAft>
            </a:pPr>
            <a:r>
              <a:rPr sz="2600" b="0" i="0">
                <a:solidFill>
                  <a:srgbClr val="5E8C7B"/>
                </a:solidFill>
                <a:latin typeface="Georgia"/>
              </a:rPr>
              <a:t>12:30–15:00</a:t>
            </a:r>
          </a:p>
        </p:txBody>
      </p:sp>
      <p:cxnSp>
        <p:nvCxnSpPr>
          <p:cNvPr id="21" name="Connector 20"/>
          <p:cNvCxnSpPr/>
          <p:nvPr/>
        </p:nvCxnSpPr>
        <p:spPr>
          <a:xfrm>
            <a:off x="9418319" y="3291840"/>
            <a:ext cx="548640" cy="0"/>
          </a:xfrm>
          <a:prstGeom prst="line">
            <a:avLst/>
          </a:prstGeom>
          <a:ln w="9525">
            <a:solidFill>
              <a:srgbClr val="C8A15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418319" y="3474720"/>
            <a:ext cx="2194560" cy="1554480"/>
          </a:xfrm>
          <a:prstGeom prst="rect">
            <a:avLst/>
          </a:prstGeom>
          <a:noFill/>
        </p:spPr>
        <p:txBody>
          <a:bodyPr wrap="square" anchor="t" lIns="0" rIns="0" tIns="0" bIns="0">
            <a:spAutoFit/>
          </a:bodyPr>
          <a:lstStyle/>
          <a:p>
            <a:pPr algn="l">
              <a:spcAft>
                <a:spcPts val="0"/>
              </a:spcAft>
            </a:pPr>
            <a:r>
              <a:rPr sz="1300" b="0" i="0">
                <a:solidFill>
                  <a:srgbClr val="F4EEE1"/>
                </a:solidFill>
                <a:latin typeface="Segoe UI"/>
              </a:rPr>
              <a:t>UAE ban on outdoor work in direct sun, 15 June to 15 September, for the 21st year in 2025.</a:t>
            </a:r>
          </a:p>
        </p:txBody>
      </p:sp>
      <p:sp>
        <p:nvSpPr>
          <p:cNvPr id="23" name="TextBox 22"/>
          <p:cNvSpPr txBox="1"/>
          <p:nvPr/>
        </p:nvSpPr>
        <p:spPr>
          <a:xfrm>
            <a:off x="9418319" y="4983480"/>
            <a:ext cx="2194560" cy="640080"/>
          </a:xfrm>
          <a:prstGeom prst="rect">
            <a:avLst/>
          </a:prstGeom>
          <a:noFill/>
        </p:spPr>
        <p:txBody>
          <a:bodyPr wrap="square" anchor="t" lIns="0" rIns="0" tIns="0" bIns="0">
            <a:spAutoFit/>
          </a:bodyPr>
          <a:lstStyle/>
          <a:p>
            <a:pPr algn="l">
              <a:spcAft>
                <a:spcPts val="0"/>
              </a:spcAft>
            </a:pPr>
            <a:r>
              <a:rPr sz="1000" b="0" i="1">
                <a:solidFill>
                  <a:srgbClr val="7C8A94"/>
                </a:solidFill>
                <a:latin typeface="Segoe UI"/>
              </a:rPr>
              <a:t>UAE Ministry of Human Resources and Emiratisation</a:t>
            </a:r>
          </a:p>
        </p:txBody>
      </p:sp>
      <p:sp>
        <p:nvSpPr>
          <p:cNvPr id="24" name="TextBox 23"/>
          <p:cNvSpPr txBox="1"/>
          <p:nvPr/>
        </p:nvSpPr>
        <p:spPr>
          <a:xfrm>
            <a:off x="822960" y="5852160"/>
            <a:ext cx="10607040" cy="457200"/>
          </a:xfrm>
          <a:prstGeom prst="rect">
            <a:avLst/>
          </a:prstGeom>
          <a:noFill/>
        </p:spPr>
        <p:txBody>
          <a:bodyPr wrap="square" anchor="t" lIns="0" rIns="0" tIns="0" bIns="0">
            <a:spAutoFit/>
          </a:bodyPr>
          <a:lstStyle/>
          <a:p>
            <a:pPr algn="l">
              <a:spcAft>
                <a:spcPts val="0"/>
              </a:spcAft>
            </a:pPr>
            <a:r>
              <a:rPr sz="1000" b="0" i="0">
                <a:solidFill>
                  <a:srgbClr val="7C8A94"/>
                </a:solidFill>
                <a:latin typeface="Segoe UI"/>
              </a:rPr>
              <a:t>Sources: ncbi.nlm.nih.gov/pmc/articles/PMC6693241 · rta.ae (delivery rider rest areas) · wam.ae/article/bi46kc8 · mohre.gov.ae (Midday Break 2025) · Oslo daylight: fjordtours.com (about 5 h 54 min at the December solstice)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pic>
        <p:nvPicPr>
          <p:cNvPr id="2" name="Picture 1" descr="06_the-route-compare_f.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E0C0A">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40080"/>
            <a:ext cx="5486400" cy="274320"/>
          </a:xfrm>
          <a:prstGeom prst="rect">
            <a:avLst/>
          </a:prstGeom>
          <a:noFill/>
        </p:spPr>
        <p:txBody>
          <a:bodyPr wrap="square" anchor="t" lIns="0" rIns="0" tIns="0" bIns="0">
            <a:spAutoFit/>
          </a:bodyPr>
          <a:lstStyle/>
          <a:p>
            <a:pPr algn="l">
              <a:spcAft>
                <a:spcPts val="0"/>
              </a:spcAft>
            </a:pPr>
            <a:r>
              <a:rPr sz="1100" b="0" i="0" spc="300">
                <a:solidFill>
                  <a:srgbClr val="C8A15A"/>
                </a:solidFill>
                <a:latin typeface="Segoe UI"/>
              </a:rPr>
              <a:t>THE PRODUCT</a:t>
            </a:r>
          </a:p>
        </p:txBody>
      </p:sp>
      <p:sp>
        <p:nvSpPr>
          <p:cNvPr id="5" name="TextBox 4"/>
          <p:cNvSpPr txBox="1"/>
          <p:nvPr/>
        </p:nvSpPr>
        <p:spPr>
          <a:xfrm>
            <a:off x="822960" y="960120"/>
            <a:ext cx="10515600" cy="1371600"/>
          </a:xfrm>
          <a:prstGeom prst="rect">
            <a:avLst/>
          </a:prstGeom>
          <a:noFill/>
        </p:spPr>
        <p:txBody>
          <a:bodyPr wrap="square" anchor="t" lIns="0" rIns="0" tIns="0" bIns="0">
            <a:spAutoFit/>
          </a:bodyPr>
          <a:lstStyle/>
          <a:p>
            <a:pPr algn="l">
              <a:spcAft>
                <a:spcPts val="0"/>
              </a:spcAft>
            </a:pPr>
            <a:r>
              <a:rPr sz="3800" b="0" i="0">
                <a:solidFill>
                  <a:srgbClr val="E9DCBC"/>
                </a:solidFill>
                <a:latin typeface="Georgia"/>
              </a:rPr>
              <a:t>One engine with two modes</a:t>
            </a:r>
          </a:p>
        </p:txBody>
      </p:sp>
      <p:sp>
        <p:nvSpPr>
          <p:cNvPr id="6" name="Rectangle 5"/>
          <p:cNvSpPr/>
          <p:nvPr/>
        </p:nvSpPr>
        <p:spPr>
          <a:xfrm>
            <a:off x="822960" y="2148840"/>
            <a:ext cx="5120640" cy="2651760"/>
          </a:xfrm>
          <a:prstGeom prst="rect">
            <a:avLst/>
          </a:prstGeom>
          <a:solidFill>
            <a:srgbClr val="0E0C0A">
              <a:alpha val="93000"/>
            </a:srgbClr>
          </a:solidFill>
          <a:ln w="9525">
            <a:solidFill>
              <a:srgbClr val="5E8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2423160"/>
            <a:ext cx="4480560" cy="274320"/>
          </a:xfrm>
          <a:prstGeom prst="rect">
            <a:avLst/>
          </a:prstGeom>
          <a:noFill/>
        </p:spPr>
        <p:txBody>
          <a:bodyPr wrap="square" anchor="t" lIns="0" rIns="0" tIns="0" bIns="0">
            <a:spAutoFit/>
          </a:bodyPr>
          <a:lstStyle/>
          <a:p>
            <a:pPr algn="l">
              <a:spcAft>
                <a:spcPts val="0"/>
              </a:spcAft>
            </a:pPr>
            <a:r>
              <a:rPr sz="1200" b="1" i="0" spc="300">
                <a:solidFill>
                  <a:srgbClr val="5E8C7B"/>
                </a:solidFill>
                <a:latin typeface="Segoe UI"/>
              </a:rPr>
              <a:t>SHADE MODE</a:t>
            </a:r>
          </a:p>
        </p:txBody>
      </p:sp>
      <p:sp>
        <p:nvSpPr>
          <p:cNvPr id="8" name="TextBox 7"/>
          <p:cNvSpPr txBox="1"/>
          <p:nvPr/>
        </p:nvSpPr>
        <p:spPr>
          <a:xfrm>
            <a:off x="1143000" y="2880360"/>
            <a:ext cx="4480560" cy="1737360"/>
          </a:xfrm>
          <a:prstGeom prst="rect">
            <a:avLst/>
          </a:prstGeom>
          <a:noFill/>
        </p:spPr>
        <p:txBody>
          <a:bodyPr wrap="square" anchor="t" lIns="0" rIns="0" tIns="0" bIns="0">
            <a:spAutoFit/>
          </a:bodyPr>
          <a:lstStyle/>
          <a:p>
            <a:pPr algn="l">
              <a:spcAft>
                <a:spcPts val="0"/>
              </a:spcAft>
            </a:pPr>
            <a:r>
              <a:rPr sz="1600" b="0" i="0">
                <a:solidFill>
                  <a:srgbClr val="F4EEE1"/>
                </a:solidFill>
                <a:latin typeface="Segoe UI"/>
              </a:rPr>
              <a:t>For hot cities. Finds the coolest route: the most shade and the least direct sun, using air-conditioned links such as the Dubai Metro to Dubai Mall walkway.</a:t>
            </a:r>
          </a:p>
        </p:txBody>
      </p:sp>
      <p:sp>
        <p:nvSpPr>
          <p:cNvPr id="9" name="Rectangle 8"/>
          <p:cNvSpPr/>
          <p:nvPr/>
        </p:nvSpPr>
        <p:spPr>
          <a:xfrm>
            <a:off x="6263640" y="2148840"/>
            <a:ext cx="5120640" cy="2651760"/>
          </a:xfrm>
          <a:prstGeom prst="rect">
            <a:avLst/>
          </a:prstGeom>
          <a:solidFill>
            <a:srgbClr val="0E0C0A">
              <a:alpha val="93000"/>
            </a:srgbClr>
          </a:solidFill>
          <a:ln w="9525">
            <a:solidFill>
              <a:srgbClr val="D07A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423160"/>
            <a:ext cx="4480560" cy="274320"/>
          </a:xfrm>
          <a:prstGeom prst="rect">
            <a:avLst/>
          </a:prstGeom>
          <a:noFill/>
        </p:spPr>
        <p:txBody>
          <a:bodyPr wrap="square" anchor="t" lIns="0" rIns="0" tIns="0" bIns="0">
            <a:spAutoFit/>
          </a:bodyPr>
          <a:lstStyle/>
          <a:p>
            <a:pPr algn="l">
              <a:spcAft>
                <a:spcPts val="0"/>
              </a:spcAft>
            </a:pPr>
            <a:r>
              <a:rPr sz="1200" b="1" i="0" spc="300">
                <a:solidFill>
                  <a:srgbClr val="D07A35"/>
                </a:solidFill>
                <a:latin typeface="Segoe UI"/>
              </a:rPr>
              <a:t>SUN MODE</a:t>
            </a:r>
          </a:p>
        </p:txBody>
      </p:sp>
      <p:sp>
        <p:nvSpPr>
          <p:cNvPr id="11" name="TextBox 10"/>
          <p:cNvSpPr txBox="1"/>
          <p:nvPr/>
        </p:nvSpPr>
        <p:spPr>
          <a:xfrm>
            <a:off x="6583680" y="2880360"/>
            <a:ext cx="4480560" cy="1737360"/>
          </a:xfrm>
          <a:prstGeom prst="rect">
            <a:avLst/>
          </a:prstGeom>
          <a:noFill/>
        </p:spPr>
        <p:txBody>
          <a:bodyPr wrap="square" anchor="t" lIns="0" rIns="0" tIns="0" bIns="0">
            <a:spAutoFit/>
          </a:bodyPr>
          <a:lstStyle/>
          <a:p>
            <a:pPr algn="l">
              <a:spcAft>
                <a:spcPts val="0"/>
              </a:spcAft>
            </a:pPr>
            <a:r>
              <a:rPr sz="1600" b="0" i="0">
                <a:solidFill>
                  <a:srgbClr val="F4EEE1"/>
                </a:solidFill>
                <a:latin typeface="Segoe UI"/>
              </a:rPr>
              <a:t>For daylight and well-being. Finds the sunniest route for people who want more daylight: winter cities, office workers, anyone short on sun.</a:t>
            </a:r>
          </a:p>
        </p:txBody>
      </p:sp>
      <p:sp>
        <p:nvSpPr>
          <p:cNvPr id="12" name="TextBox 11"/>
          <p:cNvSpPr txBox="1"/>
          <p:nvPr/>
        </p:nvSpPr>
        <p:spPr>
          <a:xfrm>
            <a:off x="822960" y="5166360"/>
            <a:ext cx="10515600" cy="640080"/>
          </a:xfrm>
          <a:prstGeom prst="rect">
            <a:avLst/>
          </a:prstGeom>
          <a:noFill/>
        </p:spPr>
        <p:txBody>
          <a:bodyPr wrap="square" anchor="t" lIns="0" rIns="0" tIns="0" bIns="0">
            <a:spAutoFit/>
          </a:bodyPr>
          <a:lstStyle/>
          <a:p>
            <a:pPr algn="l">
              <a:spcAft>
                <a:spcPts val="0"/>
              </a:spcAft>
            </a:pPr>
            <a:r>
              <a:rPr sz="2800" b="0" i="1">
                <a:solidFill>
                  <a:srgbClr val="E9DCBC"/>
                </a:solidFill>
                <a:latin typeface="Georgia"/>
              </a:rPr>
              <a:t>Same engine. The preference flips.</a:t>
            </a:r>
          </a:p>
        </p:txBody>
      </p:sp>
      <p:sp>
        <p:nvSpPr>
          <p:cNvPr id="13" name="TextBox 12"/>
          <p:cNvSpPr txBox="1"/>
          <p:nvPr/>
        </p:nvSpPr>
        <p:spPr>
          <a:xfrm>
            <a:off x="10881360" y="6355080"/>
            <a:ext cx="548640" cy="228600"/>
          </a:xfrm>
          <a:prstGeom prst="rect">
            <a:avLst/>
          </a:prstGeom>
          <a:noFill/>
        </p:spPr>
        <p:txBody>
          <a:bodyPr wrap="square" anchor="t" lIns="0" rIns="0" tIns="0" bIns="0">
            <a:spAutoFit/>
          </a:bodyPr>
          <a:lstStyle/>
          <a:p>
            <a:pPr algn="r">
              <a:spcAft>
                <a:spcPts val="0"/>
              </a:spcAft>
            </a:pPr>
            <a:r>
              <a:rPr sz="1000" b="0" i="0">
                <a:solidFill>
                  <a:srgbClr val="7C8A94"/>
                </a:solidFill>
                <a:latin typeface="Segoe UI"/>
              </a:rPr>
              <a:t>04 / 13</a:t>
            </a:r>
          </a:p>
        </p:txBody>
      </p:sp>
      <p:sp>
        <p:nvSpPr>
          <p:cNvPr id="14" name="TextBox 13"/>
          <p:cNvSpPr txBox="1"/>
          <p:nvPr/>
        </p:nvSpPr>
        <p:spPr>
          <a:xfrm>
            <a:off x="822960" y="6355080"/>
            <a:ext cx="3657600" cy="228600"/>
          </a:xfrm>
          <a:prstGeom prst="rect">
            <a:avLst/>
          </a:prstGeom>
          <a:noFill/>
        </p:spPr>
        <p:txBody>
          <a:bodyPr wrap="square" anchor="t" lIns="0" rIns="0" tIns="0" bIns="0">
            <a:spAutoFit/>
          </a:bodyPr>
          <a:lstStyle/>
          <a:p>
            <a:pPr algn="l">
              <a:spcAft>
                <a:spcPts val="0"/>
              </a:spcAft>
            </a:pPr>
            <a:r>
              <a:rPr sz="1000" b="0" i="0" spc="300">
                <a:solidFill>
                  <a:srgbClr val="7C8A94"/>
                </a:solidFill>
                <a:latin typeface="Segoe UI"/>
              </a:rPr>
              <a:t>ZILL &amp; SHAMS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pic>
        <p:nvPicPr>
          <p:cNvPr id="2" name="Picture 1" descr="04_a-city-built-in-seconds_f.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2743200"/>
            <a:ext cx="12191695" cy="4114800"/>
          </a:xfrm>
          <a:prstGeom prst="rect">
            <a:avLst/>
          </a:prstGeom>
          <a:solidFill>
            <a:srgbClr val="0E0C0A">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40080"/>
            <a:ext cx="5486400" cy="274320"/>
          </a:xfrm>
          <a:prstGeom prst="rect">
            <a:avLst/>
          </a:prstGeom>
          <a:noFill/>
        </p:spPr>
        <p:txBody>
          <a:bodyPr wrap="square" anchor="t" lIns="0" rIns="0" tIns="0" bIns="0">
            <a:spAutoFit/>
          </a:bodyPr>
          <a:lstStyle/>
          <a:p>
            <a:pPr algn="l">
              <a:spcAft>
                <a:spcPts val="0"/>
              </a:spcAft>
            </a:pPr>
            <a:r>
              <a:rPr sz="1100" b="0" i="0" spc="300">
                <a:solidFill>
                  <a:srgbClr val="C8A15A"/>
                </a:solidFill>
                <a:latin typeface="Segoe UI"/>
              </a:rPr>
              <a:t>HOW IT WORKS</a:t>
            </a:r>
          </a:p>
        </p:txBody>
      </p:sp>
      <p:sp>
        <p:nvSpPr>
          <p:cNvPr id="5" name="TextBox 4"/>
          <p:cNvSpPr txBox="1"/>
          <p:nvPr/>
        </p:nvSpPr>
        <p:spPr>
          <a:xfrm>
            <a:off x="822960" y="960120"/>
            <a:ext cx="10515600" cy="1371600"/>
          </a:xfrm>
          <a:prstGeom prst="rect">
            <a:avLst/>
          </a:prstGeom>
          <a:noFill/>
        </p:spPr>
        <p:txBody>
          <a:bodyPr wrap="square" anchor="t" lIns="0" rIns="0" tIns="0" bIns="0">
            <a:spAutoFit/>
          </a:bodyPr>
          <a:lstStyle/>
          <a:p>
            <a:pPr algn="l">
              <a:spcAft>
                <a:spcPts val="0"/>
              </a:spcAft>
            </a:pPr>
            <a:r>
              <a:rPr sz="3600" b="0" i="0">
                <a:solidFill>
                  <a:srgbClr val="E9DCBC"/>
                </a:solidFill>
                <a:latin typeface="Georgia"/>
              </a:rPr>
              <a:t>From open map data to your best route</a:t>
            </a:r>
          </a:p>
        </p:txBody>
      </p:sp>
      <p:sp>
        <p:nvSpPr>
          <p:cNvPr id="6" name="TextBox 5"/>
          <p:cNvSpPr txBox="1"/>
          <p:nvPr/>
        </p:nvSpPr>
        <p:spPr>
          <a:xfrm>
            <a:off x="822960" y="3063240"/>
            <a:ext cx="1828800" cy="365760"/>
          </a:xfrm>
          <a:prstGeom prst="rect">
            <a:avLst/>
          </a:prstGeom>
          <a:noFill/>
        </p:spPr>
        <p:txBody>
          <a:bodyPr wrap="square" anchor="t" lIns="0" rIns="0" tIns="0" bIns="0">
            <a:spAutoFit/>
          </a:bodyPr>
          <a:lstStyle/>
          <a:p>
            <a:pPr algn="l">
              <a:spcAft>
                <a:spcPts val="0"/>
              </a:spcAft>
            </a:pPr>
            <a:r>
              <a:rPr sz="2200" b="0" i="0">
                <a:solidFill>
                  <a:srgbClr val="C8A15A"/>
                </a:solidFill>
                <a:latin typeface="Georgia"/>
              </a:rPr>
              <a:t>1</a:t>
            </a:r>
          </a:p>
        </p:txBody>
      </p:sp>
      <p:cxnSp>
        <p:nvCxnSpPr>
          <p:cNvPr id="7" name="Connector 6"/>
          <p:cNvCxnSpPr/>
          <p:nvPr/>
        </p:nvCxnSpPr>
        <p:spPr>
          <a:xfrm>
            <a:off x="822960" y="3611880"/>
            <a:ext cx="1828800" cy="0"/>
          </a:xfrm>
          <a:prstGeom prst="line">
            <a:avLst/>
          </a:prstGeom>
          <a:ln w="9525">
            <a:solidFill>
              <a:srgbClr val="C8A15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3749039"/>
            <a:ext cx="1828800" cy="1188720"/>
          </a:xfrm>
          <a:prstGeom prst="rect">
            <a:avLst/>
          </a:prstGeom>
          <a:noFill/>
        </p:spPr>
        <p:txBody>
          <a:bodyPr wrap="square" anchor="t" lIns="0" rIns="0" tIns="0" bIns="0">
            <a:spAutoFit/>
          </a:bodyPr>
          <a:lstStyle/>
          <a:p>
            <a:pPr algn="l">
              <a:spcAft>
                <a:spcPts val="0"/>
              </a:spcAft>
            </a:pPr>
            <a:r>
              <a:rPr sz="1500" b="0" i="0">
                <a:solidFill>
                  <a:srgbClr val="F4EEE1"/>
                </a:solidFill>
                <a:latin typeface="Segoe UI"/>
              </a:rPr>
              <a:t>Open map data</a:t>
            </a:r>
          </a:p>
        </p:txBody>
      </p:sp>
      <p:sp>
        <p:nvSpPr>
          <p:cNvPr id="9" name="TextBox 8"/>
          <p:cNvSpPr txBox="1"/>
          <p:nvPr/>
        </p:nvSpPr>
        <p:spPr>
          <a:xfrm>
            <a:off x="2697479" y="3017520"/>
            <a:ext cx="320040" cy="365760"/>
          </a:xfrm>
          <a:prstGeom prst="rect">
            <a:avLst/>
          </a:prstGeom>
          <a:noFill/>
        </p:spPr>
        <p:txBody>
          <a:bodyPr wrap="square" anchor="t" lIns="0" rIns="0" tIns="0" bIns="0">
            <a:spAutoFit/>
          </a:bodyPr>
          <a:lstStyle/>
          <a:p>
            <a:pPr algn="l">
              <a:spcAft>
                <a:spcPts val="0"/>
              </a:spcAft>
            </a:pPr>
            <a:r>
              <a:rPr sz="1800" b="0" i="0">
                <a:solidFill>
                  <a:srgbClr val="C8A15A"/>
                </a:solidFill>
                <a:latin typeface="Segoe UI"/>
              </a:rPr>
              <a:t>→</a:t>
            </a:r>
          </a:p>
        </p:txBody>
      </p:sp>
      <p:sp>
        <p:nvSpPr>
          <p:cNvPr id="10" name="TextBox 9"/>
          <p:cNvSpPr txBox="1"/>
          <p:nvPr/>
        </p:nvSpPr>
        <p:spPr>
          <a:xfrm>
            <a:off x="3063240" y="3063240"/>
            <a:ext cx="1828800" cy="365760"/>
          </a:xfrm>
          <a:prstGeom prst="rect">
            <a:avLst/>
          </a:prstGeom>
          <a:noFill/>
        </p:spPr>
        <p:txBody>
          <a:bodyPr wrap="square" anchor="t" lIns="0" rIns="0" tIns="0" bIns="0">
            <a:spAutoFit/>
          </a:bodyPr>
          <a:lstStyle/>
          <a:p>
            <a:pPr algn="l">
              <a:spcAft>
                <a:spcPts val="0"/>
              </a:spcAft>
            </a:pPr>
            <a:r>
              <a:rPr sz="2200" b="0" i="0">
                <a:solidFill>
                  <a:srgbClr val="C8A15A"/>
                </a:solidFill>
                <a:latin typeface="Georgia"/>
              </a:rPr>
              <a:t>2</a:t>
            </a:r>
          </a:p>
        </p:txBody>
      </p:sp>
      <p:cxnSp>
        <p:nvCxnSpPr>
          <p:cNvPr id="11" name="Connector 10"/>
          <p:cNvCxnSpPr/>
          <p:nvPr/>
        </p:nvCxnSpPr>
        <p:spPr>
          <a:xfrm>
            <a:off x="3063240" y="3611880"/>
            <a:ext cx="1828800" cy="0"/>
          </a:xfrm>
          <a:prstGeom prst="line">
            <a:avLst/>
          </a:prstGeom>
          <a:ln w="9525">
            <a:solidFill>
              <a:srgbClr val="C8A15A"/>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063240" y="3749039"/>
            <a:ext cx="1828800" cy="1188720"/>
          </a:xfrm>
          <a:prstGeom prst="rect">
            <a:avLst/>
          </a:prstGeom>
          <a:noFill/>
        </p:spPr>
        <p:txBody>
          <a:bodyPr wrap="square" anchor="t" lIns="0" rIns="0" tIns="0" bIns="0">
            <a:spAutoFit/>
          </a:bodyPr>
          <a:lstStyle/>
          <a:p>
            <a:pPr algn="l">
              <a:spcAft>
                <a:spcPts val="0"/>
              </a:spcAft>
            </a:pPr>
            <a:r>
              <a:rPr sz="1500" b="0" i="0">
                <a:solidFill>
                  <a:srgbClr val="F4EEE1"/>
                </a:solidFill>
                <a:latin typeface="Segoe UI"/>
              </a:rPr>
              <a:t>3D model of the city</a:t>
            </a:r>
          </a:p>
        </p:txBody>
      </p:sp>
      <p:sp>
        <p:nvSpPr>
          <p:cNvPr id="13" name="TextBox 12"/>
          <p:cNvSpPr txBox="1"/>
          <p:nvPr/>
        </p:nvSpPr>
        <p:spPr>
          <a:xfrm>
            <a:off x="4937759" y="3017520"/>
            <a:ext cx="320040" cy="365760"/>
          </a:xfrm>
          <a:prstGeom prst="rect">
            <a:avLst/>
          </a:prstGeom>
          <a:noFill/>
        </p:spPr>
        <p:txBody>
          <a:bodyPr wrap="square" anchor="t" lIns="0" rIns="0" tIns="0" bIns="0">
            <a:spAutoFit/>
          </a:bodyPr>
          <a:lstStyle/>
          <a:p>
            <a:pPr algn="l">
              <a:spcAft>
                <a:spcPts val="0"/>
              </a:spcAft>
            </a:pPr>
            <a:r>
              <a:rPr sz="1800" b="0" i="0">
                <a:solidFill>
                  <a:srgbClr val="C8A15A"/>
                </a:solidFill>
                <a:latin typeface="Segoe UI"/>
              </a:rPr>
              <a:t>→</a:t>
            </a:r>
          </a:p>
        </p:txBody>
      </p:sp>
      <p:sp>
        <p:nvSpPr>
          <p:cNvPr id="14" name="TextBox 13"/>
          <p:cNvSpPr txBox="1"/>
          <p:nvPr/>
        </p:nvSpPr>
        <p:spPr>
          <a:xfrm>
            <a:off x="5303520" y="3063240"/>
            <a:ext cx="1828800" cy="365760"/>
          </a:xfrm>
          <a:prstGeom prst="rect">
            <a:avLst/>
          </a:prstGeom>
          <a:noFill/>
        </p:spPr>
        <p:txBody>
          <a:bodyPr wrap="square" anchor="t" lIns="0" rIns="0" tIns="0" bIns="0">
            <a:spAutoFit/>
          </a:bodyPr>
          <a:lstStyle/>
          <a:p>
            <a:pPr algn="l">
              <a:spcAft>
                <a:spcPts val="0"/>
              </a:spcAft>
            </a:pPr>
            <a:r>
              <a:rPr sz="2200" b="0" i="0">
                <a:solidFill>
                  <a:srgbClr val="C8A15A"/>
                </a:solidFill>
                <a:latin typeface="Georgia"/>
              </a:rPr>
              <a:t>3</a:t>
            </a:r>
          </a:p>
        </p:txBody>
      </p:sp>
      <p:cxnSp>
        <p:nvCxnSpPr>
          <p:cNvPr id="15" name="Connector 14"/>
          <p:cNvCxnSpPr/>
          <p:nvPr/>
        </p:nvCxnSpPr>
        <p:spPr>
          <a:xfrm>
            <a:off x="5303520" y="3611880"/>
            <a:ext cx="1828800" cy="0"/>
          </a:xfrm>
          <a:prstGeom prst="line">
            <a:avLst/>
          </a:prstGeom>
          <a:ln w="9525">
            <a:solidFill>
              <a:srgbClr val="C8A15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303520" y="3749039"/>
            <a:ext cx="1828800" cy="1188720"/>
          </a:xfrm>
          <a:prstGeom prst="rect">
            <a:avLst/>
          </a:prstGeom>
          <a:noFill/>
        </p:spPr>
        <p:txBody>
          <a:bodyPr wrap="square" anchor="t" lIns="0" rIns="0" tIns="0" bIns="0">
            <a:spAutoFit/>
          </a:bodyPr>
          <a:lstStyle/>
          <a:p>
            <a:pPr algn="l">
              <a:spcAft>
                <a:spcPts val="0"/>
              </a:spcAft>
            </a:pPr>
            <a:r>
              <a:rPr sz="1500" b="0" i="0">
                <a:solidFill>
                  <a:srgbClr val="F4EEE1"/>
                </a:solidFill>
                <a:latin typeface="Segoe UI"/>
              </a:rPr>
              <a:t>Where sun and shadows fall, every 10 minutes</a:t>
            </a:r>
          </a:p>
        </p:txBody>
      </p:sp>
      <p:sp>
        <p:nvSpPr>
          <p:cNvPr id="17" name="TextBox 16"/>
          <p:cNvSpPr txBox="1"/>
          <p:nvPr/>
        </p:nvSpPr>
        <p:spPr>
          <a:xfrm>
            <a:off x="7178040" y="3017520"/>
            <a:ext cx="320040" cy="365760"/>
          </a:xfrm>
          <a:prstGeom prst="rect">
            <a:avLst/>
          </a:prstGeom>
          <a:noFill/>
        </p:spPr>
        <p:txBody>
          <a:bodyPr wrap="square" anchor="t" lIns="0" rIns="0" tIns="0" bIns="0">
            <a:spAutoFit/>
          </a:bodyPr>
          <a:lstStyle/>
          <a:p>
            <a:pPr algn="l">
              <a:spcAft>
                <a:spcPts val="0"/>
              </a:spcAft>
            </a:pPr>
            <a:r>
              <a:rPr sz="1800" b="0" i="0">
                <a:solidFill>
                  <a:srgbClr val="C8A15A"/>
                </a:solidFill>
                <a:latin typeface="Segoe UI"/>
              </a:rPr>
              <a:t>→</a:t>
            </a:r>
          </a:p>
        </p:txBody>
      </p:sp>
      <p:sp>
        <p:nvSpPr>
          <p:cNvPr id="18" name="TextBox 17"/>
          <p:cNvSpPr txBox="1"/>
          <p:nvPr/>
        </p:nvSpPr>
        <p:spPr>
          <a:xfrm>
            <a:off x="7543800" y="3063240"/>
            <a:ext cx="1828800" cy="365760"/>
          </a:xfrm>
          <a:prstGeom prst="rect">
            <a:avLst/>
          </a:prstGeom>
          <a:noFill/>
        </p:spPr>
        <p:txBody>
          <a:bodyPr wrap="square" anchor="t" lIns="0" rIns="0" tIns="0" bIns="0">
            <a:spAutoFit/>
          </a:bodyPr>
          <a:lstStyle/>
          <a:p>
            <a:pPr algn="l">
              <a:spcAft>
                <a:spcPts val="0"/>
              </a:spcAft>
            </a:pPr>
            <a:r>
              <a:rPr sz="2200" b="0" i="0">
                <a:solidFill>
                  <a:srgbClr val="C8A15A"/>
                </a:solidFill>
                <a:latin typeface="Georgia"/>
              </a:rPr>
              <a:t>4</a:t>
            </a:r>
          </a:p>
        </p:txBody>
      </p:sp>
      <p:cxnSp>
        <p:nvCxnSpPr>
          <p:cNvPr id="19" name="Connector 18"/>
          <p:cNvCxnSpPr/>
          <p:nvPr/>
        </p:nvCxnSpPr>
        <p:spPr>
          <a:xfrm>
            <a:off x="7543800" y="3611880"/>
            <a:ext cx="1828800" cy="0"/>
          </a:xfrm>
          <a:prstGeom prst="line">
            <a:avLst/>
          </a:prstGeom>
          <a:ln w="9525">
            <a:solidFill>
              <a:srgbClr val="C8A15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543800" y="3749039"/>
            <a:ext cx="1828800" cy="1188720"/>
          </a:xfrm>
          <a:prstGeom prst="rect">
            <a:avLst/>
          </a:prstGeom>
          <a:noFill/>
        </p:spPr>
        <p:txBody>
          <a:bodyPr wrap="square" anchor="t" lIns="0" rIns="0" tIns="0" bIns="0">
            <a:spAutoFit/>
          </a:bodyPr>
          <a:lstStyle/>
          <a:p>
            <a:pPr algn="l">
              <a:spcAft>
                <a:spcPts val="0"/>
              </a:spcAft>
            </a:pPr>
            <a:r>
              <a:rPr sz="1500" b="0" i="0">
                <a:solidFill>
                  <a:srgbClr val="F4EEE1"/>
                </a:solidFill>
                <a:latin typeface="Segoe UI"/>
              </a:rPr>
              <a:t>The best route for you</a:t>
            </a:r>
          </a:p>
        </p:txBody>
      </p:sp>
      <p:sp>
        <p:nvSpPr>
          <p:cNvPr id="21" name="TextBox 20"/>
          <p:cNvSpPr txBox="1"/>
          <p:nvPr/>
        </p:nvSpPr>
        <p:spPr>
          <a:xfrm>
            <a:off x="9418320" y="3017520"/>
            <a:ext cx="320040" cy="365760"/>
          </a:xfrm>
          <a:prstGeom prst="rect">
            <a:avLst/>
          </a:prstGeom>
          <a:noFill/>
        </p:spPr>
        <p:txBody>
          <a:bodyPr wrap="square" anchor="t" lIns="0" rIns="0" tIns="0" bIns="0">
            <a:spAutoFit/>
          </a:bodyPr>
          <a:lstStyle/>
          <a:p>
            <a:pPr algn="l">
              <a:spcAft>
                <a:spcPts val="0"/>
              </a:spcAft>
            </a:pPr>
            <a:r>
              <a:rPr sz="1800" b="0" i="0">
                <a:solidFill>
                  <a:srgbClr val="C8A15A"/>
                </a:solidFill>
                <a:latin typeface="Segoe UI"/>
              </a:rPr>
              <a:t>→</a:t>
            </a:r>
          </a:p>
        </p:txBody>
      </p:sp>
      <p:sp>
        <p:nvSpPr>
          <p:cNvPr id="22" name="TextBox 21"/>
          <p:cNvSpPr txBox="1"/>
          <p:nvPr/>
        </p:nvSpPr>
        <p:spPr>
          <a:xfrm>
            <a:off x="9784080" y="3063240"/>
            <a:ext cx="1828800" cy="365760"/>
          </a:xfrm>
          <a:prstGeom prst="rect">
            <a:avLst/>
          </a:prstGeom>
          <a:noFill/>
        </p:spPr>
        <p:txBody>
          <a:bodyPr wrap="square" anchor="t" lIns="0" rIns="0" tIns="0" bIns="0">
            <a:spAutoFit/>
          </a:bodyPr>
          <a:lstStyle/>
          <a:p>
            <a:pPr algn="l">
              <a:spcAft>
                <a:spcPts val="0"/>
              </a:spcAft>
            </a:pPr>
            <a:r>
              <a:rPr sz="2200" b="0" i="0">
                <a:solidFill>
                  <a:srgbClr val="C8A15A"/>
                </a:solidFill>
                <a:latin typeface="Georgia"/>
              </a:rPr>
              <a:t>5</a:t>
            </a:r>
          </a:p>
        </p:txBody>
      </p:sp>
      <p:cxnSp>
        <p:nvCxnSpPr>
          <p:cNvPr id="23" name="Connector 22"/>
          <p:cNvCxnSpPr/>
          <p:nvPr/>
        </p:nvCxnSpPr>
        <p:spPr>
          <a:xfrm>
            <a:off x="9784080" y="3611880"/>
            <a:ext cx="1828800" cy="0"/>
          </a:xfrm>
          <a:prstGeom prst="line">
            <a:avLst/>
          </a:prstGeom>
          <a:ln w="9525">
            <a:solidFill>
              <a:srgbClr val="C8A15A"/>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784080" y="3749039"/>
            <a:ext cx="1828800" cy="1188720"/>
          </a:xfrm>
          <a:prstGeom prst="rect">
            <a:avLst/>
          </a:prstGeom>
          <a:noFill/>
        </p:spPr>
        <p:txBody>
          <a:bodyPr wrap="square" anchor="t" lIns="0" rIns="0" tIns="0" bIns="0">
            <a:spAutoFit/>
          </a:bodyPr>
          <a:lstStyle/>
          <a:p>
            <a:pPr algn="l">
              <a:spcAft>
                <a:spcPts val="0"/>
              </a:spcAft>
            </a:pPr>
            <a:r>
              <a:rPr sz="1500" b="0" i="0">
                <a:solidFill>
                  <a:srgbClr val="F4EEE1"/>
                </a:solidFill>
                <a:latin typeface="Segoe UI"/>
              </a:rPr>
              <a:t>An AI agent that plans, checks and adjusts</a:t>
            </a:r>
          </a:p>
        </p:txBody>
      </p:sp>
      <p:sp>
        <p:nvSpPr>
          <p:cNvPr id="25" name="TextBox 24"/>
          <p:cNvSpPr txBox="1"/>
          <p:nvPr/>
        </p:nvSpPr>
        <p:spPr>
          <a:xfrm>
            <a:off x="822960" y="5349240"/>
            <a:ext cx="10515600" cy="731520"/>
          </a:xfrm>
          <a:prstGeom prst="rect">
            <a:avLst/>
          </a:prstGeom>
          <a:noFill/>
        </p:spPr>
        <p:txBody>
          <a:bodyPr wrap="square" anchor="t" lIns="0" rIns="0" tIns="0" bIns="0">
            <a:spAutoFit/>
          </a:bodyPr>
          <a:lstStyle/>
          <a:p>
            <a:pPr algn="l">
              <a:spcAft>
                <a:spcPts val="0"/>
              </a:spcAft>
            </a:pPr>
            <a:r>
              <a:rPr sz="1400" b="0" i="0">
                <a:solidFill>
                  <a:srgbClr val="E9DCBC"/>
                </a:solidFill>
                <a:latin typeface="Segoe UI"/>
              </a:rPr>
              <a:t>Works for any city with OpenStreetMap data. Our first city: Downtown Dubai (8,602 buildings, 7,659 street segments, 744 trees).</a:t>
            </a:r>
          </a:p>
        </p:txBody>
      </p:sp>
      <p:sp>
        <p:nvSpPr>
          <p:cNvPr id="26" name="TextBox 25"/>
          <p:cNvSpPr txBox="1"/>
          <p:nvPr/>
        </p:nvSpPr>
        <p:spPr>
          <a:xfrm>
            <a:off x="10881360" y="6355080"/>
            <a:ext cx="548640" cy="228600"/>
          </a:xfrm>
          <a:prstGeom prst="rect">
            <a:avLst/>
          </a:prstGeom>
          <a:noFill/>
        </p:spPr>
        <p:txBody>
          <a:bodyPr wrap="square" anchor="t" lIns="0" rIns="0" tIns="0" bIns="0">
            <a:spAutoFit/>
          </a:bodyPr>
          <a:lstStyle/>
          <a:p>
            <a:pPr algn="r">
              <a:spcAft>
                <a:spcPts val="0"/>
              </a:spcAft>
            </a:pPr>
            <a:r>
              <a:rPr sz="1000" b="0" i="0">
                <a:solidFill>
                  <a:srgbClr val="7C8A94"/>
                </a:solidFill>
                <a:latin typeface="Segoe UI"/>
              </a:rPr>
              <a:t>05 / 13</a:t>
            </a:r>
          </a:p>
        </p:txBody>
      </p:sp>
      <p:sp>
        <p:nvSpPr>
          <p:cNvPr id="27" name="TextBox 26"/>
          <p:cNvSpPr txBox="1"/>
          <p:nvPr/>
        </p:nvSpPr>
        <p:spPr>
          <a:xfrm>
            <a:off x="822960" y="6355080"/>
            <a:ext cx="3657600" cy="228600"/>
          </a:xfrm>
          <a:prstGeom prst="rect">
            <a:avLst/>
          </a:prstGeom>
          <a:noFill/>
        </p:spPr>
        <p:txBody>
          <a:bodyPr wrap="square" anchor="t" lIns="0" rIns="0" tIns="0" bIns="0">
            <a:spAutoFit/>
          </a:bodyPr>
          <a:lstStyle/>
          <a:p>
            <a:pPr algn="l">
              <a:spcAft>
                <a:spcPts val="0"/>
              </a:spcAft>
            </a:pPr>
            <a:r>
              <a:rPr sz="1000" b="0" i="0" spc="300">
                <a:solidFill>
                  <a:srgbClr val="7C8A94"/>
                </a:solidFill>
                <a:latin typeface="Segoe UI"/>
              </a:rPr>
              <a:t>ZILL &amp; SHAMS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pic>
        <p:nvPicPr>
          <p:cNvPr id="2" name="Picture 1" descr="06_the-route-flythrough_f.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E0C0A">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40080"/>
            <a:ext cx="7315200" cy="274320"/>
          </a:xfrm>
          <a:prstGeom prst="rect">
            <a:avLst/>
          </a:prstGeom>
          <a:noFill/>
        </p:spPr>
        <p:txBody>
          <a:bodyPr wrap="square" anchor="t" lIns="0" rIns="0" tIns="0" bIns="0">
            <a:spAutoFit/>
          </a:bodyPr>
          <a:lstStyle/>
          <a:p>
            <a:pPr algn="l">
              <a:spcAft>
                <a:spcPts val="0"/>
              </a:spcAft>
            </a:pPr>
            <a:r>
              <a:rPr sz="1100" b="0" i="0" spc="300">
                <a:solidFill>
                  <a:srgbClr val="C8A15A"/>
                </a:solidFill>
                <a:latin typeface="Segoe UI"/>
              </a:rPr>
              <a:t>PROOF IT IS REAL</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0"/>
              </a:spcAft>
            </a:pPr>
            <a:r>
              <a:rPr sz="2000" b="0" i="0">
                <a:solidFill>
                  <a:srgbClr val="E9DCBC"/>
                </a:solidFill>
                <a:latin typeface="Georgia"/>
              </a:rPr>
              <a:t>A real walk computed by the engine: Burj Park → Business Bay Metro, a summer afternoon at 15:30.</a:t>
            </a:r>
          </a:p>
        </p:txBody>
      </p:sp>
      <p:sp>
        <p:nvSpPr>
          <p:cNvPr id="6" name="Rectangle 5"/>
          <p:cNvSpPr/>
          <p:nvPr/>
        </p:nvSpPr>
        <p:spPr>
          <a:xfrm>
            <a:off x="822960" y="2286000"/>
            <a:ext cx="10561320" cy="3657600"/>
          </a:xfrm>
          <a:prstGeom prst="rect">
            <a:avLst/>
          </a:prstGeom>
          <a:solidFill>
            <a:srgbClr val="0E0C0A">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2514600"/>
            <a:ext cx="3200400" cy="1188720"/>
          </a:xfrm>
          <a:prstGeom prst="rect">
            <a:avLst/>
          </a:prstGeom>
          <a:noFill/>
        </p:spPr>
        <p:txBody>
          <a:bodyPr wrap="square" anchor="t" lIns="0" rIns="0" tIns="0" bIns="0">
            <a:spAutoFit/>
          </a:bodyPr>
          <a:lstStyle/>
          <a:p>
            <a:pPr algn="l">
              <a:spcAft>
                <a:spcPts val="0"/>
              </a:spcAft>
            </a:pPr>
            <a:r>
              <a:rPr sz="5400" b="0" i="0">
                <a:solidFill>
                  <a:srgbClr val="D07A35"/>
                </a:solidFill>
                <a:latin typeface="Georgia"/>
              </a:rPr>
              <a:t>6.2 min</a:t>
            </a:r>
          </a:p>
        </p:txBody>
      </p:sp>
      <p:cxnSp>
        <p:nvCxnSpPr>
          <p:cNvPr id="8" name="Connector 7"/>
          <p:cNvCxnSpPr/>
          <p:nvPr/>
        </p:nvCxnSpPr>
        <p:spPr>
          <a:xfrm>
            <a:off x="1143000" y="3840480"/>
            <a:ext cx="731519" cy="0"/>
          </a:xfrm>
          <a:prstGeom prst="line">
            <a:avLst/>
          </a:prstGeom>
          <a:ln w="9525">
            <a:solidFill>
              <a:srgbClr val="7C8A9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4023360"/>
            <a:ext cx="3108960" cy="548640"/>
          </a:xfrm>
          <a:prstGeom prst="rect">
            <a:avLst/>
          </a:prstGeom>
          <a:noFill/>
        </p:spPr>
        <p:txBody>
          <a:bodyPr wrap="square" anchor="t" lIns="0" rIns="0" tIns="0" bIns="0">
            <a:spAutoFit/>
          </a:bodyPr>
          <a:lstStyle/>
          <a:p>
            <a:pPr algn="l">
              <a:spcAft>
                <a:spcPts val="0"/>
              </a:spcAft>
            </a:pPr>
            <a:r>
              <a:rPr sz="1600" b="0" i="0">
                <a:solidFill>
                  <a:srgbClr val="F4EEE1"/>
                </a:solidFill>
                <a:latin typeface="Segoe UI"/>
              </a:rPr>
              <a:t>less direct sun</a:t>
            </a:r>
          </a:p>
        </p:txBody>
      </p:sp>
      <p:sp>
        <p:nvSpPr>
          <p:cNvPr id="10" name="TextBox 9"/>
          <p:cNvSpPr txBox="1"/>
          <p:nvPr/>
        </p:nvSpPr>
        <p:spPr>
          <a:xfrm>
            <a:off x="4617720" y="2514600"/>
            <a:ext cx="3200400" cy="1188720"/>
          </a:xfrm>
          <a:prstGeom prst="rect">
            <a:avLst/>
          </a:prstGeom>
          <a:noFill/>
        </p:spPr>
        <p:txBody>
          <a:bodyPr wrap="square" anchor="t" lIns="0" rIns="0" tIns="0" bIns="0">
            <a:spAutoFit/>
          </a:bodyPr>
          <a:lstStyle/>
          <a:p>
            <a:pPr algn="l">
              <a:spcAft>
                <a:spcPts val="0"/>
              </a:spcAft>
            </a:pPr>
            <a:r>
              <a:rPr sz="5400" b="0" i="0">
                <a:solidFill>
                  <a:srgbClr val="D07A35"/>
                </a:solidFill>
                <a:latin typeface="Georgia"/>
              </a:rPr>
              <a:t>40%</a:t>
            </a:r>
          </a:p>
        </p:txBody>
      </p:sp>
      <p:cxnSp>
        <p:nvCxnSpPr>
          <p:cNvPr id="11" name="Connector 10"/>
          <p:cNvCxnSpPr/>
          <p:nvPr/>
        </p:nvCxnSpPr>
        <p:spPr>
          <a:xfrm>
            <a:off x="4617720" y="3840480"/>
            <a:ext cx="731520" cy="0"/>
          </a:xfrm>
          <a:prstGeom prst="line">
            <a:avLst/>
          </a:prstGeom>
          <a:ln w="9525">
            <a:solidFill>
              <a:srgbClr val="7C8A9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617720" y="4023360"/>
            <a:ext cx="3108960" cy="548640"/>
          </a:xfrm>
          <a:prstGeom prst="rect">
            <a:avLst/>
          </a:prstGeom>
          <a:noFill/>
        </p:spPr>
        <p:txBody>
          <a:bodyPr wrap="square" anchor="t" lIns="0" rIns="0" tIns="0" bIns="0">
            <a:spAutoFit/>
          </a:bodyPr>
          <a:lstStyle/>
          <a:p>
            <a:pPr algn="l">
              <a:spcAft>
                <a:spcPts val="0"/>
              </a:spcAft>
            </a:pPr>
            <a:r>
              <a:rPr sz="1600" b="0" i="0">
                <a:solidFill>
                  <a:srgbClr val="F4EEE1"/>
                </a:solidFill>
                <a:latin typeface="Segoe UI"/>
              </a:rPr>
              <a:t>less sun</a:t>
            </a:r>
          </a:p>
        </p:txBody>
      </p:sp>
      <p:sp>
        <p:nvSpPr>
          <p:cNvPr id="13" name="TextBox 12"/>
          <p:cNvSpPr txBox="1"/>
          <p:nvPr/>
        </p:nvSpPr>
        <p:spPr>
          <a:xfrm>
            <a:off x="8092440" y="2514600"/>
            <a:ext cx="3200400" cy="1188720"/>
          </a:xfrm>
          <a:prstGeom prst="rect">
            <a:avLst/>
          </a:prstGeom>
          <a:noFill/>
        </p:spPr>
        <p:txBody>
          <a:bodyPr wrap="square" anchor="t" lIns="0" rIns="0" tIns="0" bIns="0">
            <a:spAutoFit/>
          </a:bodyPr>
          <a:lstStyle/>
          <a:p>
            <a:pPr algn="l">
              <a:spcAft>
                <a:spcPts val="0"/>
              </a:spcAft>
            </a:pPr>
            <a:r>
              <a:rPr sz="5400" b="0" i="0">
                <a:solidFill>
                  <a:srgbClr val="C8A15A"/>
                </a:solidFill>
                <a:latin typeface="Georgia"/>
              </a:rPr>
              <a:t>2.2 min</a:t>
            </a:r>
          </a:p>
        </p:txBody>
      </p:sp>
      <p:cxnSp>
        <p:nvCxnSpPr>
          <p:cNvPr id="14" name="Connector 13"/>
          <p:cNvCxnSpPr/>
          <p:nvPr/>
        </p:nvCxnSpPr>
        <p:spPr>
          <a:xfrm>
            <a:off x="8092440" y="3840480"/>
            <a:ext cx="731520" cy="0"/>
          </a:xfrm>
          <a:prstGeom prst="line">
            <a:avLst/>
          </a:prstGeom>
          <a:ln w="9525">
            <a:solidFill>
              <a:srgbClr val="7C8A94"/>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092440" y="4023360"/>
            <a:ext cx="3108960" cy="548640"/>
          </a:xfrm>
          <a:prstGeom prst="rect">
            <a:avLst/>
          </a:prstGeom>
          <a:noFill/>
        </p:spPr>
        <p:txBody>
          <a:bodyPr wrap="square" anchor="t" lIns="0" rIns="0" tIns="0" bIns="0">
            <a:spAutoFit/>
          </a:bodyPr>
          <a:lstStyle/>
          <a:p>
            <a:pPr algn="l">
              <a:spcAft>
                <a:spcPts val="0"/>
              </a:spcAft>
            </a:pPr>
            <a:r>
              <a:rPr sz="1600" b="0" i="0">
                <a:solidFill>
                  <a:srgbClr val="F4EEE1"/>
                </a:solidFill>
                <a:latin typeface="Segoe UI"/>
              </a:rPr>
              <a:t>only this much longer</a:t>
            </a:r>
          </a:p>
        </p:txBody>
      </p:sp>
      <p:sp>
        <p:nvSpPr>
          <p:cNvPr id="16" name="TextBox 15"/>
          <p:cNvSpPr txBox="1"/>
          <p:nvPr/>
        </p:nvSpPr>
        <p:spPr>
          <a:xfrm>
            <a:off x="1143000" y="4937760"/>
            <a:ext cx="10058400" cy="320040"/>
          </a:xfrm>
          <a:prstGeom prst="rect">
            <a:avLst/>
          </a:prstGeom>
          <a:noFill/>
        </p:spPr>
        <p:txBody>
          <a:bodyPr wrap="square" anchor="t" lIns="0" rIns="0" tIns="0" bIns="0">
            <a:spAutoFit/>
          </a:bodyPr>
          <a:lstStyle/>
          <a:p>
            <a:pPr algn="l">
              <a:spcAft>
                <a:spcPts val="0"/>
              </a:spcAft>
            </a:pPr>
            <a:r>
              <a:rPr sz="1400" b="0" i="0">
                <a:solidFill>
                  <a:srgbClr val="F4EEE1"/>
                </a:solidFill>
                <a:latin typeface="Segoe UI"/>
              </a:rPr>
              <a:t>Computed from real map data, not a mock-up. Live at zill.itshamza.me</a:t>
            </a:r>
          </a:p>
        </p:txBody>
      </p:sp>
      <p:sp>
        <p:nvSpPr>
          <p:cNvPr id="17" name="TextBox 16"/>
          <p:cNvSpPr txBox="1"/>
          <p:nvPr/>
        </p:nvSpPr>
        <p:spPr>
          <a:xfrm>
            <a:off x="1143000" y="5349240"/>
            <a:ext cx="10058400" cy="320040"/>
          </a:xfrm>
          <a:prstGeom prst="rect">
            <a:avLst/>
          </a:prstGeom>
          <a:noFill/>
        </p:spPr>
        <p:txBody>
          <a:bodyPr wrap="square" anchor="t" lIns="0" rIns="0" tIns="0" bIns="0">
            <a:spAutoFit/>
          </a:bodyPr>
          <a:lstStyle/>
          <a:p>
            <a:pPr algn="l">
              <a:spcAft>
                <a:spcPts val="0"/>
              </a:spcAft>
            </a:pPr>
            <a:r>
              <a:rPr sz="1100" b="0" i="0">
                <a:solidFill>
                  <a:srgbClr val="7C8A94"/>
                </a:solidFill>
                <a:latin typeface="Segoe UI"/>
              </a:rPr>
              <a:t>Model estimate; shade from buildings and mapped trees. Awnings and wind are not modelled yet.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pic>
        <p:nvPicPr>
          <p:cNvPr id="2" name="Picture 1" descr="08_an-agent-not-a-map_f.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E0C0A">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731520"/>
            <a:ext cx="5486400" cy="274320"/>
          </a:xfrm>
          <a:prstGeom prst="rect">
            <a:avLst/>
          </a:prstGeom>
          <a:noFill/>
        </p:spPr>
        <p:txBody>
          <a:bodyPr wrap="square" anchor="t" lIns="0" rIns="0" tIns="0" bIns="0">
            <a:spAutoFit/>
          </a:bodyPr>
          <a:lstStyle/>
          <a:p>
            <a:pPr algn="l">
              <a:spcAft>
                <a:spcPts val="0"/>
              </a:spcAft>
            </a:pPr>
            <a:r>
              <a:rPr sz="1100" b="0" i="0" spc="300">
                <a:solidFill>
                  <a:srgbClr val="C8A15A"/>
                </a:solidFill>
                <a:latin typeface="Segoe UI"/>
              </a:rPr>
              <a:t>AN AGENT, NOT JUST A MAP</a:t>
            </a:r>
          </a:p>
        </p:txBody>
      </p:sp>
      <p:sp>
        <p:nvSpPr>
          <p:cNvPr id="5" name="TextBox 4"/>
          <p:cNvSpPr txBox="1"/>
          <p:nvPr/>
        </p:nvSpPr>
        <p:spPr>
          <a:xfrm>
            <a:off x="822960" y="1097280"/>
            <a:ext cx="7315200" cy="1371600"/>
          </a:xfrm>
          <a:prstGeom prst="rect">
            <a:avLst/>
          </a:prstGeom>
          <a:noFill/>
        </p:spPr>
        <p:txBody>
          <a:bodyPr wrap="square" anchor="t" lIns="0" rIns="0" tIns="0" bIns="0">
            <a:spAutoFit/>
          </a:bodyPr>
          <a:lstStyle/>
          <a:p>
            <a:pPr algn="l">
              <a:spcAft>
                <a:spcPts val="0"/>
              </a:spcAft>
            </a:pPr>
            <a:r>
              <a:rPr sz="3800" b="0" i="0">
                <a:solidFill>
                  <a:srgbClr val="E9DCBC"/>
                </a:solidFill>
                <a:latin typeface="Georgia"/>
              </a:rPr>
              <a:t>It plans, checks itself, and adapts</a:t>
            </a:r>
          </a:p>
        </p:txBody>
      </p:sp>
      <p:sp>
        <p:nvSpPr>
          <p:cNvPr id="6" name="Rectangle 5"/>
          <p:cNvSpPr/>
          <p:nvPr/>
        </p:nvSpPr>
        <p:spPr>
          <a:xfrm>
            <a:off x="822960" y="3749039"/>
            <a:ext cx="3383280" cy="2103120"/>
          </a:xfrm>
          <a:prstGeom prst="rect">
            <a:avLst/>
          </a:prstGeom>
          <a:solidFill>
            <a:srgbClr val="0E0C0A">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3977639"/>
            <a:ext cx="2834640" cy="274320"/>
          </a:xfrm>
          <a:prstGeom prst="rect">
            <a:avLst/>
          </a:prstGeom>
          <a:noFill/>
        </p:spPr>
        <p:txBody>
          <a:bodyPr wrap="square" anchor="t" lIns="0" rIns="0" tIns="0" bIns="0">
            <a:spAutoFit/>
          </a:bodyPr>
          <a:lstStyle/>
          <a:p>
            <a:pPr algn="l">
              <a:spcAft>
                <a:spcPts val="0"/>
              </a:spcAft>
            </a:pPr>
            <a:r>
              <a:rPr sz="1200" b="1" i="0" spc="300">
                <a:solidFill>
                  <a:srgbClr val="C8A15A"/>
                </a:solidFill>
                <a:latin typeface="Segoe UI"/>
              </a:rPr>
              <a:t>PLANS</a:t>
            </a:r>
          </a:p>
        </p:txBody>
      </p:sp>
      <p:sp>
        <p:nvSpPr>
          <p:cNvPr id="8" name="TextBox 7"/>
          <p:cNvSpPr txBox="1"/>
          <p:nvPr/>
        </p:nvSpPr>
        <p:spPr>
          <a:xfrm>
            <a:off x="1097280" y="4434840"/>
            <a:ext cx="2834640" cy="1371600"/>
          </a:xfrm>
          <a:prstGeom prst="rect">
            <a:avLst/>
          </a:prstGeom>
          <a:noFill/>
        </p:spPr>
        <p:txBody>
          <a:bodyPr wrap="square" anchor="t" lIns="0" rIns="0" tIns="0" bIns="0">
            <a:spAutoFit/>
          </a:bodyPr>
          <a:lstStyle/>
          <a:p>
            <a:pPr algn="l">
              <a:spcAft>
                <a:spcPts val="0"/>
              </a:spcAft>
            </a:pPr>
            <a:r>
              <a:rPr sz="1400" b="0" i="0">
                <a:solidFill>
                  <a:srgbClr val="F4EEE1"/>
                </a:solidFill>
                <a:latin typeface="Segoe UI"/>
              </a:rPr>
              <a:t>Understands “I'm walking to the metro, I tire easily in the heat” and compares options.</a:t>
            </a:r>
          </a:p>
        </p:txBody>
      </p:sp>
      <p:sp>
        <p:nvSpPr>
          <p:cNvPr id="9" name="Rectangle 8"/>
          <p:cNvSpPr/>
          <p:nvPr/>
        </p:nvSpPr>
        <p:spPr>
          <a:xfrm>
            <a:off x="4480560" y="3749039"/>
            <a:ext cx="3383280" cy="2103120"/>
          </a:xfrm>
          <a:prstGeom prst="rect">
            <a:avLst/>
          </a:prstGeom>
          <a:solidFill>
            <a:srgbClr val="0E0C0A">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3977639"/>
            <a:ext cx="2834640" cy="274320"/>
          </a:xfrm>
          <a:prstGeom prst="rect">
            <a:avLst/>
          </a:prstGeom>
          <a:noFill/>
        </p:spPr>
        <p:txBody>
          <a:bodyPr wrap="square" anchor="t" lIns="0" rIns="0" tIns="0" bIns="0">
            <a:spAutoFit/>
          </a:bodyPr>
          <a:lstStyle/>
          <a:p>
            <a:pPr algn="l">
              <a:spcAft>
                <a:spcPts val="0"/>
              </a:spcAft>
            </a:pPr>
            <a:r>
              <a:rPr sz="1200" b="1" i="0" spc="300">
                <a:solidFill>
                  <a:srgbClr val="C8A15A"/>
                </a:solidFill>
                <a:latin typeface="Segoe UI"/>
              </a:rPr>
              <a:t>CHECKS ITSELF</a:t>
            </a:r>
          </a:p>
        </p:txBody>
      </p:sp>
      <p:sp>
        <p:nvSpPr>
          <p:cNvPr id="11" name="TextBox 10"/>
          <p:cNvSpPr txBox="1"/>
          <p:nvPr/>
        </p:nvSpPr>
        <p:spPr>
          <a:xfrm>
            <a:off x="4754880" y="4434840"/>
            <a:ext cx="2834640" cy="1371600"/>
          </a:xfrm>
          <a:prstGeom prst="rect">
            <a:avLst/>
          </a:prstGeom>
          <a:noFill/>
        </p:spPr>
        <p:txBody>
          <a:bodyPr wrap="square" anchor="t" lIns="0" rIns="0" tIns="0" bIns="0">
            <a:spAutoFit/>
          </a:bodyPr>
          <a:lstStyle/>
          <a:p>
            <a:pPr algn="l">
              <a:spcAft>
                <a:spcPts val="0"/>
              </a:spcAft>
            </a:pPr>
            <a:r>
              <a:rPr sz="1400" b="0" i="0">
                <a:solidFill>
                  <a:srgbClr val="F4EEE1"/>
                </a:solidFill>
                <a:latin typeface="Segoe UI"/>
              </a:rPr>
              <a:t>A second AI step verifies every claim; every number comes from the engine, never made up.</a:t>
            </a:r>
          </a:p>
        </p:txBody>
      </p:sp>
      <p:sp>
        <p:nvSpPr>
          <p:cNvPr id="12" name="Rectangle 11"/>
          <p:cNvSpPr/>
          <p:nvPr/>
        </p:nvSpPr>
        <p:spPr>
          <a:xfrm>
            <a:off x="8138160" y="3749039"/>
            <a:ext cx="3383280" cy="2103120"/>
          </a:xfrm>
          <a:prstGeom prst="rect">
            <a:avLst/>
          </a:prstGeom>
          <a:solidFill>
            <a:srgbClr val="0E0C0A">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3977639"/>
            <a:ext cx="2834640" cy="274320"/>
          </a:xfrm>
          <a:prstGeom prst="rect">
            <a:avLst/>
          </a:prstGeom>
          <a:noFill/>
        </p:spPr>
        <p:txBody>
          <a:bodyPr wrap="square" anchor="t" lIns="0" rIns="0" tIns="0" bIns="0">
            <a:spAutoFit/>
          </a:bodyPr>
          <a:lstStyle/>
          <a:p>
            <a:pPr algn="l">
              <a:spcAft>
                <a:spcPts val="0"/>
              </a:spcAft>
            </a:pPr>
            <a:r>
              <a:rPr sz="1200" b="1" i="0" spc="300">
                <a:solidFill>
                  <a:srgbClr val="C8A15A"/>
                </a:solidFill>
                <a:latin typeface="Segoe UI"/>
              </a:rPr>
              <a:t>ADAPTS</a:t>
            </a:r>
          </a:p>
        </p:txBody>
      </p:sp>
      <p:sp>
        <p:nvSpPr>
          <p:cNvPr id="14" name="TextBox 13"/>
          <p:cNvSpPr txBox="1"/>
          <p:nvPr/>
        </p:nvSpPr>
        <p:spPr>
          <a:xfrm>
            <a:off x="8412480" y="4434840"/>
            <a:ext cx="2834640" cy="1371600"/>
          </a:xfrm>
          <a:prstGeom prst="rect">
            <a:avLst/>
          </a:prstGeom>
          <a:noFill/>
        </p:spPr>
        <p:txBody>
          <a:bodyPr wrap="square" anchor="t" lIns="0" rIns="0" tIns="0" bIns="0">
            <a:spAutoFit/>
          </a:bodyPr>
          <a:lstStyle/>
          <a:p>
            <a:pPr algn="l">
              <a:spcAft>
                <a:spcPts val="0"/>
              </a:spcAft>
            </a:pPr>
            <a:r>
              <a:rPr sz="1400" b="0" i="0">
                <a:solidFill>
                  <a:srgbClr val="F4EEE1"/>
                </a:solidFill>
                <a:latin typeface="Segoe UI"/>
              </a:rPr>
              <a:t>If you are delayed or a street is closed, it replans and asks before changing your plan.</a:t>
            </a:r>
          </a:p>
        </p:txBody>
      </p:sp>
      <p:sp>
        <p:nvSpPr>
          <p:cNvPr id="15" name="TextBox 14"/>
          <p:cNvSpPr txBox="1"/>
          <p:nvPr/>
        </p:nvSpPr>
        <p:spPr>
          <a:xfrm>
            <a:off x="10881360" y="6355080"/>
            <a:ext cx="548640" cy="228600"/>
          </a:xfrm>
          <a:prstGeom prst="rect">
            <a:avLst/>
          </a:prstGeom>
          <a:noFill/>
        </p:spPr>
        <p:txBody>
          <a:bodyPr wrap="square" anchor="t" lIns="0" rIns="0" tIns="0" bIns="0">
            <a:spAutoFit/>
          </a:bodyPr>
          <a:lstStyle/>
          <a:p>
            <a:pPr algn="r">
              <a:spcAft>
                <a:spcPts val="0"/>
              </a:spcAft>
            </a:pPr>
            <a:r>
              <a:rPr sz="1000" b="0" i="0">
                <a:solidFill>
                  <a:srgbClr val="7C8A94"/>
                </a:solidFill>
                <a:latin typeface="Segoe UI"/>
              </a:rPr>
              <a:t>07 / 13</a:t>
            </a:r>
          </a:p>
        </p:txBody>
      </p:sp>
      <p:sp>
        <p:nvSpPr>
          <p:cNvPr id="16" name="TextBox 15"/>
          <p:cNvSpPr txBox="1"/>
          <p:nvPr/>
        </p:nvSpPr>
        <p:spPr>
          <a:xfrm>
            <a:off x="822960" y="6355080"/>
            <a:ext cx="3657600" cy="228600"/>
          </a:xfrm>
          <a:prstGeom prst="rect">
            <a:avLst/>
          </a:prstGeom>
          <a:noFill/>
        </p:spPr>
        <p:txBody>
          <a:bodyPr wrap="square" anchor="t" lIns="0" rIns="0" tIns="0" bIns="0">
            <a:spAutoFit/>
          </a:bodyPr>
          <a:lstStyle/>
          <a:p>
            <a:pPr algn="l">
              <a:spcAft>
                <a:spcPts val="0"/>
              </a:spcAft>
            </a:pPr>
            <a:r>
              <a:rPr sz="1000" b="0" i="0" spc="300">
                <a:solidFill>
                  <a:srgbClr val="7C8A94"/>
                </a:solidFill>
                <a:latin typeface="Segoe UI"/>
              </a:rPr>
              <a:t>ZILL &amp; SHAMS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sp>
        <p:nvSpPr>
          <p:cNvPr id="2" name="TextBox 1"/>
          <p:cNvSpPr txBox="1"/>
          <p:nvPr/>
        </p:nvSpPr>
        <p:spPr>
          <a:xfrm>
            <a:off x="822960" y="640080"/>
            <a:ext cx="5486400" cy="274320"/>
          </a:xfrm>
          <a:prstGeom prst="rect">
            <a:avLst/>
          </a:prstGeom>
          <a:noFill/>
        </p:spPr>
        <p:txBody>
          <a:bodyPr wrap="square" anchor="t" lIns="0" rIns="0" tIns="0" bIns="0">
            <a:spAutoFit/>
          </a:bodyPr>
          <a:lstStyle/>
          <a:p>
            <a:pPr algn="l">
              <a:spcAft>
                <a:spcPts val="0"/>
              </a:spcAft>
            </a:pPr>
            <a:r>
              <a:rPr sz="1100" b="0" i="0" spc="300">
                <a:solidFill>
                  <a:srgbClr val="C8A15A"/>
                </a:solidFill>
                <a:latin typeface="Segoe UI"/>
              </a:rPr>
              <a:t>WHO PAYS</a:t>
            </a:r>
          </a:p>
        </p:txBody>
      </p:sp>
      <p:sp>
        <p:nvSpPr>
          <p:cNvPr id="3" name="TextBox 2"/>
          <p:cNvSpPr txBox="1"/>
          <p:nvPr/>
        </p:nvSpPr>
        <p:spPr>
          <a:xfrm>
            <a:off x="822960" y="960120"/>
            <a:ext cx="10515600" cy="1371600"/>
          </a:xfrm>
          <a:prstGeom prst="rect">
            <a:avLst/>
          </a:prstGeom>
          <a:noFill/>
        </p:spPr>
        <p:txBody>
          <a:bodyPr wrap="square" anchor="t" lIns="0" rIns="0" tIns="0" bIns="0">
            <a:spAutoFit/>
          </a:bodyPr>
          <a:lstStyle/>
          <a:p>
            <a:pPr algn="l">
              <a:spcAft>
                <a:spcPts val="0"/>
              </a:spcAft>
            </a:pPr>
            <a:r>
              <a:rPr sz="3600" b="0" i="0">
                <a:solidFill>
                  <a:srgbClr val="E9DCBC"/>
                </a:solidFill>
                <a:latin typeface="Georgia"/>
              </a:rPr>
              <a:t>Five segments, one engine</a:t>
            </a:r>
          </a:p>
        </p:txBody>
      </p:sp>
      <p:sp>
        <p:nvSpPr>
          <p:cNvPr id="4" name="TextBox 3"/>
          <p:cNvSpPr txBox="1"/>
          <p:nvPr/>
        </p:nvSpPr>
        <p:spPr>
          <a:xfrm>
            <a:off x="822960" y="1965960"/>
            <a:ext cx="2926080" cy="274320"/>
          </a:xfrm>
          <a:prstGeom prst="rect">
            <a:avLst/>
          </a:prstGeom>
          <a:noFill/>
        </p:spPr>
        <p:txBody>
          <a:bodyPr wrap="square" anchor="t" lIns="0" rIns="0" tIns="0" bIns="0">
            <a:spAutoFit/>
          </a:bodyPr>
          <a:lstStyle/>
          <a:p>
            <a:pPr algn="l">
              <a:spcAft>
                <a:spcPts val="0"/>
              </a:spcAft>
            </a:pPr>
            <a:r>
              <a:rPr sz="1100" b="0" i="0" spc="300">
                <a:solidFill>
                  <a:srgbClr val="C8A15A"/>
                </a:solidFill>
                <a:latin typeface="Segoe UI"/>
              </a:rPr>
              <a:t>SEGMENT</a:t>
            </a:r>
          </a:p>
        </p:txBody>
      </p:sp>
      <p:sp>
        <p:nvSpPr>
          <p:cNvPr id="5" name="TextBox 4"/>
          <p:cNvSpPr txBox="1"/>
          <p:nvPr/>
        </p:nvSpPr>
        <p:spPr>
          <a:xfrm>
            <a:off x="3931920" y="1965960"/>
            <a:ext cx="5212080" cy="274320"/>
          </a:xfrm>
          <a:prstGeom prst="rect">
            <a:avLst/>
          </a:prstGeom>
          <a:noFill/>
        </p:spPr>
        <p:txBody>
          <a:bodyPr wrap="square" anchor="t" lIns="0" rIns="0" tIns="0" bIns="0">
            <a:spAutoFit/>
          </a:bodyPr>
          <a:lstStyle/>
          <a:p>
            <a:pPr algn="l">
              <a:spcAft>
                <a:spcPts val="0"/>
              </a:spcAft>
            </a:pPr>
            <a:r>
              <a:rPr sz="1100" b="0" i="0" spc="300">
                <a:solidFill>
                  <a:srgbClr val="C8A15A"/>
                </a:solidFill>
                <a:latin typeface="Segoe UI"/>
              </a:rPr>
              <a:t>WHAT THEY GET</a:t>
            </a:r>
          </a:p>
        </p:txBody>
      </p:sp>
      <p:sp>
        <p:nvSpPr>
          <p:cNvPr id="6" name="TextBox 5"/>
          <p:cNvSpPr txBox="1"/>
          <p:nvPr/>
        </p:nvSpPr>
        <p:spPr>
          <a:xfrm>
            <a:off x="9418320" y="1965960"/>
            <a:ext cx="2011680" cy="274320"/>
          </a:xfrm>
          <a:prstGeom prst="rect">
            <a:avLst/>
          </a:prstGeom>
          <a:noFill/>
        </p:spPr>
        <p:txBody>
          <a:bodyPr wrap="square" anchor="t" lIns="0" rIns="0" tIns="0" bIns="0">
            <a:spAutoFit/>
          </a:bodyPr>
          <a:lstStyle/>
          <a:p>
            <a:pPr algn="l">
              <a:spcAft>
                <a:spcPts val="0"/>
              </a:spcAft>
            </a:pPr>
            <a:r>
              <a:rPr sz="1100" b="0" i="0" spc="300">
                <a:solidFill>
                  <a:srgbClr val="C8A15A"/>
                </a:solidFill>
                <a:latin typeface="Segoe UI"/>
              </a:rPr>
              <a:t>HOW THEY PAY</a:t>
            </a:r>
          </a:p>
        </p:txBody>
      </p:sp>
      <p:cxnSp>
        <p:nvCxnSpPr>
          <p:cNvPr id="7" name="Connector 6"/>
          <p:cNvCxnSpPr/>
          <p:nvPr/>
        </p:nvCxnSpPr>
        <p:spPr>
          <a:xfrm>
            <a:off x="822960" y="2377440"/>
            <a:ext cx="10607040" cy="0"/>
          </a:xfrm>
          <a:prstGeom prst="line">
            <a:avLst/>
          </a:prstGeom>
          <a:ln w="9525">
            <a:solidFill>
              <a:srgbClr val="3A312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487168"/>
            <a:ext cx="2926080" cy="640080"/>
          </a:xfrm>
          <a:prstGeom prst="rect">
            <a:avLst/>
          </a:prstGeom>
          <a:noFill/>
        </p:spPr>
        <p:txBody>
          <a:bodyPr wrap="square" anchor="t" lIns="0" rIns="0" tIns="0" bIns="0">
            <a:spAutoFit/>
          </a:bodyPr>
          <a:lstStyle/>
          <a:p>
            <a:pPr algn="l">
              <a:spcAft>
                <a:spcPts val="0"/>
              </a:spcAft>
            </a:pPr>
            <a:r>
              <a:rPr sz="1500" b="0" i="0">
                <a:solidFill>
                  <a:srgbClr val="E9DCBC"/>
                </a:solidFill>
                <a:latin typeface="Georgia"/>
              </a:rPr>
              <a:t>Delivery fleets</a:t>
            </a:r>
          </a:p>
        </p:txBody>
      </p:sp>
      <p:sp>
        <p:nvSpPr>
          <p:cNvPr id="9" name="TextBox 8"/>
          <p:cNvSpPr txBox="1"/>
          <p:nvPr/>
        </p:nvSpPr>
        <p:spPr>
          <a:xfrm>
            <a:off x="3931920" y="2487168"/>
            <a:ext cx="5212080" cy="640080"/>
          </a:xfrm>
          <a:prstGeom prst="rect">
            <a:avLst/>
          </a:prstGeom>
          <a:noFill/>
        </p:spPr>
        <p:txBody>
          <a:bodyPr wrap="square" anchor="t" lIns="0" rIns="0" tIns="0" bIns="0">
            <a:spAutoFit/>
          </a:bodyPr>
          <a:lstStyle/>
          <a:p>
            <a:pPr algn="l">
              <a:spcAft>
                <a:spcPts val="0"/>
              </a:spcAft>
            </a:pPr>
            <a:r>
              <a:rPr sz="1300" b="0" i="0">
                <a:solidFill>
                  <a:srgbClr val="F4EEE1"/>
                </a:solidFill>
                <a:latin typeface="Segoe UI"/>
              </a:rPr>
              <a:t>Targets such as Talabat, Deliveroo, Careem. Heat-aware routes and shift pacing for riders.</a:t>
            </a:r>
          </a:p>
        </p:txBody>
      </p:sp>
      <p:sp>
        <p:nvSpPr>
          <p:cNvPr id="10" name="TextBox 9"/>
          <p:cNvSpPr txBox="1"/>
          <p:nvPr/>
        </p:nvSpPr>
        <p:spPr>
          <a:xfrm>
            <a:off x="9418320" y="2487168"/>
            <a:ext cx="2011680" cy="640080"/>
          </a:xfrm>
          <a:prstGeom prst="rect">
            <a:avLst/>
          </a:prstGeom>
          <a:noFill/>
        </p:spPr>
        <p:txBody>
          <a:bodyPr wrap="square" anchor="t" lIns="0" rIns="0" tIns="0" bIns="0">
            <a:spAutoFit/>
          </a:bodyPr>
          <a:lstStyle/>
          <a:p>
            <a:pPr algn="l">
              <a:spcAft>
                <a:spcPts val="0"/>
              </a:spcAft>
            </a:pPr>
            <a:r>
              <a:rPr sz="1300" b="0" i="0">
                <a:solidFill>
                  <a:srgbClr val="C8A15A"/>
                </a:solidFill>
                <a:latin typeface="Segoe UI"/>
              </a:rPr>
              <a:t>Per rider per month</a:t>
            </a:r>
          </a:p>
        </p:txBody>
      </p:sp>
      <p:cxnSp>
        <p:nvCxnSpPr>
          <p:cNvPr id="11" name="Connector 10"/>
          <p:cNvCxnSpPr/>
          <p:nvPr/>
        </p:nvCxnSpPr>
        <p:spPr>
          <a:xfrm>
            <a:off x="822960" y="3154680"/>
            <a:ext cx="10607040" cy="0"/>
          </a:xfrm>
          <a:prstGeom prst="line">
            <a:avLst/>
          </a:prstGeom>
          <a:ln w="9525">
            <a:solidFill>
              <a:srgbClr val="3A312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264408"/>
            <a:ext cx="2926080" cy="640080"/>
          </a:xfrm>
          <a:prstGeom prst="rect">
            <a:avLst/>
          </a:prstGeom>
          <a:noFill/>
        </p:spPr>
        <p:txBody>
          <a:bodyPr wrap="square" anchor="t" lIns="0" rIns="0" tIns="0" bIns="0">
            <a:spAutoFit/>
          </a:bodyPr>
          <a:lstStyle/>
          <a:p>
            <a:pPr algn="l">
              <a:spcAft>
                <a:spcPts val="0"/>
              </a:spcAft>
            </a:pPr>
            <a:r>
              <a:rPr sz="1500" b="0" i="0">
                <a:solidFill>
                  <a:srgbClr val="E9DCBC"/>
                </a:solidFill>
                <a:latin typeface="Georgia"/>
              </a:rPr>
              <a:t>Hotels and tourism boards</a:t>
            </a:r>
          </a:p>
        </p:txBody>
      </p:sp>
      <p:sp>
        <p:nvSpPr>
          <p:cNvPr id="13" name="TextBox 12"/>
          <p:cNvSpPr txBox="1"/>
          <p:nvPr/>
        </p:nvSpPr>
        <p:spPr>
          <a:xfrm>
            <a:off x="3931920" y="3264408"/>
            <a:ext cx="5212080" cy="640080"/>
          </a:xfrm>
          <a:prstGeom prst="rect">
            <a:avLst/>
          </a:prstGeom>
          <a:noFill/>
        </p:spPr>
        <p:txBody>
          <a:bodyPr wrap="square" anchor="t" lIns="0" rIns="0" tIns="0" bIns="0">
            <a:spAutoFit/>
          </a:bodyPr>
          <a:lstStyle/>
          <a:p>
            <a:pPr algn="l">
              <a:spcAft>
                <a:spcPts val="0"/>
              </a:spcAft>
            </a:pPr>
            <a:r>
              <a:rPr sz="1300" b="0" i="0">
                <a:solidFill>
                  <a:srgbClr val="F4EEE1"/>
                </a:solidFill>
                <a:latin typeface="Segoe UI"/>
              </a:rPr>
              <a:t>“Walk there in the shade, or in the sun” guest concierge, so guests walk short distances instead of booking a cab.</a:t>
            </a:r>
          </a:p>
        </p:txBody>
      </p:sp>
      <p:sp>
        <p:nvSpPr>
          <p:cNvPr id="14" name="TextBox 13"/>
          <p:cNvSpPr txBox="1"/>
          <p:nvPr/>
        </p:nvSpPr>
        <p:spPr>
          <a:xfrm>
            <a:off x="9418320" y="3264408"/>
            <a:ext cx="2011680" cy="640080"/>
          </a:xfrm>
          <a:prstGeom prst="rect">
            <a:avLst/>
          </a:prstGeom>
          <a:noFill/>
        </p:spPr>
        <p:txBody>
          <a:bodyPr wrap="square" anchor="t" lIns="0" rIns="0" tIns="0" bIns="0">
            <a:spAutoFit/>
          </a:bodyPr>
          <a:lstStyle/>
          <a:p>
            <a:pPr algn="l">
              <a:spcAft>
                <a:spcPts val="0"/>
              </a:spcAft>
            </a:pPr>
            <a:r>
              <a:rPr sz="1300" b="0" i="0">
                <a:solidFill>
                  <a:srgbClr val="C8A15A"/>
                </a:solidFill>
                <a:latin typeface="Segoe UI"/>
              </a:rPr>
              <a:t>Per hotel per month</a:t>
            </a:r>
          </a:p>
        </p:txBody>
      </p:sp>
      <p:cxnSp>
        <p:nvCxnSpPr>
          <p:cNvPr id="15" name="Connector 14"/>
          <p:cNvCxnSpPr/>
          <p:nvPr/>
        </p:nvCxnSpPr>
        <p:spPr>
          <a:xfrm>
            <a:off x="822960" y="3931920"/>
            <a:ext cx="10607040" cy="0"/>
          </a:xfrm>
          <a:prstGeom prst="line">
            <a:avLst/>
          </a:prstGeom>
          <a:ln w="9525">
            <a:solidFill>
              <a:srgbClr val="3A3128"/>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4041648"/>
            <a:ext cx="2926080" cy="640080"/>
          </a:xfrm>
          <a:prstGeom prst="rect">
            <a:avLst/>
          </a:prstGeom>
          <a:noFill/>
        </p:spPr>
        <p:txBody>
          <a:bodyPr wrap="square" anchor="t" lIns="0" rIns="0" tIns="0" bIns="0">
            <a:spAutoFit/>
          </a:bodyPr>
          <a:lstStyle/>
          <a:p>
            <a:pPr algn="l">
              <a:spcAft>
                <a:spcPts val="0"/>
              </a:spcAft>
            </a:pPr>
            <a:r>
              <a:rPr sz="1500" b="0" i="0">
                <a:solidFill>
                  <a:srgbClr val="E9DCBC"/>
                </a:solidFill>
                <a:latin typeface="Georgia"/>
              </a:rPr>
              <a:t>Employers of outdoor workers</a:t>
            </a:r>
          </a:p>
        </p:txBody>
      </p:sp>
      <p:sp>
        <p:nvSpPr>
          <p:cNvPr id="17" name="TextBox 16"/>
          <p:cNvSpPr txBox="1"/>
          <p:nvPr/>
        </p:nvSpPr>
        <p:spPr>
          <a:xfrm>
            <a:off x="3931920" y="4041648"/>
            <a:ext cx="5212080" cy="640080"/>
          </a:xfrm>
          <a:prstGeom prst="rect">
            <a:avLst/>
          </a:prstGeom>
          <a:noFill/>
        </p:spPr>
        <p:txBody>
          <a:bodyPr wrap="square" anchor="t" lIns="0" rIns="0" tIns="0" bIns="0">
            <a:spAutoFit/>
          </a:bodyPr>
          <a:lstStyle/>
          <a:p>
            <a:pPr algn="l">
              <a:spcAft>
                <a:spcPts val="0"/>
              </a:spcAft>
            </a:pPr>
            <a:r>
              <a:rPr sz="1300" b="0" i="0">
                <a:solidFill>
                  <a:srgbClr val="F4EEE1"/>
                </a:solidFill>
                <a:latin typeface="Segoe UI"/>
              </a:rPr>
              <a:t>Shift planner that respects the midday break.</a:t>
            </a:r>
          </a:p>
        </p:txBody>
      </p:sp>
      <p:sp>
        <p:nvSpPr>
          <p:cNvPr id="18" name="TextBox 17"/>
          <p:cNvSpPr txBox="1"/>
          <p:nvPr/>
        </p:nvSpPr>
        <p:spPr>
          <a:xfrm>
            <a:off x="9418320" y="4041648"/>
            <a:ext cx="2011680" cy="640080"/>
          </a:xfrm>
          <a:prstGeom prst="rect">
            <a:avLst/>
          </a:prstGeom>
          <a:noFill/>
        </p:spPr>
        <p:txBody>
          <a:bodyPr wrap="square" anchor="t" lIns="0" rIns="0" tIns="0" bIns="0">
            <a:spAutoFit/>
          </a:bodyPr>
          <a:lstStyle/>
          <a:p>
            <a:pPr algn="l">
              <a:spcAft>
                <a:spcPts val="0"/>
              </a:spcAft>
            </a:pPr>
            <a:r>
              <a:rPr sz="1300" b="0" i="0">
                <a:solidFill>
                  <a:srgbClr val="C8A15A"/>
                </a:solidFill>
                <a:latin typeface="Segoe UI"/>
              </a:rPr>
              <a:t>Per site per month</a:t>
            </a:r>
          </a:p>
        </p:txBody>
      </p:sp>
      <p:cxnSp>
        <p:nvCxnSpPr>
          <p:cNvPr id="19" name="Connector 18"/>
          <p:cNvCxnSpPr/>
          <p:nvPr/>
        </p:nvCxnSpPr>
        <p:spPr>
          <a:xfrm>
            <a:off x="822960" y="4709160"/>
            <a:ext cx="10607040" cy="0"/>
          </a:xfrm>
          <a:prstGeom prst="line">
            <a:avLst/>
          </a:prstGeom>
          <a:ln w="9525">
            <a:solidFill>
              <a:srgbClr val="3A312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818888"/>
            <a:ext cx="2926080" cy="640080"/>
          </a:xfrm>
          <a:prstGeom prst="rect">
            <a:avLst/>
          </a:prstGeom>
          <a:noFill/>
        </p:spPr>
        <p:txBody>
          <a:bodyPr wrap="square" anchor="t" lIns="0" rIns="0" tIns="0" bIns="0">
            <a:spAutoFit/>
          </a:bodyPr>
          <a:lstStyle/>
          <a:p>
            <a:pPr algn="l">
              <a:spcAft>
                <a:spcPts val="0"/>
              </a:spcAft>
            </a:pPr>
            <a:r>
              <a:rPr sz="1500" b="0" i="0">
                <a:solidFill>
                  <a:srgbClr val="E9DCBC"/>
                </a:solidFill>
                <a:latin typeface="Georgia"/>
              </a:rPr>
              <a:t>Corporate well-being and insurers</a:t>
            </a:r>
          </a:p>
        </p:txBody>
      </p:sp>
      <p:sp>
        <p:nvSpPr>
          <p:cNvPr id="21" name="TextBox 20"/>
          <p:cNvSpPr txBox="1"/>
          <p:nvPr/>
        </p:nvSpPr>
        <p:spPr>
          <a:xfrm>
            <a:off x="3931920" y="4818888"/>
            <a:ext cx="5212080" cy="640080"/>
          </a:xfrm>
          <a:prstGeom prst="rect">
            <a:avLst/>
          </a:prstGeom>
          <a:noFill/>
        </p:spPr>
        <p:txBody>
          <a:bodyPr wrap="square" anchor="t" lIns="0" rIns="0" tIns="0" bIns="0">
            <a:spAutoFit/>
          </a:bodyPr>
          <a:lstStyle/>
          <a:p>
            <a:pPr algn="l">
              <a:spcAft>
                <a:spcPts val="0"/>
              </a:spcAft>
            </a:pPr>
            <a:r>
              <a:rPr sz="1300" b="0" i="0">
                <a:solidFill>
                  <a:srgbClr val="F4EEE1"/>
                </a:solidFill>
                <a:latin typeface="Segoe UI"/>
              </a:rPr>
              <a:t>Daylight-walk programmes for staff.</a:t>
            </a:r>
          </a:p>
        </p:txBody>
      </p:sp>
      <p:sp>
        <p:nvSpPr>
          <p:cNvPr id="22" name="TextBox 21"/>
          <p:cNvSpPr txBox="1"/>
          <p:nvPr/>
        </p:nvSpPr>
        <p:spPr>
          <a:xfrm>
            <a:off x="9418320" y="4818888"/>
            <a:ext cx="2011680" cy="640080"/>
          </a:xfrm>
          <a:prstGeom prst="rect">
            <a:avLst/>
          </a:prstGeom>
          <a:noFill/>
        </p:spPr>
        <p:txBody>
          <a:bodyPr wrap="square" anchor="t" lIns="0" rIns="0" tIns="0" bIns="0">
            <a:spAutoFit/>
          </a:bodyPr>
          <a:lstStyle/>
          <a:p>
            <a:pPr algn="l">
              <a:spcAft>
                <a:spcPts val="0"/>
              </a:spcAft>
            </a:pPr>
            <a:r>
              <a:rPr sz="1300" b="0" i="0">
                <a:solidFill>
                  <a:srgbClr val="C8A15A"/>
                </a:solidFill>
                <a:latin typeface="Segoe UI"/>
              </a:rPr>
              <a:t>Per employee per year</a:t>
            </a:r>
          </a:p>
        </p:txBody>
      </p:sp>
      <p:cxnSp>
        <p:nvCxnSpPr>
          <p:cNvPr id="23" name="Connector 22"/>
          <p:cNvCxnSpPr/>
          <p:nvPr/>
        </p:nvCxnSpPr>
        <p:spPr>
          <a:xfrm>
            <a:off x="822960" y="5486400"/>
            <a:ext cx="10607040" cy="0"/>
          </a:xfrm>
          <a:prstGeom prst="line">
            <a:avLst/>
          </a:prstGeom>
          <a:ln w="9525">
            <a:solidFill>
              <a:srgbClr val="3A312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22960" y="5596128"/>
            <a:ext cx="2926080" cy="640080"/>
          </a:xfrm>
          <a:prstGeom prst="rect">
            <a:avLst/>
          </a:prstGeom>
          <a:noFill/>
        </p:spPr>
        <p:txBody>
          <a:bodyPr wrap="square" anchor="t" lIns="0" rIns="0" tIns="0" bIns="0">
            <a:spAutoFit/>
          </a:bodyPr>
          <a:lstStyle/>
          <a:p>
            <a:pPr algn="l">
              <a:spcAft>
                <a:spcPts val="0"/>
              </a:spcAft>
            </a:pPr>
            <a:r>
              <a:rPr sz="1500" b="0" i="0">
                <a:solidFill>
                  <a:srgbClr val="E9DCBC"/>
                </a:solidFill>
                <a:latin typeface="Georgia"/>
              </a:rPr>
              <a:t>Cities with dark winters</a:t>
            </a:r>
          </a:p>
        </p:txBody>
      </p:sp>
      <p:sp>
        <p:nvSpPr>
          <p:cNvPr id="25" name="TextBox 24"/>
          <p:cNvSpPr txBox="1"/>
          <p:nvPr/>
        </p:nvSpPr>
        <p:spPr>
          <a:xfrm>
            <a:off x="3931920" y="5596128"/>
            <a:ext cx="5212080" cy="640080"/>
          </a:xfrm>
          <a:prstGeom prst="rect">
            <a:avLst/>
          </a:prstGeom>
          <a:noFill/>
        </p:spPr>
        <p:txBody>
          <a:bodyPr wrap="square" anchor="t" lIns="0" rIns="0" tIns="0" bIns="0">
            <a:spAutoFit/>
          </a:bodyPr>
          <a:lstStyle/>
          <a:p>
            <a:pPr algn="l">
              <a:spcAft>
                <a:spcPts val="0"/>
              </a:spcAft>
            </a:pPr>
            <a:r>
              <a:rPr sz="1300" b="0" i="0">
                <a:solidFill>
                  <a:srgbClr val="F4EEE1"/>
                </a:solidFill>
                <a:latin typeface="Segoe UI"/>
              </a:rPr>
              <a:t>Nordics, Canada. Sunniest-route mode for residents.</a:t>
            </a:r>
          </a:p>
        </p:txBody>
      </p:sp>
      <p:sp>
        <p:nvSpPr>
          <p:cNvPr id="26" name="TextBox 25"/>
          <p:cNvSpPr txBox="1"/>
          <p:nvPr/>
        </p:nvSpPr>
        <p:spPr>
          <a:xfrm>
            <a:off x="9418320" y="5596128"/>
            <a:ext cx="2011680" cy="640080"/>
          </a:xfrm>
          <a:prstGeom prst="rect">
            <a:avLst/>
          </a:prstGeom>
          <a:noFill/>
        </p:spPr>
        <p:txBody>
          <a:bodyPr wrap="square" anchor="t" lIns="0" rIns="0" tIns="0" bIns="0">
            <a:spAutoFit/>
          </a:bodyPr>
          <a:lstStyle/>
          <a:p>
            <a:pPr algn="l">
              <a:spcAft>
                <a:spcPts val="0"/>
              </a:spcAft>
            </a:pPr>
            <a:r>
              <a:rPr sz="1300" b="0" i="0">
                <a:solidFill>
                  <a:srgbClr val="C8A15A"/>
                </a:solidFill>
                <a:latin typeface="Segoe UI"/>
              </a:rPr>
              <a:t>City licence</a:t>
            </a:r>
          </a:p>
        </p:txBody>
      </p:sp>
      <p:sp>
        <p:nvSpPr>
          <p:cNvPr id="27" name="TextBox 26"/>
          <p:cNvSpPr txBox="1"/>
          <p:nvPr/>
        </p:nvSpPr>
        <p:spPr>
          <a:xfrm>
            <a:off x="822960" y="6126480"/>
            <a:ext cx="10607040" cy="274320"/>
          </a:xfrm>
          <a:prstGeom prst="rect">
            <a:avLst/>
          </a:prstGeom>
          <a:noFill/>
        </p:spPr>
        <p:txBody>
          <a:bodyPr wrap="square" anchor="t" lIns="0" rIns="0" tIns="0" bIns="0">
            <a:spAutoFit/>
          </a:bodyPr>
          <a:lstStyle/>
          <a:p>
            <a:pPr algn="l">
              <a:spcAft>
                <a:spcPts val="0"/>
              </a:spcAft>
            </a:pPr>
            <a:r>
              <a:rPr sz="1200" b="0" i="0">
                <a:solidFill>
                  <a:srgbClr val="7C8A94"/>
                </a:solidFill>
                <a:latin typeface="Segoe UI"/>
              </a:rPr>
              <a:t>Free for individuals, which builds reach and data. Prices are hypotheses we are validating.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sp>
        <p:nvSpPr>
          <p:cNvPr id="2" name="TextBox 1"/>
          <p:cNvSpPr txBox="1"/>
          <p:nvPr/>
        </p:nvSpPr>
        <p:spPr>
          <a:xfrm>
            <a:off x="822960" y="640080"/>
            <a:ext cx="5486400" cy="274320"/>
          </a:xfrm>
          <a:prstGeom prst="rect">
            <a:avLst/>
          </a:prstGeom>
          <a:noFill/>
        </p:spPr>
        <p:txBody>
          <a:bodyPr wrap="square" anchor="t" lIns="0" rIns="0" tIns="0" bIns="0">
            <a:spAutoFit/>
          </a:bodyPr>
          <a:lstStyle/>
          <a:p>
            <a:pPr algn="l">
              <a:spcAft>
                <a:spcPts val="0"/>
              </a:spcAft>
            </a:pPr>
            <a:r>
              <a:rPr sz="1100" b="0" i="0" spc="300">
                <a:solidFill>
                  <a:srgbClr val="C8A15A"/>
                </a:solidFill>
                <a:latin typeface="Segoe UI"/>
              </a:rPr>
              <a:t>WHO IT IS FOR</a:t>
            </a:r>
          </a:p>
        </p:txBody>
      </p:sp>
      <p:sp>
        <p:nvSpPr>
          <p:cNvPr id="3" name="TextBox 2"/>
          <p:cNvSpPr txBox="1"/>
          <p:nvPr/>
        </p:nvSpPr>
        <p:spPr>
          <a:xfrm>
            <a:off x="822960" y="960120"/>
            <a:ext cx="10515600" cy="1371600"/>
          </a:xfrm>
          <a:prstGeom prst="rect">
            <a:avLst/>
          </a:prstGeom>
          <a:noFill/>
        </p:spPr>
        <p:txBody>
          <a:bodyPr wrap="square" anchor="t" lIns="0" rIns="0" tIns="0" bIns="0">
            <a:spAutoFit/>
          </a:bodyPr>
          <a:lstStyle/>
          <a:p>
            <a:pPr algn="l">
              <a:spcAft>
                <a:spcPts val="0"/>
              </a:spcAft>
            </a:pPr>
            <a:r>
              <a:rPr sz="3600" b="0" i="0">
                <a:solidFill>
                  <a:srgbClr val="E9DCBC"/>
                </a:solidFill>
                <a:latin typeface="Georgia"/>
              </a:rPr>
              <a:t>Four people, one product</a:t>
            </a:r>
          </a:p>
        </p:txBody>
      </p:sp>
      <p:sp>
        <p:nvSpPr>
          <p:cNvPr id="4" name="Rectangle 3"/>
          <p:cNvSpPr/>
          <p:nvPr/>
        </p:nvSpPr>
        <p:spPr>
          <a:xfrm>
            <a:off x="822960" y="2103120"/>
            <a:ext cx="2514600" cy="3383280"/>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2331720"/>
            <a:ext cx="2103120" cy="274320"/>
          </a:xfrm>
          <a:prstGeom prst="rect">
            <a:avLst/>
          </a:prstGeom>
          <a:noFill/>
        </p:spPr>
        <p:txBody>
          <a:bodyPr wrap="square" anchor="t" lIns="0" rIns="0" tIns="0" bIns="0">
            <a:spAutoFit/>
          </a:bodyPr>
          <a:lstStyle/>
          <a:p>
            <a:pPr algn="l">
              <a:spcAft>
                <a:spcPts val="0"/>
              </a:spcAft>
            </a:pPr>
            <a:r>
              <a:rPr sz="1100" b="1" i="0" spc="200">
                <a:solidFill>
                  <a:srgbClr val="5E8C7B"/>
                </a:solidFill>
                <a:latin typeface="Segoe UI"/>
              </a:rPr>
              <a:t>JULY, 14:00</a:t>
            </a:r>
          </a:p>
        </p:txBody>
      </p:sp>
      <p:sp>
        <p:nvSpPr>
          <p:cNvPr id="6" name="TextBox 5"/>
          <p:cNvSpPr txBox="1"/>
          <p:nvPr/>
        </p:nvSpPr>
        <p:spPr>
          <a:xfrm>
            <a:off x="1051560" y="2743200"/>
            <a:ext cx="2103120" cy="914400"/>
          </a:xfrm>
          <a:prstGeom prst="rect">
            <a:avLst/>
          </a:prstGeom>
          <a:noFill/>
        </p:spPr>
        <p:txBody>
          <a:bodyPr wrap="square" anchor="t" lIns="0" rIns="0" tIns="0" bIns="0">
            <a:spAutoFit/>
          </a:bodyPr>
          <a:lstStyle/>
          <a:p>
            <a:pPr algn="l">
              <a:spcAft>
                <a:spcPts val="0"/>
              </a:spcAft>
            </a:pPr>
            <a:r>
              <a:rPr sz="2000" b="0" i="0">
                <a:solidFill>
                  <a:srgbClr val="E9DCBC"/>
                </a:solidFill>
                <a:latin typeface="Georgia"/>
              </a:rPr>
              <a:t>Rider in Dubai</a:t>
            </a:r>
          </a:p>
        </p:txBody>
      </p:sp>
      <p:cxnSp>
        <p:nvCxnSpPr>
          <p:cNvPr id="7" name="Connector 6"/>
          <p:cNvCxnSpPr/>
          <p:nvPr/>
        </p:nvCxnSpPr>
        <p:spPr>
          <a:xfrm>
            <a:off x="1051560" y="3794760"/>
            <a:ext cx="548640" cy="0"/>
          </a:xfrm>
          <a:prstGeom prst="line">
            <a:avLst/>
          </a:prstGeom>
          <a:ln w="9525">
            <a:solidFill>
              <a:srgbClr val="7C8A94"/>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51560" y="3931920"/>
            <a:ext cx="2103120" cy="1371600"/>
          </a:xfrm>
          <a:prstGeom prst="rect">
            <a:avLst/>
          </a:prstGeom>
          <a:noFill/>
        </p:spPr>
        <p:txBody>
          <a:bodyPr wrap="square" anchor="t" lIns="0" rIns="0" tIns="0" bIns="0">
            <a:spAutoFit/>
          </a:bodyPr>
          <a:lstStyle/>
          <a:p>
            <a:pPr algn="l">
              <a:spcAft>
                <a:spcPts val="0"/>
              </a:spcAft>
            </a:pPr>
            <a:r>
              <a:rPr sz="1400" b="0" i="0">
                <a:solidFill>
                  <a:srgbClr val="F4EEE1"/>
                </a:solidFill>
                <a:latin typeface="Segoe UI"/>
              </a:rPr>
              <a:t>The coolest route, plus a rest stop in air conditioning.</a:t>
            </a:r>
          </a:p>
        </p:txBody>
      </p:sp>
      <p:sp>
        <p:nvSpPr>
          <p:cNvPr id="9" name="Rectangle 8"/>
          <p:cNvSpPr/>
          <p:nvPr/>
        </p:nvSpPr>
        <p:spPr>
          <a:xfrm>
            <a:off x="3520440" y="2103120"/>
            <a:ext cx="2514600" cy="3383280"/>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49039" y="2331720"/>
            <a:ext cx="2103120" cy="274320"/>
          </a:xfrm>
          <a:prstGeom prst="rect">
            <a:avLst/>
          </a:prstGeom>
          <a:noFill/>
        </p:spPr>
        <p:txBody>
          <a:bodyPr wrap="square" anchor="t" lIns="0" rIns="0" tIns="0" bIns="0">
            <a:spAutoFit/>
          </a:bodyPr>
          <a:lstStyle/>
          <a:p>
            <a:pPr algn="l">
              <a:spcAft>
                <a:spcPts val="0"/>
              </a:spcAft>
            </a:pPr>
            <a:r>
              <a:rPr sz="1100" b="1" i="0" spc="200">
                <a:solidFill>
                  <a:srgbClr val="5E8C7B"/>
                </a:solidFill>
                <a:latin typeface="Segoe UI"/>
              </a:rPr>
              <a:t>HOTEL GUEST</a:t>
            </a:r>
          </a:p>
        </p:txBody>
      </p:sp>
      <p:sp>
        <p:nvSpPr>
          <p:cNvPr id="11" name="TextBox 10"/>
          <p:cNvSpPr txBox="1"/>
          <p:nvPr/>
        </p:nvSpPr>
        <p:spPr>
          <a:xfrm>
            <a:off x="3749039" y="2743200"/>
            <a:ext cx="2103120" cy="914400"/>
          </a:xfrm>
          <a:prstGeom prst="rect">
            <a:avLst/>
          </a:prstGeom>
          <a:noFill/>
        </p:spPr>
        <p:txBody>
          <a:bodyPr wrap="square" anchor="t" lIns="0" rIns="0" tIns="0" bIns="0">
            <a:spAutoFit/>
          </a:bodyPr>
          <a:lstStyle/>
          <a:p>
            <a:pPr algn="l">
              <a:spcAft>
                <a:spcPts val="0"/>
              </a:spcAft>
            </a:pPr>
            <a:r>
              <a:rPr sz="2000" b="0" i="0">
                <a:solidFill>
                  <a:srgbClr val="E9DCBC"/>
                </a:solidFill>
                <a:latin typeface="Georgia"/>
              </a:rPr>
              <a:t>Hotel guest at Burj Park</a:t>
            </a:r>
          </a:p>
        </p:txBody>
      </p:sp>
      <p:cxnSp>
        <p:nvCxnSpPr>
          <p:cNvPr id="12" name="Connector 11"/>
          <p:cNvCxnSpPr/>
          <p:nvPr/>
        </p:nvCxnSpPr>
        <p:spPr>
          <a:xfrm>
            <a:off x="3749039" y="3794760"/>
            <a:ext cx="548640" cy="0"/>
          </a:xfrm>
          <a:prstGeom prst="line">
            <a:avLst/>
          </a:prstGeom>
          <a:ln w="9525">
            <a:solidFill>
              <a:srgbClr val="7C8A9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749039" y="3931920"/>
            <a:ext cx="2103120" cy="1371600"/>
          </a:xfrm>
          <a:prstGeom prst="rect">
            <a:avLst/>
          </a:prstGeom>
          <a:noFill/>
        </p:spPr>
        <p:txBody>
          <a:bodyPr wrap="square" anchor="t" lIns="0" rIns="0" tIns="0" bIns="0">
            <a:spAutoFit/>
          </a:bodyPr>
          <a:lstStyle/>
          <a:p>
            <a:pPr algn="l">
              <a:spcAft>
                <a:spcPts val="0"/>
              </a:spcAft>
            </a:pPr>
            <a:r>
              <a:rPr sz="1400" b="0" i="0">
                <a:solidFill>
                  <a:srgbClr val="F4EEE1"/>
                </a:solidFill>
                <a:latin typeface="Segoe UI"/>
              </a:rPr>
              <a:t>A 25-minute walk in the shade instead of a cab.</a:t>
            </a:r>
          </a:p>
        </p:txBody>
      </p:sp>
      <p:sp>
        <p:nvSpPr>
          <p:cNvPr id="14" name="Rectangle 13"/>
          <p:cNvSpPr/>
          <p:nvPr/>
        </p:nvSpPr>
        <p:spPr>
          <a:xfrm>
            <a:off x="6217920" y="2103120"/>
            <a:ext cx="2514600" cy="3383280"/>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331720"/>
            <a:ext cx="2103120" cy="274320"/>
          </a:xfrm>
          <a:prstGeom prst="rect">
            <a:avLst/>
          </a:prstGeom>
          <a:noFill/>
        </p:spPr>
        <p:txBody>
          <a:bodyPr wrap="square" anchor="t" lIns="0" rIns="0" tIns="0" bIns="0">
            <a:spAutoFit/>
          </a:bodyPr>
          <a:lstStyle/>
          <a:p>
            <a:pPr algn="l">
              <a:spcAft>
                <a:spcPts val="0"/>
              </a:spcAft>
            </a:pPr>
            <a:r>
              <a:rPr sz="1100" b="1" i="0" spc="200">
                <a:solidFill>
                  <a:srgbClr val="D07A35"/>
                </a:solidFill>
                <a:latin typeface="Segoe UI"/>
              </a:rPr>
              <a:t>WINTER</a:t>
            </a:r>
          </a:p>
        </p:txBody>
      </p:sp>
      <p:sp>
        <p:nvSpPr>
          <p:cNvPr id="16" name="TextBox 15"/>
          <p:cNvSpPr txBox="1"/>
          <p:nvPr/>
        </p:nvSpPr>
        <p:spPr>
          <a:xfrm>
            <a:off x="6446520" y="2743200"/>
            <a:ext cx="2103120" cy="914400"/>
          </a:xfrm>
          <a:prstGeom prst="rect">
            <a:avLst/>
          </a:prstGeom>
          <a:noFill/>
        </p:spPr>
        <p:txBody>
          <a:bodyPr wrap="square" anchor="t" lIns="0" rIns="0" tIns="0" bIns="0">
            <a:spAutoFit/>
          </a:bodyPr>
          <a:lstStyle/>
          <a:p>
            <a:pPr algn="l">
              <a:spcAft>
                <a:spcPts val="0"/>
              </a:spcAft>
            </a:pPr>
            <a:r>
              <a:rPr sz="2000" b="0" i="0">
                <a:solidFill>
                  <a:srgbClr val="E9DCBC"/>
                </a:solidFill>
                <a:latin typeface="Georgia"/>
              </a:rPr>
              <a:t>Office worker in Dubai</a:t>
            </a:r>
          </a:p>
        </p:txBody>
      </p:sp>
      <p:cxnSp>
        <p:nvCxnSpPr>
          <p:cNvPr id="17" name="Connector 16"/>
          <p:cNvCxnSpPr/>
          <p:nvPr/>
        </p:nvCxnSpPr>
        <p:spPr>
          <a:xfrm>
            <a:off x="6446520" y="3794760"/>
            <a:ext cx="548640" cy="0"/>
          </a:xfrm>
          <a:prstGeom prst="line">
            <a:avLst/>
          </a:prstGeom>
          <a:ln w="9525">
            <a:solidFill>
              <a:srgbClr val="7C8A94"/>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46520" y="3931920"/>
            <a:ext cx="2103120" cy="1371600"/>
          </a:xfrm>
          <a:prstGeom prst="rect">
            <a:avLst/>
          </a:prstGeom>
          <a:noFill/>
        </p:spPr>
        <p:txBody>
          <a:bodyPr wrap="square" anchor="t" lIns="0" rIns="0" tIns="0" bIns="0">
            <a:spAutoFit/>
          </a:bodyPr>
          <a:lstStyle/>
          <a:p>
            <a:pPr algn="l">
              <a:spcAft>
                <a:spcPts val="0"/>
              </a:spcAft>
            </a:pPr>
            <a:r>
              <a:rPr sz="1400" b="0" i="0">
                <a:solidFill>
                  <a:srgbClr val="F4EEE1"/>
                </a:solidFill>
                <a:latin typeface="Segoe UI"/>
              </a:rPr>
              <a:t>A 15-minute sunny walk at lunch for daylight.</a:t>
            </a:r>
          </a:p>
        </p:txBody>
      </p:sp>
      <p:sp>
        <p:nvSpPr>
          <p:cNvPr id="19" name="Rectangle 18"/>
          <p:cNvSpPr/>
          <p:nvPr/>
        </p:nvSpPr>
        <p:spPr>
          <a:xfrm>
            <a:off x="8915400" y="2103120"/>
            <a:ext cx="2514600" cy="3383280"/>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2331720"/>
            <a:ext cx="2103120" cy="274320"/>
          </a:xfrm>
          <a:prstGeom prst="rect">
            <a:avLst/>
          </a:prstGeom>
          <a:noFill/>
        </p:spPr>
        <p:txBody>
          <a:bodyPr wrap="square" anchor="t" lIns="0" rIns="0" tIns="0" bIns="0">
            <a:spAutoFit/>
          </a:bodyPr>
          <a:lstStyle/>
          <a:p>
            <a:pPr algn="l">
              <a:spcAft>
                <a:spcPts val="0"/>
              </a:spcAft>
            </a:pPr>
            <a:r>
              <a:rPr sz="1100" b="1" i="0" spc="200">
                <a:solidFill>
                  <a:srgbClr val="D07A35"/>
                </a:solidFill>
                <a:latin typeface="Segoe UI"/>
              </a:rPr>
              <a:t>DECEMBER</a:t>
            </a:r>
          </a:p>
        </p:txBody>
      </p:sp>
      <p:sp>
        <p:nvSpPr>
          <p:cNvPr id="21" name="TextBox 20"/>
          <p:cNvSpPr txBox="1"/>
          <p:nvPr/>
        </p:nvSpPr>
        <p:spPr>
          <a:xfrm>
            <a:off x="9144000" y="2743200"/>
            <a:ext cx="2103120" cy="914400"/>
          </a:xfrm>
          <a:prstGeom prst="rect">
            <a:avLst/>
          </a:prstGeom>
          <a:noFill/>
        </p:spPr>
        <p:txBody>
          <a:bodyPr wrap="square" anchor="t" lIns="0" rIns="0" tIns="0" bIns="0">
            <a:spAutoFit/>
          </a:bodyPr>
          <a:lstStyle/>
          <a:p>
            <a:pPr algn="l">
              <a:spcAft>
                <a:spcPts val="0"/>
              </a:spcAft>
            </a:pPr>
            <a:r>
              <a:rPr sz="2000" b="0" i="0">
                <a:solidFill>
                  <a:srgbClr val="E9DCBC"/>
                </a:solidFill>
                <a:latin typeface="Georgia"/>
              </a:rPr>
              <a:t>Resident of Oslo</a:t>
            </a:r>
          </a:p>
        </p:txBody>
      </p:sp>
      <p:cxnSp>
        <p:nvCxnSpPr>
          <p:cNvPr id="22" name="Connector 21"/>
          <p:cNvCxnSpPr/>
          <p:nvPr/>
        </p:nvCxnSpPr>
        <p:spPr>
          <a:xfrm>
            <a:off x="9144000" y="3794760"/>
            <a:ext cx="548640" cy="0"/>
          </a:xfrm>
          <a:prstGeom prst="line">
            <a:avLst/>
          </a:prstGeom>
          <a:ln w="9525">
            <a:solidFill>
              <a:srgbClr val="7C8A94"/>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144000" y="3931920"/>
            <a:ext cx="2103120" cy="1371600"/>
          </a:xfrm>
          <a:prstGeom prst="rect">
            <a:avLst/>
          </a:prstGeom>
          <a:noFill/>
        </p:spPr>
        <p:txBody>
          <a:bodyPr wrap="square" anchor="t" lIns="0" rIns="0" tIns="0" bIns="0">
            <a:spAutoFit/>
          </a:bodyPr>
          <a:lstStyle/>
          <a:p>
            <a:pPr algn="l">
              <a:spcAft>
                <a:spcPts val="0"/>
              </a:spcAft>
            </a:pPr>
            <a:r>
              <a:rPr sz="1400" b="0" i="0">
                <a:solidFill>
                  <a:srgbClr val="F4EEE1"/>
                </a:solidFill>
                <a:latin typeface="Segoe UI"/>
              </a:rPr>
              <a:t>The sunniest path during the few daylight hours.</a:t>
            </a:r>
          </a:p>
        </p:txBody>
      </p:sp>
      <p:sp>
        <p:nvSpPr>
          <p:cNvPr id="24" name="TextBox 23"/>
          <p:cNvSpPr txBox="1"/>
          <p:nvPr/>
        </p:nvSpPr>
        <p:spPr>
          <a:xfrm>
            <a:off x="822960" y="5760720"/>
            <a:ext cx="10607040" cy="274320"/>
          </a:xfrm>
          <a:prstGeom prst="rect">
            <a:avLst/>
          </a:prstGeom>
          <a:noFill/>
        </p:spPr>
        <p:txBody>
          <a:bodyPr wrap="square" anchor="t" lIns="0" rIns="0" tIns="0" bIns="0">
            <a:spAutoFit/>
          </a:bodyPr>
          <a:lstStyle/>
          <a:p>
            <a:pPr algn="l">
              <a:spcAft>
                <a:spcPts val="0"/>
              </a:spcAft>
            </a:pPr>
            <a:r>
              <a:rPr sz="1200" b="0" i="0">
                <a:solidFill>
                  <a:srgbClr val="7C8A94"/>
                </a:solidFill>
                <a:latin typeface="Segoe UI"/>
              </a:rPr>
              <a:t>Sun mode is about daylight and well-being, not medical advice.</a:t>
            </a:r>
          </a:p>
        </p:txBody>
      </p:sp>
      <p:sp>
        <p:nvSpPr>
          <p:cNvPr id="25" name="TextBox 24"/>
          <p:cNvSpPr txBox="1"/>
          <p:nvPr/>
        </p:nvSpPr>
        <p:spPr>
          <a:xfrm>
            <a:off x="10881360" y="6355080"/>
            <a:ext cx="548640" cy="228600"/>
          </a:xfrm>
          <a:prstGeom prst="rect">
            <a:avLst/>
          </a:prstGeom>
          <a:noFill/>
        </p:spPr>
        <p:txBody>
          <a:bodyPr wrap="square" anchor="t" lIns="0" rIns="0" tIns="0" bIns="0">
            <a:spAutoFit/>
          </a:bodyPr>
          <a:lstStyle/>
          <a:p>
            <a:pPr algn="r">
              <a:spcAft>
                <a:spcPts val="0"/>
              </a:spcAft>
            </a:pPr>
            <a:r>
              <a:rPr sz="1000" b="0" i="0">
                <a:solidFill>
                  <a:srgbClr val="7C8A94"/>
                </a:solidFill>
                <a:latin typeface="Segoe UI"/>
              </a:rPr>
              <a:t>09 / 13</a:t>
            </a:r>
          </a:p>
        </p:txBody>
      </p:sp>
      <p:sp>
        <p:nvSpPr>
          <p:cNvPr id="26" name="TextBox 25"/>
          <p:cNvSpPr txBox="1"/>
          <p:nvPr/>
        </p:nvSpPr>
        <p:spPr>
          <a:xfrm>
            <a:off x="822960" y="6355080"/>
            <a:ext cx="3657600" cy="228600"/>
          </a:xfrm>
          <a:prstGeom prst="rect">
            <a:avLst/>
          </a:prstGeom>
          <a:noFill/>
        </p:spPr>
        <p:txBody>
          <a:bodyPr wrap="square" anchor="t" lIns="0" rIns="0" tIns="0" bIns="0">
            <a:spAutoFit/>
          </a:bodyPr>
          <a:lstStyle/>
          <a:p>
            <a:pPr algn="l">
              <a:spcAft>
                <a:spcPts val="0"/>
              </a:spcAft>
            </a:pPr>
            <a:r>
              <a:rPr sz="1000" b="0" i="0" spc="300">
                <a:solidFill>
                  <a:srgbClr val="7C8A94"/>
                </a:solidFill>
                <a:latin typeface="Segoe UI"/>
              </a:rPr>
              <a:t>ZILL &amp; SHAMS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sp>
        <p:nvSpPr>
          <p:cNvPr id="2" name="TextBox 1"/>
          <p:cNvSpPr txBox="1"/>
          <p:nvPr/>
        </p:nvSpPr>
        <p:spPr>
          <a:xfrm>
            <a:off x="822960" y="640080"/>
            <a:ext cx="5486400" cy="274320"/>
          </a:xfrm>
          <a:prstGeom prst="rect">
            <a:avLst/>
          </a:prstGeom>
          <a:noFill/>
        </p:spPr>
        <p:txBody>
          <a:bodyPr wrap="square" anchor="t" lIns="0" rIns="0" tIns="0" bIns="0">
            <a:spAutoFit/>
          </a:bodyPr>
          <a:lstStyle/>
          <a:p>
            <a:pPr algn="l">
              <a:spcAft>
                <a:spcPts val="0"/>
              </a:spcAft>
            </a:pPr>
            <a:r>
              <a:rPr sz="1100" b="0" i="0" spc="300">
                <a:solidFill>
                  <a:srgbClr val="C8A15A"/>
                </a:solidFill>
                <a:latin typeface="Segoe UI"/>
              </a:rPr>
              <a:t>BUSINESS MODEL</a:t>
            </a:r>
          </a:p>
        </p:txBody>
      </p:sp>
      <p:sp>
        <p:nvSpPr>
          <p:cNvPr id="3" name="TextBox 2"/>
          <p:cNvSpPr txBox="1"/>
          <p:nvPr/>
        </p:nvSpPr>
        <p:spPr>
          <a:xfrm>
            <a:off x="822960" y="960120"/>
            <a:ext cx="10058400" cy="1371600"/>
          </a:xfrm>
          <a:prstGeom prst="rect">
            <a:avLst/>
          </a:prstGeom>
          <a:noFill/>
        </p:spPr>
        <p:txBody>
          <a:bodyPr wrap="square" anchor="t" lIns="0" rIns="0" tIns="0" bIns="0">
            <a:spAutoFit/>
          </a:bodyPr>
          <a:lstStyle/>
          <a:p>
            <a:pPr algn="l">
              <a:spcAft>
                <a:spcPts val="0"/>
              </a:spcAft>
            </a:pPr>
            <a:r>
              <a:rPr sz="3600" b="0" i="0">
                <a:solidFill>
                  <a:srgbClr val="E9DCBC"/>
                </a:solidFill>
                <a:latin typeface="Georgia"/>
              </a:rPr>
              <a:t>Subscriptions first, with three ways to grow</a:t>
            </a:r>
          </a:p>
        </p:txBody>
      </p:sp>
      <p:sp>
        <p:nvSpPr>
          <p:cNvPr id="4" name="Rectangle 3"/>
          <p:cNvSpPr/>
          <p:nvPr/>
        </p:nvSpPr>
        <p:spPr>
          <a:xfrm>
            <a:off x="822960" y="2194560"/>
            <a:ext cx="5120640" cy="1371600"/>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395728"/>
            <a:ext cx="4572000" cy="274320"/>
          </a:xfrm>
          <a:prstGeom prst="rect">
            <a:avLst/>
          </a:prstGeom>
          <a:noFill/>
        </p:spPr>
        <p:txBody>
          <a:bodyPr wrap="square" anchor="t" lIns="0" rIns="0" tIns="0" bIns="0">
            <a:spAutoFit/>
          </a:bodyPr>
          <a:lstStyle/>
          <a:p>
            <a:pPr algn="l">
              <a:spcAft>
                <a:spcPts val="0"/>
              </a:spcAft>
            </a:pPr>
            <a:r>
              <a:rPr sz="1100" b="1" i="0" spc="300">
                <a:solidFill>
                  <a:srgbClr val="C8A15A"/>
                </a:solidFill>
                <a:latin typeface="Segoe UI"/>
              </a:rPr>
              <a:t>MAIN REVENUE</a:t>
            </a:r>
          </a:p>
        </p:txBody>
      </p:sp>
      <p:sp>
        <p:nvSpPr>
          <p:cNvPr id="6" name="TextBox 5"/>
          <p:cNvSpPr txBox="1"/>
          <p:nvPr/>
        </p:nvSpPr>
        <p:spPr>
          <a:xfrm>
            <a:off x="1097280" y="2724912"/>
            <a:ext cx="4572000" cy="457200"/>
          </a:xfrm>
          <a:prstGeom prst="rect">
            <a:avLst/>
          </a:prstGeom>
          <a:noFill/>
        </p:spPr>
        <p:txBody>
          <a:bodyPr wrap="square" anchor="t" lIns="0" rIns="0" tIns="0" bIns="0">
            <a:spAutoFit/>
          </a:bodyPr>
          <a:lstStyle/>
          <a:p>
            <a:pPr algn="l">
              <a:spcAft>
                <a:spcPts val="0"/>
              </a:spcAft>
            </a:pPr>
            <a:r>
              <a:rPr sz="2000" b="0" i="0">
                <a:solidFill>
                  <a:srgbClr val="E9DCBC"/>
                </a:solidFill>
                <a:latin typeface="Georgia"/>
              </a:rPr>
              <a:t>B2B software subscriptions</a:t>
            </a:r>
          </a:p>
        </p:txBody>
      </p:sp>
      <p:sp>
        <p:nvSpPr>
          <p:cNvPr id="7" name="TextBox 6"/>
          <p:cNvSpPr txBox="1"/>
          <p:nvPr/>
        </p:nvSpPr>
        <p:spPr>
          <a:xfrm>
            <a:off x="1097280" y="3108960"/>
            <a:ext cx="4572000" cy="320040"/>
          </a:xfrm>
          <a:prstGeom prst="rect">
            <a:avLst/>
          </a:prstGeom>
          <a:noFill/>
        </p:spPr>
        <p:txBody>
          <a:bodyPr wrap="square" anchor="t" lIns="0" rIns="0" tIns="0" bIns="0">
            <a:spAutoFit/>
          </a:bodyPr>
          <a:lstStyle/>
          <a:p>
            <a:pPr algn="l">
              <a:spcAft>
                <a:spcPts val="0"/>
              </a:spcAft>
            </a:pPr>
            <a:r>
              <a:rPr sz="1300" b="0" i="0">
                <a:solidFill>
                  <a:srgbClr val="F4EEE1"/>
                </a:solidFill>
                <a:latin typeface="Segoe UI"/>
              </a:rPr>
              <a:t>Fleets, hotels, employers.</a:t>
            </a:r>
          </a:p>
        </p:txBody>
      </p:sp>
      <p:sp>
        <p:nvSpPr>
          <p:cNvPr id="8" name="Rectangle 7"/>
          <p:cNvSpPr/>
          <p:nvPr/>
        </p:nvSpPr>
        <p:spPr>
          <a:xfrm>
            <a:off x="6172200" y="2194560"/>
            <a:ext cx="5120640" cy="1371600"/>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2395728"/>
            <a:ext cx="4572000" cy="274320"/>
          </a:xfrm>
          <a:prstGeom prst="rect">
            <a:avLst/>
          </a:prstGeom>
          <a:noFill/>
        </p:spPr>
        <p:txBody>
          <a:bodyPr wrap="square" anchor="t" lIns="0" rIns="0" tIns="0" bIns="0">
            <a:spAutoFit/>
          </a:bodyPr>
          <a:lstStyle/>
          <a:p>
            <a:pPr algn="l">
              <a:spcAft>
                <a:spcPts val="0"/>
              </a:spcAft>
            </a:pPr>
            <a:r>
              <a:rPr sz="1100" b="1" i="0" spc="300">
                <a:solidFill>
                  <a:srgbClr val="5E8C7B"/>
                </a:solidFill>
                <a:latin typeface="Segoe UI"/>
              </a:rPr>
              <a:t>API</a:t>
            </a:r>
          </a:p>
        </p:txBody>
      </p:sp>
      <p:sp>
        <p:nvSpPr>
          <p:cNvPr id="10" name="TextBox 9"/>
          <p:cNvSpPr txBox="1"/>
          <p:nvPr/>
        </p:nvSpPr>
        <p:spPr>
          <a:xfrm>
            <a:off x="6446520" y="2724912"/>
            <a:ext cx="4572000" cy="457200"/>
          </a:xfrm>
          <a:prstGeom prst="rect">
            <a:avLst/>
          </a:prstGeom>
          <a:noFill/>
        </p:spPr>
        <p:txBody>
          <a:bodyPr wrap="square" anchor="t" lIns="0" rIns="0" tIns="0" bIns="0">
            <a:spAutoFit/>
          </a:bodyPr>
          <a:lstStyle/>
          <a:p>
            <a:pPr algn="l">
              <a:spcAft>
                <a:spcPts val="0"/>
              </a:spcAft>
            </a:pPr>
            <a:r>
              <a:rPr sz="2000" b="0" i="0">
                <a:solidFill>
                  <a:srgbClr val="E9DCBC"/>
                </a:solidFill>
                <a:latin typeface="Georgia"/>
              </a:rPr>
              <a:t>Pay-per-route API</a:t>
            </a:r>
          </a:p>
        </p:txBody>
      </p:sp>
      <p:sp>
        <p:nvSpPr>
          <p:cNvPr id="11" name="TextBox 10"/>
          <p:cNvSpPr txBox="1"/>
          <p:nvPr/>
        </p:nvSpPr>
        <p:spPr>
          <a:xfrm>
            <a:off x="6446520" y="3108960"/>
            <a:ext cx="4572000" cy="320040"/>
          </a:xfrm>
          <a:prstGeom prst="rect">
            <a:avLst/>
          </a:prstGeom>
          <a:noFill/>
        </p:spPr>
        <p:txBody>
          <a:bodyPr wrap="square" anchor="t" lIns="0" rIns="0" tIns="0" bIns="0">
            <a:spAutoFit/>
          </a:bodyPr>
          <a:lstStyle/>
          <a:p>
            <a:pPr algn="l">
              <a:spcAft>
                <a:spcPts val="0"/>
              </a:spcAft>
            </a:pPr>
            <a:r>
              <a:rPr sz="1300" b="0" i="0">
                <a:solidFill>
                  <a:srgbClr val="F4EEE1"/>
                </a:solidFill>
                <a:latin typeface="Segoe UI"/>
              </a:rPr>
              <a:t>For delivery and mobility apps.</a:t>
            </a:r>
          </a:p>
        </p:txBody>
      </p:sp>
      <p:sp>
        <p:nvSpPr>
          <p:cNvPr id="12" name="Rectangle 11"/>
          <p:cNvSpPr/>
          <p:nvPr/>
        </p:nvSpPr>
        <p:spPr>
          <a:xfrm>
            <a:off x="822960" y="3794760"/>
            <a:ext cx="5120640" cy="1371600"/>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995928"/>
            <a:ext cx="4572000" cy="274320"/>
          </a:xfrm>
          <a:prstGeom prst="rect">
            <a:avLst/>
          </a:prstGeom>
          <a:noFill/>
        </p:spPr>
        <p:txBody>
          <a:bodyPr wrap="square" anchor="t" lIns="0" rIns="0" tIns="0" bIns="0">
            <a:spAutoFit/>
          </a:bodyPr>
          <a:lstStyle/>
          <a:p>
            <a:pPr algn="l">
              <a:spcAft>
                <a:spcPts val="0"/>
              </a:spcAft>
            </a:pPr>
            <a:r>
              <a:rPr sz="1100" b="1" i="0" spc="300">
                <a:solidFill>
                  <a:srgbClr val="5E8C7B"/>
                </a:solidFill>
                <a:latin typeface="Segoe UI"/>
              </a:rPr>
              <a:t>LICENCES</a:t>
            </a:r>
          </a:p>
        </p:txBody>
      </p:sp>
      <p:sp>
        <p:nvSpPr>
          <p:cNvPr id="14" name="TextBox 13"/>
          <p:cNvSpPr txBox="1"/>
          <p:nvPr/>
        </p:nvSpPr>
        <p:spPr>
          <a:xfrm>
            <a:off x="1097280" y="4325112"/>
            <a:ext cx="4572000" cy="457200"/>
          </a:xfrm>
          <a:prstGeom prst="rect">
            <a:avLst/>
          </a:prstGeom>
          <a:noFill/>
        </p:spPr>
        <p:txBody>
          <a:bodyPr wrap="square" anchor="t" lIns="0" rIns="0" tIns="0" bIns="0">
            <a:spAutoFit/>
          </a:bodyPr>
          <a:lstStyle/>
          <a:p>
            <a:pPr algn="l">
              <a:spcAft>
                <a:spcPts val="0"/>
              </a:spcAft>
            </a:pPr>
            <a:r>
              <a:rPr sz="2000" b="0" i="0">
                <a:solidFill>
                  <a:srgbClr val="E9DCBC"/>
                </a:solidFill>
                <a:latin typeface="Georgia"/>
              </a:rPr>
              <a:t>City and tourism-board licences</a:t>
            </a:r>
          </a:p>
        </p:txBody>
      </p:sp>
      <p:sp>
        <p:nvSpPr>
          <p:cNvPr id="15" name="Rectangle 14"/>
          <p:cNvSpPr/>
          <p:nvPr/>
        </p:nvSpPr>
        <p:spPr>
          <a:xfrm>
            <a:off x="6172200" y="3794760"/>
            <a:ext cx="5120640" cy="1371600"/>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3995928"/>
            <a:ext cx="4572000" cy="274320"/>
          </a:xfrm>
          <a:prstGeom prst="rect">
            <a:avLst/>
          </a:prstGeom>
          <a:noFill/>
        </p:spPr>
        <p:txBody>
          <a:bodyPr wrap="square" anchor="t" lIns="0" rIns="0" tIns="0" bIns="0">
            <a:spAutoFit/>
          </a:bodyPr>
          <a:lstStyle/>
          <a:p>
            <a:pPr algn="l">
              <a:spcAft>
                <a:spcPts val="0"/>
              </a:spcAft>
            </a:pPr>
            <a:r>
              <a:rPr sz="1100" b="1" i="0" spc="300">
                <a:solidFill>
                  <a:srgbClr val="7C8A94"/>
                </a:solidFill>
                <a:latin typeface="Segoe UI"/>
              </a:rPr>
              <a:t>REACH</a:t>
            </a:r>
          </a:p>
        </p:txBody>
      </p:sp>
      <p:sp>
        <p:nvSpPr>
          <p:cNvPr id="17" name="TextBox 16"/>
          <p:cNvSpPr txBox="1"/>
          <p:nvPr/>
        </p:nvSpPr>
        <p:spPr>
          <a:xfrm>
            <a:off x="6446520" y="4325112"/>
            <a:ext cx="4572000" cy="457200"/>
          </a:xfrm>
          <a:prstGeom prst="rect">
            <a:avLst/>
          </a:prstGeom>
          <a:noFill/>
        </p:spPr>
        <p:txBody>
          <a:bodyPr wrap="square" anchor="t" lIns="0" rIns="0" tIns="0" bIns="0">
            <a:spAutoFit/>
          </a:bodyPr>
          <a:lstStyle/>
          <a:p>
            <a:pPr algn="l">
              <a:spcAft>
                <a:spcPts val="0"/>
              </a:spcAft>
            </a:pPr>
            <a:r>
              <a:rPr sz="2000" b="0" i="0">
                <a:solidFill>
                  <a:srgbClr val="E9DCBC"/>
                </a:solidFill>
                <a:latin typeface="Georgia"/>
              </a:rPr>
              <a:t>A free consumer app</a:t>
            </a:r>
          </a:p>
        </p:txBody>
      </p:sp>
      <p:sp>
        <p:nvSpPr>
          <p:cNvPr id="18" name="TextBox 17"/>
          <p:cNvSpPr txBox="1"/>
          <p:nvPr/>
        </p:nvSpPr>
        <p:spPr>
          <a:xfrm>
            <a:off x="822960" y="5623560"/>
            <a:ext cx="10607040" cy="457200"/>
          </a:xfrm>
          <a:prstGeom prst="rect">
            <a:avLst/>
          </a:prstGeom>
          <a:noFill/>
        </p:spPr>
        <p:txBody>
          <a:bodyPr wrap="square" anchor="t" lIns="0" rIns="0" tIns="0" bIns="0">
            <a:spAutoFit/>
          </a:bodyPr>
          <a:lstStyle/>
          <a:p>
            <a:pPr algn="l">
              <a:spcAft>
                <a:spcPts val="0"/>
              </a:spcAft>
            </a:pPr>
            <a:r>
              <a:rPr sz="2000" b="0" i="1">
                <a:solidFill>
                  <a:srgbClr val="E9DCBC"/>
                </a:solidFill>
                <a:latin typeface="Georgia"/>
              </a:rPr>
              <a:t>Low cost to add a city: it is built from open data automatically.</a:t>
            </a:r>
          </a:p>
        </p:txBody>
      </p:sp>
      <p:sp>
        <p:nvSpPr>
          <p:cNvPr id="19" name="TextBox 18"/>
          <p:cNvSpPr txBox="1"/>
          <p:nvPr/>
        </p:nvSpPr>
        <p:spPr>
          <a:xfrm>
            <a:off x="10881360" y="6355080"/>
            <a:ext cx="548640" cy="228600"/>
          </a:xfrm>
          <a:prstGeom prst="rect">
            <a:avLst/>
          </a:prstGeom>
          <a:noFill/>
        </p:spPr>
        <p:txBody>
          <a:bodyPr wrap="square" anchor="t" lIns="0" rIns="0" tIns="0" bIns="0">
            <a:spAutoFit/>
          </a:bodyPr>
          <a:lstStyle/>
          <a:p>
            <a:pPr algn="r">
              <a:spcAft>
                <a:spcPts val="0"/>
              </a:spcAft>
            </a:pPr>
            <a:r>
              <a:rPr sz="1000" b="0" i="0">
                <a:solidFill>
                  <a:srgbClr val="7C8A94"/>
                </a:solidFill>
                <a:latin typeface="Segoe UI"/>
              </a:rPr>
              <a:t>10 / 13</a:t>
            </a:r>
          </a:p>
        </p:txBody>
      </p:sp>
      <p:sp>
        <p:nvSpPr>
          <p:cNvPr id="20" name="TextBox 19"/>
          <p:cNvSpPr txBox="1"/>
          <p:nvPr/>
        </p:nvSpPr>
        <p:spPr>
          <a:xfrm>
            <a:off x="822960" y="6355080"/>
            <a:ext cx="3657600" cy="228600"/>
          </a:xfrm>
          <a:prstGeom prst="rect">
            <a:avLst/>
          </a:prstGeom>
          <a:noFill/>
        </p:spPr>
        <p:txBody>
          <a:bodyPr wrap="square" anchor="t" lIns="0" rIns="0" tIns="0" bIns="0">
            <a:spAutoFit/>
          </a:bodyPr>
          <a:lstStyle/>
          <a:p>
            <a:pPr algn="l">
              <a:spcAft>
                <a:spcPts val="0"/>
              </a:spcAft>
            </a:pPr>
            <a:r>
              <a:rPr sz="1000" b="0" i="0" spc="300">
                <a:solidFill>
                  <a:srgbClr val="7C8A94"/>
                </a:solidFill>
                <a:latin typeface="Segoe UI"/>
              </a:rPr>
              <a:t>ZILL &amp; SHAMS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pic>
        <p:nvPicPr>
          <p:cNvPr id="2" name="Picture 1" descr="11_any-hot-city_f.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E0C0A">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40080"/>
            <a:ext cx="5486400" cy="274320"/>
          </a:xfrm>
          <a:prstGeom prst="rect">
            <a:avLst/>
          </a:prstGeom>
          <a:noFill/>
        </p:spPr>
        <p:txBody>
          <a:bodyPr wrap="square" anchor="t" lIns="0" rIns="0" tIns="0" bIns="0">
            <a:spAutoFit/>
          </a:bodyPr>
          <a:lstStyle/>
          <a:p>
            <a:pPr algn="l">
              <a:spcAft>
                <a:spcPts val="0"/>
              </a:spcAft>
            </a:pPr>
            <a:r>
              <a:rPr sz="1100" b="0" i="0" spc="300">
                <a:solidFill>
                  <a:srgbClr val="C8A15A"/>
                </a:solidFill>
                <a:latin typeface="Segoe UI"/>
              </a:rPr>
              <a:t>GO-TO-MARKET AND ROADMAP</a:t>
            </a:r>
          </a:p>
        </p:txBody>
      </p:sp>
      <p:sp>
        <p:nvSpPr>
          <p:cNvPr id="5" name="TextBox 4"/>
          <p:cNvSpPr txBox="1"/>
          <p:nvPr/>
        </p:nvSpPr>
        <p:spPr>
          <a:xfrm>
            <a:off x="822960" y="960120"/>
            <a:ext cx="9144000" cy="1371600"/>
          </a:xfrm>
          <a:prstGeom prst="rect">
            <a:avLst/>
          </a:prstGeom>
          <a:noFill/>
        </p:spPr>
        <p:txBody>
          <a:bodyPr wrap="square" anchor="t" lIns="0" rIns="0" tIns="0" bIns="0">
            <a:spAutoFit/>
          </a:bodyPr>
          <a:lstStyle/>
          <a:p>
            <a:pPr algn="l">
              <a:spcAft>
                <a:spcPts val="0"/>
              </a:spcAft>
            </a:pPr>
            <a:r>
              <a:rPr sz="3400" b="0" i="0">
                <a:solidFill>
                  <a:srgbClr val="E9DCBC"/>
                </a:solidFill>
                <a:latin typeface="Georgia"/>
              </a:rPr>
              <a:t>Dubai first, then hot and dark cities</a:t>
            </a:r>
          </a:p>
        </p:txBody>
      </p:sp>
      <p:cxnSp>
        <p:nvCxnSpPr>
          <p:cNvPr id="6" name="Connector 5"/>
          <p:cNvCxnSpPr/>
          <p:nvPr/>
        </p:nvCxnSpPr>
        <p:spPr>
          <a:xfrm>
            <a:off x="822960" y="3520440"/>
            <a:ext cx="10607040" cy="0"/>
          </a:xfrm>
          <a:prstGeom prst="line">
            <a:avLst/>
          </a:prstGeom>
          <a:ln w="9525">
            <a:solidFill>
              <a:srgbClr val="C8A15A"/>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822960" y="3401568"/>
            <a:ext cx="237744" cy="237744"/>
          </a:xfrm>
          <a:prstGeom prst="ellipse">
            <a:avLst/>
          </a:prstGeom>
          <a:solidFill>
            <a:srgbClr val="C8A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3886200"/>
            <a:ext cx="3291840" cy="1920240"/>
          </a:xfrm>
          <a:prstGeom prst="rect">
            <a:avLst/>
          </a:prstGeom>
          <a:solidFill>
            <a:srgbClr val="0E0C0A">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069080"/>
            <a:ext cx="2834640" cy="457200"/>
          </a:xfrm>
          <a:prstGeom prst="rect">
            <a:avLst/>
          </a:prstGeom>
          <a:noFill/>
        </p:spPr>
        <p:txBody>
          <a:bodyPr wrap="square" anchor="t" lIns="0" rIns="0" tIns="0" bIns="0">
            <a:spAutoFit/>
          </a:bodyPr>
          <a:lstStyle/>
          <a:p>
            <a:pPr algn="l">
              <a:spcAft>
                <a:spcPts val="0"/>
              </a:spcAft>
            </a:pPr>
            <a:r>
              <a:rPr sz="2000" b="0" i="0">
                <a:solidFill>
                  <a:srgbClr val="E9DCBC"/>
                </a:solidFill>
                <a:latin typeface="Georgia"/>
              </a:rPr>
              <a:t>1  Dubai</a:t>
            </a:r>
          </a:p>
        </p:txBody>
      </p:sp>
      <p:sp>
        <p:nvSpPr>
          <p:cNvPr id="10" name="TextBox 9"/>
          <p:cNvSpPr txBox="1"/>
          <p:nvPr/>
        </p:nvSpPr>
        <p:spPr>
          <a:xfrm>
            <a:off x="1051560" y="4617720"/>
            <a:ext cx="2834640" cy="1097280"/>
          </a:xfrm>
          <a:prstGeom prst="rect">
            <a:avLst/>
          </a:prstGeom>
          <a:noFill/>
        </p:spPr>
        <p:txBody>
          <a:bodyPr wrap="square" anchor="t" lIns="0" rIns="0" tIns="0" bIns="0">
            <a:spAutoFit/>
          </a:bodyPr>
          <a:lstStyle/>
          <a:p>
            <a:pPr algn="l">
              <a:spcAft>
                <a:spcPts val="0"/>
              </a:spcAft>
            </a:pPr>
            <a:r>
              <a:rPr sz="1400" b="0" i="0">
                <a:solidFill>
                  <a:srgbClr val="F4EEE1"/>
                </a:solidFill>
                <a:latin typeface="Segoe UI"/>
              </a:rPr>
              <a:t>A pilot with one delivery fleet and one hotel. The prototype is already live.</a:t>
            </a:r>
          </a:p>
        </p:txBody>
      </p:sp>
      <p:sp>
        <p:nvSpPr>
          <p:cNvPr id="11" name="Oval 10"/>
          <p:cNvSpPr/>
          <p:nvPr/>
        </p:nvSpPr>
        <p:spPr>
          <a:xfrm>
            <a:off x="4480560" y="3401568"/>
            <a:ext cx="237744" cy="237744"/>
          </a:xfrm>
          <a:prstGeom prst="ellipse">
            <a:avLst/>
          </a:prstGeom>
          <a:solidFill>
            <a:srgbClr val="C8A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80560" y="3886200"/>
            <a:ext cx="3291840" cy="1920240"/>
          </a:xfrm>
          <a:prstGeom prst="rect">
            <a:avLst/>
          </a:prstGeom>
          <a:solidFill>
            <a:srgbClr val="0E0C0A">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9160" y="4069080"/>
            <a:ext cx="2834640" cy="457200"/>
          </a:xfrm>
          <a:prstGeom prst="rect">
            <a:avLst/>
          </a:prstGeom>
          <a:noFill/>
        </p:spPr>
        <p:txBody>
          <a:bodyPr wrap="square" anchor="t" lIns="0" rIns="0" tIns="0" bIns="0">
            <a:spAutoFit/>
          </a:bodyPr>
          <a:lstStyle/>
          <a:p>
            <a:pPr algn="l">
              <a:spcAft>
                <a:spcPts val="0"/>
              </a:spcAft>
            </a:pPr>
            <a:r>
              <a:rPr sz="2000" b="0" i="0">
                <a:solidFill>
                  <a:srgbClr val="E9DCBC"/>
                </a:solidFill>
                <a:latin typeface="Georgia"/>
              </a:rPr>
              <a:t>2  UAE and Gulf</a:t>
            </a:r>
          </a:p>
        </p:txBody>
      </p:sp>
      <p:sp>
        <p:nvSpPr>
          <p:cNvPr id="14" name="TextBox 13"/>
          <p:cNvSpPr txBox="1"/>
          <p:nvPr/>
        </p:nvSpPr>
        <p:spPr>
          <a:xfrm>
            <a:off x="4709160" y="4617720"/>
            <a:ext cx="2834640" cy="1097280"/>
          </a:xfrm>
          <a:prstGeom prst="rect">
            <a:avLst/>
          </a:prstGeom>
          <a:noFill/>
        </p:spPr>
        <p:txBody>
          <a:bodyPr wrap="square" anchor="t" lIns="0" rIns="0" tIns="0" bIns="0">
            <a:spAutoFit/>
          </a:bodyPr>
          <a:lstStyle/>
          <a:p>
            <a:pPr algn="l">
              <a:spcAft>
                <a:spcPts val="0"/>
              </a:spcAft>
            </a:pPr>
            <a:r>
              <a:rPr sz="1400" b="0" i="0">
                <a:solidFill>
                  <a:srgbClr val="F4EEE1"/>
                </a:solidFill>
                <a:latin typeface="Segoe UI"/>
              </a:rPr>
              <a:t>Abu Dhabi, Doha, Riyadh; the sun mode for winter well-being.</a:t>
            </a:r>
          </a:p>
        </p:txBody>
      </p:sp>
      <p:sp>
        <p:nvSpPr>
          <p:cNvPr id="15" name="Oval 14"/>
          <p:cNvSpPr/>
          <p:nvPr/>
        </p:nvSpPr>
        <p:spPr>
          <a:xfrm>
            <a:off x="8138160" y="3401568"/>
            <a:ext cx="237744" cy="237744"/>
          </a:xfrm>
          <a:prstGeom prst="ellipse">
            <a:avLst/>
          </a:prstGeom>
          <a:solidFill>
            <a:srgbClr val="C8A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3886200"/>
            <a:ext cx="3291840" cy="1920240"/>
          </a:xfrm>
          <a:prstGeom prst="rect">
            <a:avLst/>
          </a:prstGeom>
          <a:solidFill>
            <a:srgbClr val="0E0C0A">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6760" y="4069080"/>
            <a:ext cx="2834640" cy="457200"/>
          </a:xfrm>
          <a:prstGeom prst="rect">
            <a:avLst/>
          </a:prstGeom>
          <a:noFill/>
        </p:spPr>
        <p:txBody>
          <a:bodyPr wrap="square" anchor="t" lIns="0" rIns="0" tIns="0" bIns="0">
            <a:spAutoFit/>
          </a:bodyPr>
          <a:lstStyle/>
          <a:p>
            <a:pPr algn="l">
              <a:spcAft>
                <a:spcPts val="0"/>
              </a:spcAft>
            </a:pPr>
            <a:r>
              <a:rPr sz="2000" b="0" i="0">
                <a:solidFill>
                  <a:srgbClr val="E9DCBC"/>
                </a:solidFill>
                <a:latin typeface="Georgia"/>
              </a:rPr>
              <a:t>3  Northern cities</a:t>
            </a:r>
          </a:p>
        </p:txBody>
      </p:sp>
      <p:sp>
        <p:nvSpPr>
          <p:cNvPr id="18" name="TextBox 17"/>
          <p:cNvSpPr txBox="1"/>
          <p:nvPr/>
        </p:nvSpPr>
        <p:spPr>
          <a:xfrm>
            <a:off x="8366760" y="4617720"/>
            <a:ext cx="2834640" cy="1097280"/>
          </a:xfrm>
          <a:prstGeom prst="rect">
            <a:avLst/>
          </a:prstGeom>
          <a:noFill/>
        </p:spPr>
        <p:txBody>
          <a:bodyPr wrap="square" anchor="t" lIns="0" rIns="0" tIns="0" bIns="0">
            <a:spAutoFit/>
          </a:bodyPr>
          <a:lstStyle/>
          <a:p>
            <a:pPr algn="l">
              <a:spcAft>
                <a:spcPts val="0"/>
              </a:spcAft>
            </a:pPr>
            <a:r>
              <a:rPr sz="1400" b="0" i="0">
                <a:solidFill>
                  <a:srgbClr val="F4EEE1"/>
                </a:solidFill>
                <a:latin typeface="Segoe UI"/>
              </a:rPr>
              <a:t>A winter daylight pilot in a city like Oslo or Toronto.</a:t>
            </a:r>
          </a:p>
        </p:txBody>
      </p:sp>
      <p:sp>
        <p:nvSpPr>
          <p:cNvPr id="19" name="TextBox 18"/>
          <p:cNvSpPr txBox="1"/>
          <p:nvPr/>
        </p:nvSpPr>
        <p:spPr>
          <a:xfrm>
            <a:off x="10881360" y="6355080"/>
            <a:ext cx="548640" cy="228600"/>
          </a:xfrm>
          <a:prstGeom prst="rect">
            <a:avLst/>
          </a:prstGeom>
          <a:noFill/>
        </p:spPr>
        <p:txBody>
          <a:bodyPr wrap="square" anchor="t" lIns="0" rIns="0" tIns="0" bIns="0">
            <a:spAutoFit/>
          </a:bodyPr>
          <a:lstStyle/>
          <a:p>
            <a:pPr algn="r">
              <a:spcAft>
                <a:spcPts val="0"/>
              </a:spcAft>
            </a:pPr>
            <a:r>
              <a:rPr sz="1000" b="0" i="0">
                <a:solidFill>
                  <a:srgbClr val="7C8A94"/>
                </a:solidFill>
                <a:latin typeface="Segoe UI"/>
              </a:rPr>
              <a:t>11 / 13</a:t>
            </a:r>
          </a:p>
        </p:txBody>
      </p:sp>
      <p:sp>
        <p:nvSpPr>
          <p:cNvPr id="20" name="TextBox 19"/>
          <p:cNvSpPr txBox="1"/>
          <p:nvPr/>
        </p:nvSpPr>
        <p:spPr>
          <a:xfrm>
            <a:off x="822960" y="6355080"/>
            <a:ext cx="3657600" cy="228600"/>
          </a:xfrm>
          <a:prstGeom prst="rect">
            <a:avLst/>
          </a:prstGeom>
          <a:noFill/>
        </p:spPr>
        <p:txBody>
          <a:bodyPr wrap="square" anchor="t" lIns="0" rIns="0" tIns="0" bIns="0">
            <a:spAutoFit/>
          </a:bodyPr>
          <a:lstStyle/>
          <a:p>
            <a:pPr algn="l">
              <a:spcAft>
                <a:spcPts val="0"/>
              </a:spcAft>
            </a:pPr>
            <a:r>
              <a:rPr sz="1000" b="0" i="0" spc="300">
                <a:solidFill>
                  <a:srgbClr val="7C8A94"/>
                </a:solidFill>
                <a:latin typeface="Segoe UI"/>
              </a:rPr>
              <a:t>ZILL &amp; SHAMS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pic>
        <p:nvPicPr>
          <p:cNvPr id="2" name="Picture 1" descr="05_the-shade-engine_f.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6766560" cy="6858000"/>
          </a:xfrm>
          <a:prstGeom prst="rect">
            <a:avLst/>
          </a:prstGeom>
          <a:solidFill>
            <a:srgbClr val="0E0C0A">
              <a:alpha val="7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22960"/>
            <a:ext cx="5486400" cy="274320"/>
          </a:xfrm>
          <a:prstGeom prst="rect">
            <a:avLst/>
          </a:prstGeom>
          <a:noFill/>
        </p:spPr>
        <p:txBody>
          <a:bodyPr wrap="square" anchor="t" lIns="0" rIns="0" tIns="0" bIns="0">
            <a:spAutoFit/>
          </a:bodyPr>
          <a:lstStyle/>
          <a:p>
            <a:pPr algn="l">
              <a:spcAft>
                <a:spcPts val="0"/>
              </a:spcAft>
            </a:pPr>
            <a:r>
              <a:rPr sz="1100" b="0" i="0" spc="300">
                <a:solidFill>
                  <a:srgbClr val="C8A15A"/>
                </a:solidFill>
                <a:latin typeface="Segoe UI"/>
              </a:rPr>
              <a:t>WHAT ALREADY WORKS</a:t>
            </a:r>
          </a:p>
        </p:txBody>
      </p:sp>
      <p:sp>
        <p:nvSpPr>
          <p:cNvPr id="5" name="TextBox 4"/>
          <p:cNvSpPr txBox="1"/>
          <p:nvPr/>
        </p:nvSpPr>
        <p:spPr>
          <a:xfrm>
            <a:off x="822960" y="1280160"/>
            <a:ext cx="5486400" cy="1371600"/>
          </a:xfrm>
          <a:prstGeom prst="rect">
            <a:avLst/>
          </a:prstGeom>
          <a:noFill/>
        </p:spPr>
        <p:txBody>
          <a:bodyPr wrap="square" anchor="t" lIns="0" rIns="0" tIns="0" bIns="0">
            <a:spAutoFit/>
          </a:bodyPr>
          <a:lstStyle/>
          <a:p>
            <a:pPr algn="l">
              <a:spcAft>
                <a:spcPts val="0"/>
              </a:spcAft>
            </a:pPr>
            <a:r>
              <a:rPr sz="3400" b="0" i="0">
                <a:solidFill>
                  <a:srgbClr val="E9DCBC"/>
                </a:solidFill>
                <a:latin typeface="Georgia"/>
              </a:rPr>
              <a:t>A live prototype, built on real data</a:t>
            </a:r>
          </a:p>
        </p:txBody>
      </p:sp>
      <p:cxnSp>
        <p:nvCxnSpPr>
          <p:cNvPr id="6" name="Connector 5"/>
          <p:cNvCxnSpPr/>
          <p:nvPr/>
        </p:nvCxnSpPr>
        <p:spPr>
          <a:xfrm>
            <a:off x="822960" y="3063240"/>
            <a:ext cx="5486400" cy="0"/>
          </a:xfrm>
          <a:prstGeom prst="line">
            <a:avLst/>
          </a:prstGeom>
          <a:ln w="9525">
            <a:solidFill>
              <a:srgbClr val="3A3128"/>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3200400"/>
            <a:ext cx="5486400" cy="822960"/>
          </a:xfrm>
          <a:prstGeom prst="rect">
            <a:avLst/>
          </a:prstGeom>
          <a:noFill/>
        </p:spPr>
        <p:txBody>
          <a:bodyPr wrap="square" anchor="t" lIns="0" rIns="0" tIns="0" bIns="0">
            <a:spAutoFit/>
          </a:bodyPr>
          <a:lstStyle/>
          <a:p>
            <a:pPr algn="l">
              <a:spcAft>
                <a:spcPts val="0"/>
              </a:spcAft>
            </a:pPr>
            <a:r>
              <a:rPr sz="1500" b="0" i="0">
                <a:solidFill>
                  <a:srgbClr val="F4EEE1"/>
                </a:solidFill>
                <a:latin typeface="Segoe UI"/>
              </a:rPr>
              <a:t>A live prototype at zill.itshamza.me: 3D city, shade engine, routing and an AI agent.</a:t>
            </a:r>
          </a:p>
        </p:txBody>
      </p:sp>
      <p:cxnSp>
        <p:nvCxnSpPr>
          <p:cNvPr id="8" name="Connector 7"/>
          <p:cNvCxnSpPr/>
          <p:nvPr/>
        </p:nvCxnSpPr>
        <p:spPr>
          <a:xfrm>
            <a:off x="822960" y="4114800"/>
            <a:ext cx="5486400" cy="0"/>
          </a:xfrm>
          <a:prstGeom prst="line">
            <a:avLst/>
          </a:prstGeom>
          <a:ln w="9525">
            <a:solidFill>
              <a:srgbClr val="3A312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4251960"/>
            <a:ext cx="5486400" cy="822960"/>
          </a:xfrm>
          <a:prstGeom prst="rect">
            <a:avLst/>
          </a:prstGeom>
          <a:noFill/>
        </p:spPr>
        <p:txBody>
          <a:bodyPr wrap="square" anchor="t" lIns="0" rIns="0" tIns="0" bIns="0">
            <a:spAutoFit/>
          </a:bodyPr>
          <a:lstStyle/>
          <a:p>
            <a:pPr algn="l">
              <a:spcAft>
                <a:spcPts val="0"/>
              </a:spcAft>
            </a:pPr>
            <a:r>
              <a:rPr sz="1500" b="0" i="0">
                <a:solidFill>
                  <a:srgbClr val="F4EEE1"/>
                </a:solidFill>
                <a:latin typeface="Segoe UI"/>
              </a:rPr>
              <a:t>Real data for Downtown Dubai and real sun calculations; 296 automated tests pass.</a:t>
            </a:r>
          </a:p>
        </p:txBody>
      </p:sp>
      <p:cxnSp>
        <p:nvCxnSpPr>
          <p:cNvPr id="10" name="Connector 9"/>
          <p:cNvCxnSpPr/>
          <p:nvPr/>
        </p:nvCxnSpPr>
        <p:spPr>
          <a:xfrm>
            <a:off x="822960" y="5166360"/>
            <a:ext cx="5486400" cy="0"/>
          </a:xfrm>
          <a:prstGeom prst="line">
            <a:avLst/>
          </a:prstGeom>
          <a:ln w="9525">
            <a:solidFill>
              <a:srgbClr val="3A3128"/>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22960" y="5303520"/>
            <a:ext cx="5486400" cy="822960"/>
          </a:xfrm>
          <a:prstGeom prst="rect">
            <a:avLst/>
          </a:prstGeom>
          <a:noFill/>
        </p:spPr>
        <p:txBody>
          <a:bodyPr wrap="square" anchor="t" lIns="0" rIns="0" tIns="0" bIns="0">
            <a:spAutoFit/>
          </a:bodyPr>
          <a:lstStyle/>
          <a:p>
            <a:pPr algn="l">
              <a:spcAft>
                <a:spcPts val="0"/>
              </a:spcAft>
            </a:pPr>
            <a:r>
              <a:rPr sz="1500" b="0" i="0">
                <a:solidFill>
                  <a:srgbClr val="F4EEE1"/>
                </a:solidFill>
                <a:latin typeface="Segoe UI"/>
              </a:rPr>
              <a:t>Honest limits: shade comes from buildings and mapped trees; field measurements are the next step.</a:t>
            </a:r>
          </a:p>
        </p:txBody>
      </p:sp>
      <p:sp>
        <p:nvSpPr>
          <p:cNvPr id="12" name="TextBox 11"/>
          <p:cNvSpPr txBox="1"/>
          <p:nvPr/>
        </p:nvSpPr>
        <p:spPr>
          <a:xfrm>
            <a:off x="10881360" y="6355080"/>
            <a:ext cx="548640" cy="228600"/>
          </a:xfrm>
          <a:prstGeom prst="rect">
            <a:avLst/>
          </a:prstGeom>
          <a:noFill/>
        </p:spPr>
        <p:txBody>
          <a:bodyPr wrap="square" anchor="t" lIns="0" rIns="0" tIns="0" bIns="0">
            <a:spAutoFit/>
          </a:bodyPr>
          <a:lstStyle/>
          <a:p>
            <a:pPr algn="r">
              <a:spcAft>
                <a:spcPts val="0"/>
              </a:spcAft>
            </a:pPr>
            <a:r>
              <a:rPr sz="1000" b="0" i="0">
                <a:solidFill>
                  <a:srgbClr val="7C8A94"/>
                </a:solidFill>
                <a:latin typeface="Segoe UI"/>
              </a:rPr>
              <a:t>12 / 13</a:t>
            </a:r>
          </a:p>
        </p:txBody>
      </p:sp>
      <p:sp>
        <p:nvSpPr>
          <p:cNvPr id="13" name="TextBox 12"/>
          <p:cNvSpPr txBox="1"/>
          <p:nvPr/>
        </p:nvSpPr>
        <p:spPr>
          <a:xfrm>
            <a:off x="822960" y="6355080"/>
            <a:ext cx="3657600" cy="228600"/>
          </a:xfrm>
          <a:prstGeom prst="rect">
            <a:avLst/>
          </a:prstGeom>
          <a:noFill/>
        </p:spPr>
        <p:txBody>
          <a:bodyPr wrap="square" anchor="t" lIns="0" rIns="0" tIns="0" bIns="0">
            <a:spAutoFit/>
          </a:bodyPr>
          <a:lstStyle/>
          <a:p>
            <a:pPr algn="l">
              <a:spcAft>
                <a:spcPts val="0"/>
              </a:spcAft>
            </a:pPr>
            <a:r>
              <a:rPr sz="1000" b="0" i="0" spc="300">
                <a:solidFill>
                  <a:srgbClr val="7C8A94"/>
                </a:solidFill>
                <a:latin typeface="Segoe UI"/>
              </a:rPr>
              <a:t>ZILL &amp; SHAMS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pic>
        <p:nvPicPr>
          <p:cNvPr id="2" name="Picture 1" descr="12_the-ask_f.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E0C0A">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10515600" cy="1188720"/>
          </a:xfrm>
          <a:prstGeom prst="rect">
            <a:avLst/>
          </a:prstGeom>
          <a:noFill/>
        </p:spPr>
        <p:txBody>
          <a:bodyPr wrap="square" anchor="t" lIns="0" rIns="0" tIns="0" bIns="0">
            <a:spAutoFit/>
          </a:bodyPr>
          <a:lstStyle/>
          <a:p>
            <a:pPr algn="l">
              <a:spcAft>
                <a:spcPts val="0"/>
              </a:spcAft>
            </a:pPr>
            <a:r>
              <a:rPr sz="6600" b="0" i="0">
                <a:solidFill>
                  <a:srgbClr val="E9DCBC"/>
                </a:solidFill>
                <a:latin typeface="Georgia"/>
              </a:rPr>
              <a:t>Zill &amp; Shams</a:t>
            </a:r>
          </a:p>
        </p:txBody>
      </p:sp>
      <p:cxnSp>
        <p:nvCxnSpPr>
          <p:cNvPr id="5" name="Connector 4"/>
          <p:cNvCxnSpPr/>
          <p:nvPr/>
        </p:nvCxnSpPr>
        <p:spPr>
          <a:xfrm>
            <a:off x="822960" y="3429000"/>
            <a:ext cx="1097280" cy="0"/>
          </a:xfrm>
          <a:prstGeom prst="line">
            <a:avLst/>
          </a:prstGeom>
          <a:ln w="9525">
            <a:solidFill>
              <a:srgbClr val="C8A15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3657600"/>
            <a:ext cx="10058400" cy="548640"/>
          </a:xfrm>
          <a:prstGeom prst="rect">
            <a:avLst/>
          </a:prstGeom>
          <a:noFill/>
        </p:spPr>
        <p:txBody>
          <a:bodyPr wrap="square" anchor="t" lIns="0" rIns="0" tIns="0" bIns="0">
            <a:spAutoFit/>
          </a:bodyPr>
          <a:lstStyle/>
          <a:p>
            <a:pPr algn="l">
              <a:spcAft>
                <a:spcPts val="0"/>
              </a:spcAft>
            </a:pPr>
            <a:r>
              <a:rPr sz="2600" b="0" i="1">
                <a:solidFill>
                  <a:srgbClr val="F4EEE1"/>
                </a:solidFill>
                <a:latin typeface="Georgia"/>
              </a:rPr>
              <a:t>Shade when you need it. Sun when you want it.</a:t>
            </a:r>
          </a:p>
        </p:txBody>
      </p:sp>
      <p:sp>
        <p:nvSpPr>
          <p:cNvPr id="7" name="TextBox 6"/>
          <p:cNvSpPr txBox="1"/>
          <p:nvPr/>
        </p:nvSpPr>
        <p:spPr>
          <a:xfrm>
            <a:off x="822960" y="4937760"/>
            <a:ext cx="7315200" cy="274320"/>
          </a:xfrm>
          <a:prstGeom prst="rect">
            <a:avLst/>
          </a:prstGeom>
          <a:noFill/>
        </p:spPr>
        <p:txBody>
          <a:bodyPr wrap="square" anchor="t" lIns="0" rIns="0" tIns="0" bIns="0">
            <a:spAutoFit/>
          </a:bodyPr>
          <a:lstStyle/>
          <a:p>
            <a:pPr algn="l">
              <a:spcAft>
                <a:spcPts val="0"/>
              </a:spcAft>
            </a:pPr>
            <a:r>
              <a:rPr sz="1100" b="0" i="0" spc="300">
                <a:solidFill>
                  <a:srgbClr val="C8A15A"/>
                </a:solidFill>
                <a:latin typeface="Segoe UI"/>
              </a:rPr>
              <a:t>ABHAMZAY</a:t>
            </a:r>
          </a:p>
        </p:txBody>
      </p:sp>
      <p:sp>
        <p:nvSpPr>
          <p:cNvPr id="8" name="TextBox 7"/>
          <p:cNvSpPr txBox="1"/>
          <p:nvPr/>
        </p:nvSpPr>
        <p:spPr>
          <a:xfrm>
            <a:off x="822960" y="5257800"/>
            <a:ext cx="7315200" cy="365760"/>
          </a:xfrm>
          <a:prstGeom prst="rect">
            <a:avLst/>
          </a:prstGeom>
          <a:noFill/>
        </p:spPr>
        <p:txBody>
          <a:bodyPr wrap="square" anchor="t" lIns="0" rIns="0" tIns="0" bIns="0">
            <a:spAutoFit/>
          </a:bodyPr>
          <a:lstStyle/>
          <a:p>
            <a:pPr algn="l">
              <a:spcAft>
                <a:spcPts val="0"/>
              </a:spcAft>
            </a:pPr>
            <a:r>
              <a:rPr sz="1600" b="0" i="0">
                <a:solidFill>
                  <a:srgbClr val="F4EEE1"/>
                </a:solidFill>
                <a:latin typeface="Segoe UI"/>
              </a:rPr>
              <a:t>Mohammed Hamza Ansari  ·  Abhay Preethan</a:t>
            </a:r>
          </a:p>
        </p:txBody>
      </p:sp>
      <p:sp>
        <p:nvSpPr>
          <p:cNvPr id="9" name="TextBox 8"/>
          <p:cNvSpPr txBox="1"/>
          <p:nvPr/>
        </p:nvSpPr>
        <p:spPr>
          <a:xfrm>
            <a:off x="822960" y="5852160"/>
            <a:ext cx="7315200" cy="365760"/>
          </a:xfrm>
          <a:prstGeom prst="rect">
            <a:avLst/>
          </a:prstGeom>
          <a:noFill/>
        </p:spPr>
        <p:txBody>
          <a:bodyPr wrap="square" anchor="t" lIns="0" rIns="0" tIns="0" bIns="0">
            <a:spAutoFit/>
          </a:bodyPr>
          <a:lstStyle/>
          <a:p>
            <a:pPr algn="l">
              <a:spcAft>
                <a:spcPts val="0"/>
              </a:spcAft>
            </a:pPr>
            <a:r>
              <a:rPr sz="1400" b="0" i="0">
                <a:solidFill>
                  <a:srgbClr val="C8A15A"/>
                </a:solidFill>
                <a:latin typeface="Segoe UI"/>
              </a:rPr>
              <a:t>Try it: zill.itshamza.me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