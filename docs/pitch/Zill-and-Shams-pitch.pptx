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 &amp; Shams (ظل وشمس, shade and sun). An AI agent that plans walks and rides around the sun. Team Abhamzay, Team 13. Live at zill.itshamza.me.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optimise time. Hot cities: route choice decides sun exposure. Dark winters: too little daylight (Oslo about 6 h at the December solstice). Sun and shade move every minute, so static lists go stale.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Sourced figures only. 72% of 12,346 Abu Dhabi adults vitamin D deficient (BMC Research Notes 2019); 70,000+ riders (Dubai RTA); 18.72 M visitors 2024 (Dubai DET via WAM); UAE midday break 12:30-15:00, 15 Jun-15 Sep (MoHRE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engine, two modes. Shade mode = least direct sun (includes AC links like Metro to Dubai Mall). Sun mode = most direct sun for daylight and well-being. The preference flips.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map data, 3D model, sun and shadows every 10 minutes, best route, agent. Dubai: 8,602 buildings, 7,659 street segments, 744 trees. Oslo is the second city, built by the same pipeline.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Shade mode proof: Burj Park to Business Bay Metro, summer 15:30. 6.2 min less direct sun, 40% less, 2.2 min longer. Model estimate; awnings and wind not modelled. Source: data/scenarios/hero.json.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 mode proof, real routes from the documented search (hero.json 'sun'). Dubai 15 Apr 10:30: sun 1,101 s to 1,625 s (+524 s, +48%) for +269 s. Oslo 21 Jun 12:00: 613 s to 1,288 s (+675 s, +110%) for +131 s. Clear-sky geometry, model estimates.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Oslo: 13,841 buildings in the shadow ring, 10,082 edges, 20,208 trees, 53 POIs (meta.json). Sun ~6.6 deg at midwinter noon, shadows ~8.6x height, tested. Winter weather in the app is a labelled stand-in. Images are shade-bake masks.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Well-being: WHO UV band, indicative heat stress, daylight window (sun high, UV &gt;= 3, cloud &lt; 70%), break prompts. Not medical advice. In Oslo winter, sun mode is about daylight and mood, not vitamin D (UV 0.1 in the solstice scenario).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plans, checks (verifier; numbers come from engine tokens), and adapts. Pluggable LLM chain OpenCode Go then Voke. Without a live key, sessions are labelled recorded replays.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and freshness (docs/ACCURACY.md): sun within 0.5 deg of pvlib on 20 samples; shadows 10 min / 2 m; weather hourly; map re-bake on demand, weekly job planned. About 79% of Dubai heights are estimates. No field validation yet, so no accuracy percentage claimed. 470 automated tests pass (375 backend, 95 frontend; data/test_results.json).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(docs/SECURITY.md): no accounts or stored user data; location per request only; per-IP rate limits, size caps, CORS allow-list, CSP/HSTS, log scrubbing, key server-side. pip-audit clean; npm audit 2 findings in Next's PostCSS. PDPL/GDPR alignment is an aim, not certification. Pen-test comes before B2B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pays. Target customers (not partners): Talabat, Deliveroo, Careem. Expanded scope: city planners (B2G planning analytics: where to plant trees or add shade), schools, elderly care, events, real estate. Pricing hypotheses (not validated): hotels ~$99 per property per month; fleets ~$1 per rider per month; outdoor employers ~$49 per site per month; city licence ~$15,000 per year; corporate well-being ~$12 per employee per year; consumer premium ~$2.99 per month, no 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Freemium, no ads. Reason: ads would put location data into an ad pipeline; no ads keeps the privacy story clean. Free app, optional premium (saved routes, day plans), B2B/B2G subscriptions as main revenue, pay-per-route API.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Costs (docs/COSTS.md). Server $6.93/month (Contabo VPS, 4 vCPU, 8 GB); per 1,000 users about $0.002 of server; fixed cost about $17/month. OpenCode Go $10/month flat: ~3,630 conversations on glm-5.3-flash, ~56 on kimi-k3 (page request estimates, 8.7 requests per conversation measured). Bake timings on a dev laptop, not the VM.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Market: 70,000+ riders, 18.72 M visitors (sourced; context, not a forecast). Capacity measured with scripts/loadtest.py: local machine peaks ~26 req/s at 20 users (p95 596 ms), 40 users p95 2.6 s; live VM at 20 users 16.9 req/s, p95 1.6 s, 0 errors (run capped at 20 users, did not saturate). VM: 4 vCPU, 8 GB.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Dubai and Oslo now; UAE and Gulf next with city planners as first B2G pilot; northern cities winter daylight pilot. No funding ask. Team Abhamzay: Mohammed Hamza Ansari, Abhay Preethan. Try it at zill.itshamza.me.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3937992"/>
            <a:ext cx="762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550392"/>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AI AGENTS HACKATHON · AMERICAN UNIVERSITY IN DUBAI</a:t>
            </a:r>
          </a:p>
        </p:txBody>
      </p:sp>
      <p:sp>
        <p:nvSpPr>
          <p:cNvPr id="6" name="TextBox 5"/>
          <p:cNvSpPr txBox="1"/>
          <p:nvPr/>
        </p:nvSpPr>
        <p:spPr>
          <a:xfrm>
            <a:off x="812800" y="1956792"/>
            <a:ext cx="10566400" cy="952500"/>
          </a:xfrm>
          <a:prstGeom prst="rect">
            <a:avLst/>
          </a:prstGeom>
          <a:noFill/>
        </p:spPr>
        <p:txBody>
          <a:bodyPr wrap="none" lIns="0" rIns="0" tIns="0" bIns="0" anchor="t">
            <a:spAutoFit/>
          </a:bodyPr>
          <a:lstStyle/>
          <a:p>
            <a:pPr algn="l">
              <a:lnSpc>
                <a:spcPts val="7275"/>
              </a:lnSpc>
            </a:pPr>
            <a:r>
              <a:rPr sz="6277" b="0" i="0" spc="-75">
                <a:solidFill>
                  <a:srgbClr val="E9DCBC"/>
                </a:solidFill>
                <a:latin typeface="Georgia"/>
              </a:rPr>
              <a:t>Zill &amp; Shams</a:t>
            </a:r>
          </a:p>
        </p:txBody>
      </p:sp>
      <p:sp>
        <p:nvSpPr>
          <p:cNvPr id="7" name="TextBox 6"/>
          <p:cNvSpPr txBox="1"/>
          <p:nvPr/>
        </p:nvSpPr>
        <p:spPr>
          <a:xfrm>
            <a:off x="812800" y="3048992"/>
            <a:ext cx="10883392" cy="533400"/>
          </a:xfrm>
          <a:prstGeom prst="rect">
            <a:avLst/>
          </a:prstGeom>
          <a:noFill/>
        </p:spPr>
        <p:txBody>
          <a:bodyPr wrap="square" lIns="0" rIns="0" tIns="0" bIns="0" anchor="t">
            <a:spAutoFit/>
          </a:bodyPr>
          <a:lstStyle/>
          <a:p>
            <a:pPr algn="l">
              <a:lnSpc>
                <a:spcPts val="2522"/>
              </a:lnSpc>
            </a:pPr>
            <a:r>
              <a:rPr sz="2279" b="0" i="0" lang="ar-AE">
                <a:solidFill>
                  <a:srgbClr val="C8A15A"/>
                </a:solidFill>
                <a:latin typeface="Arial"/>
                <a:cs typeface="Arial"/>
              </a:rPr>
              <a:t>ظل وشمس</a:t>
            </a:r>
            <a:r>
              <a:rPr sz="1488" b="0" i="1">
                <a:solidFill>
                  <a:srgbClr val="F4EEE1">
                    <a:alpha val="62000"/>
                  </a:srgbClr>
                </a:solidFill>
                <a:latin typeface="Georgia"/>
              </a:rPr>
              <a:t>“shade and sun”</a:t>
            </a:r>
          </a:p>
        </p:txBody>
      </p:sp>
      <p:sp>
        <p:nvSpPr>
          <p:cNvPr id="8" name="TextBox 7"/>
          <p:cNvSpPr txBox="1"/>
          <p:nvPr/>
        </p:nvSpPr>
        <p:spPr>
          <a:xfrm>
            <a:off x="812800" y="4198342"/>
            <a:ext cx="7620000" cy="350441"/>
          </a:xfrm>
          <a:prstGeom prst="rect">
            <a:avLst/>
          </a:prstGeom>
          <a:noFill/>
        </p:spPr>
        <p:txBody>
          <a:bodyPr wrap="none" lIns="0" rIns="0" tIns="0" bIns="0" anchor="t">
            <a:spAutoFit/>
          </a:bodyPr>
          <a:lstStyle/>
          <a:p>
            <a:pPr algn="l">
              <a:lnSpc>
                <a:spcPts val="2677"/>
              </a:lnSpc>
            </a:pPr>
            <a:r>
              <a:rPr sz="2139" b="0" i="0">
                <a:solidFill>
                  <a:srgbClr val="F4EEE1"/>
                </a:solidFill>
                <a:latin typeface="Georgia"/>
              </a:rPr>
              <a:t>Shade when you need it. </a:t>
            </a:r>
            <a:r>
              <a:rPr sz="2139" b="0" i="0">
                <a:solidFill>
                  <a:srgbClr val="D07A35"/>
                </a:solidFill>
                <a:latin typeface="Georgia"/>
              </a:rPr>
              <a:t>Sun when you want it.</a:t>
            </a:r>
          </a:p>
        </p:txBody>
      </p:sp>
      <p:sp>
        <p:nvSpPr>
          <p:cNvPr id="9" name="TextBox 8"/>
          <p:cNvSpPr txBox="1"/>
          <p:nvPr/>
        </p:nvSpPr>
        <p:spPr>
          <a:xfrm>
            <a:off x="812800" y="4701183"/>
            <a:ext cx="5207000" cy="276225"/>
          </a:xfrm>
          <a:prstGeom prst="rect">
            <a:avLst/>
          </a:prstGeom>
          <a:noFill/>
        </p:spPr>
        <p:txBody>
          <a:bodyPr wrap="none" lIns="0" rIns="0" tIns="0" bIns="0" anchor="t">
            <a:spAutoFit/>
          </a:bodyPr>
          <a:lstStyle/>
          <a:p>
            <a:pPr algn="l">
              <a:lnSpc>
                <a:spcPts val="2109"/>
              </a:lnSpc>
            </a:pPr>
            <a:r>
              <a:rPr sz="1455" b="0" i="0">
                <a:solidFill>
                  <a:srgbClr val="F4EEE1">
                    <a:alpha val="62000"/>
                  </a:srgbClr>
                </a:solidFill>
                <a:latin typeface="Calibri"/>
              </a:rPr>
              <a:t>An AI agent that plans every walk and ride around the sun.</a:t>
            </a:r>
          </a:p>
        </p:txBody>
      </p:sp>
      <p:sp>
        <p:nvSpPr>
          <p:cNvPr id="10" name="TextBox 9"/>
          <p:cNvSpPr txBox="1"/>
          <p:nvPr/>
        </p:nvSpPr>
        <p:spPr>
          <a:xfrm>
            <a:off x="812800" y="6375400"/>
            <a:ext cx="1352252"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ABHAMZAY</a:t>
            </a:r>
            <a:r>
              <a:rPr sz="776" b="0" i="0" spc="144">
                <a:solidFill>
                  <a:srgbClr val="F4EEE1">
                    <a:alpha val="62000"/>
                  </a:srgbClr>
                </a:solidFill>
                <a:latin typeface="Calibri"/>
              </a:rPr>
              <a:t> · TEAM 13</a:t>
            </a:r>
          </a:p>
        </p:txBody>
      </p:sp>
      <p:sp>
        <p:nvSpPr>
          <p:cNvPr id="11" name="TextBox 10"/>
          <p:cNvSpPr txBox="1"/>
          <p:nvPr/>
        </p:nvSpPr>
        <p:spPr>
          <a:xfrm>
            <a:off x="7834908" y="6375400"/>
            <a:ext cx="3544292"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AI AGENTS HACKATHON, AMERICAN UNIVERSITY IN DUBAI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5328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4472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3616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5276056"/>
            <a:ext cx="5461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548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02 · THE PROBLEM</a:t>
            </a:r>
          </a:p>
        </p:txBody>
      </p:sp>
      <p:sp>
        <p:nvSpPr>
          <p:cNvPr id="9" name="TextBox 8"/>
          <p:cNvSpPr txBox="1"/>
          <p:nvPr/>
        </p:nvSpPr>
        <p:spPr>
          <a:xfrm>
            <a:off x="812800" y="1193800"/>
            <a:ext cx="5650992" cy="932656"/>
          </a:xfrm>
          <a:prstGeom prst="rect">
            <a:avLst/>
          </a:prstGeom>
          <a:noFill/>
        </p:spPr>
        <p:txBody>
          <a:bodyPr wrap="square" lIns="0" rIns="0" tIns="0" bIns="0" anchor="t">
            <a:spAutoFit/>
          </a:bodyPr>
          <a:lstStyle/>
          <a:p>
            <a:pPr algn="l">
              <a:lnSpc>
                <a:spcPts val="3561"/>
              </a:lnSpc>
            </a:pPr>
            <a:r>
              <a:rPr sz="2845" b="0" i="0" spc="-34">
                <a:solidFill>
                  <a:srgbClr val="E9DCBC"/>
                </a:solidFill>
                <a:latin typeface="Georgia"/>
              </a:rPr>
              <a:t>Maps plan around time. Nobody plans around the sun.</a:t>
            </a:r>
          </a:p>
        </p:txBody>
      </p:sp>
      <p:sp>
        <p:nvSpPr>
          <p:cNvPr id="10" name="TextBox 9"/>
          <p:cNvSpPr txBox="1"/>
          <p:nvPr/>
        </p:nvSpPr>
        <p:spPr>
          <a:xfrm>
            <a:off x="812800" y="27487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01</a:t>
            </a:r>
          </a:p>
        </p:txBody>
      </p:sp>
      <p:sp>
        <p:nvSpPr>
          <p:cNvPr id="11" name="TextBox 10"/>
          <p:cNvSpPr txBox="1"/>
          <p:nvPr/>
        </p:nvSpPr>
        <p:spPr>
          <a:xfrm>
            <a:off x="1320800" y="27170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In hot cities, the route you pick decides how much direct sun you take, and in summer that is a </a:t>
            </a:r>
            <a:r>
              <a:rPr sz="1455" b="0" i="0">
                <a:solidFill>
                  <a:srgbClr val="D07A35"/>
                </a:solidFill>
                <a:latin typeface="Calibri"/>
              </a:rPr>
              <a:t>health risk</a:t>
            </a:r>
            <a:r>
              <a:rPr sz="1455" b="0" i="0">
                <a:solidFill>
                  <a:srgbClr val="F4EEE1"/>
                </a:solidFill>
                <a:latin typeface="Calibri"/>
              </a:rPr>
              <a:t>.</a:t>
            </a:r>
          </a:p>
        </p:txBody>
      </p:sp>
      <p:sp>
        <p:nvSpPr>
          <p:cNvPr id="12" name="TextBox 11"/>
          <p:cNvSpPr txBox="1"/>
          <p:nvPr/>
        </p:nvSpPr>
        <p:spPr>
          <a:xfrm>
            <a:off x="812800" y="36631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02</a:t>
            </a:r>
          </a:p>
        </p:txBody>
      </p:sp>
      <p:sp>
        <p:nvSpPr>
          <p:cNvPr id="13" name="TextBox 12"/>
          <p:cNvSpPr txBox="1"/>
          <p:nvPr/>
        </p:nvSpPr>
        <p:spPr>
          <a:xfrm>
            <a:off x="1320800" y="36314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In dark winters, people get too little daylight. Oslo has about </a:t>
            </a:r>
            <a:r>
              <a:rPr sz="1455" b="0" i="0">
                <a:solidFill>
                  <a:srgbClr val="E9DCBC"/>
                </a:solidFill>
                <a:latin typeface="Calibri"/>
              </a:rPr>
              <a:t>6 hours</a:t>
            </a:r>
            <a:r>
              <a:rPr sz="1455" b="0" i="0">
                <a:solidFill>
                  <a:srgbClr val="F4EEE1"/>
                </a:solidFill>
                <a:latin typeface="Calibri"/>
              </a:rPr>
              <a:t> of daylight in late December.</a:t>
            </a:r>
          </a:p>
        </p:txBody>
      </p:sp>
      <p:sp>
        <p:nvSpPr>
          <p:cNvPr id="14" name="TextBox 13"/>
          <p:cNvSpPr txBox="1"/>
          <p:nvPr/>
        </p:nvSpPr>
        <p:spPr>
          <a:xfrm>
            <a:off x="812800" y="4577556"/>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03</a:t>
            </a:r>
          </a:p>
        </p:txBody>
      </p:sp>
      <p:sp>
        <p:nvSpPr>
          <p:cNvPr id="15" name="TextBox 14"/>
          <p:cNvSpPr txBox="1"/>
          <p:nvPr/>
        </p:nvSpPr>
        <p:spPr>
          <a:xfrm>
            <a:off x="1320800" y="4545806"/>
            <a:ext cx="5101590"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The sun and shade move every minute, so a static “shady street” or “sunny street” list is never right for long.</a:t>
            </a:r>
          </a:p>
        </p:txBody>
      </p:sp>
      <p:sp>
        <p:nvSpPr>
          <p:cNvPr id="16" name="TextBox 15"/>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7" name="TextBox 16"/>
          <p:cNvSpPr txBox="1"/>
          <p:nvPr/>
        </p:nvSpPr>
        <p:spPr>
          <a:xfrm>
            <a:off x="6394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320800"/>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0" y="1320800"/>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882529"/>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0" y="3882529"/>
            <a:ext cx="4978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6204942"/>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03 · WHY IT MATTERS</a:t>
            </a:r>
          </a:p>
        </p:txBody>
      </p:sp>
      <p:sp>
        <p:nvSpPr>
          <p:cNvPr id="8" name="TextBox 7"/>
          <p:cNvSpPr txBox="1"/>
          <p:nvPr/>
        </p:nvSpPr>
        <p:spPr>
          <a:xfrm>
            <a:off x="812800" y="1581150"/>
            <a:ext cx="4978400" cy="952500"/>
          </a:xfrm>
          <a:prstGeom prst="rect">
            <a:avLst/>
          </a:prstGeom>
          <a:noFill/>
        </p:spPr>
        <p:txBody>
          <a:bodyPr wrap="none" lIns="0" rIns="0" tIns="0" bIns="0" anchor="t">
            <a:spAutoFit/>
          </a:bodyPr>
          <a:lstStyle/>
          <a:p>
            <a:pPr algn="l">
              <a:lnSpc>
                <a:spcPts val="7275"/>
              </a:lnSpc>
            </a:pPr>
            <a:r>
              <a:rPr sz="6277" b="0" i="0">
                <a:solidFill>
                  <a:srgbClr val="C8A15A"/>
                </a:solidFill>
                <a:latin typeface="Georgia"/>
              </a:rPr>
              <a:t>72%</a:t>
            </a:r>
          </a:p>
        </p:txBody>
      </p:sp>
      <p:sp>
        <p:nvSpPr>
          <p:cNvPr id="9" name="TextBox 8"/>
          <p:cNvSpPr txBox="1"/>
          <p:nvPr/>
        </p:nvSpPr>
        <p:spPr>
          <a:xfrm>
            <a:off x="812800" y="2647950"/>
            <a:ext cx="5127752" cy="745629"/>
          </a:xfrm>
          <a:prstGeom prst="rect">
            <a:avLst/>
          </a:prstGeom>
          <a:noFill/>
        </p:spPr>
        <p:txBody>
          <a:bodyPr wrap="square" lIns="0" rIns="0" tIns="0" bIns="0" anchor="t">
            <a:spAutoFit/>
          </a:bodyPr>
          <a:lstStyle/>
          <a:p>
            <a:pPr algn="l">
              <a:lnSpc>
                <a:spcPts val="1898"/>
              </a:lnSpc>
            </a:pPr>
            <a:r>
              <a:rPr sz="1309" b="0" i="0">
                <a:solidFill>
                  <a:srgbClr val="F4EEE1"/>
                </a:solidFill>
                <a:latin typeface="Calibri"/>
              </a:rPr>
              <a:t>of 12,346 adults in an Abu Dhabi study were vitamin D deficient, and another 10% insufficient, in one of the sunniest places on earth.</a:t>
            </a:r>
          </a:p>
        </p:txBody>
      </p:sp>
      <p:sp>
        <p:nvSpPr>
          <p:cNvPr id="10" name="TextBox 9"/>
          <p:cNvSpPr txBox="1"/>
          <p:nvPr/>
        </p:nvSpPr>
        <p:spPr>
          <a:xfrm>
            <a:off x="812800" y="3482479"/>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BMC RESEARCH NOTES, 2019</a:t>
            </a:r>
          </a:p>
        </p:txBody>
      </p:sp>
      <p:sp>
        <p:nvSpPr>
          <p:cNvPr id="11" name="TextBox 10"/>
          <p:cNvSpPr txBox="1"/>
          <p:nvPr/>
        </p:nvSpPr>
        <p:spPr>
          <a:xfrm>
            <a:off x="6400800" y="1581150"/>
            <a:ext cx="4978400" cy="952500"/>
          </a:xfrm>
          <a:prstGeom prst="rect">
            <a:avLst/>
          </a:prstGeom>
          <a:noFill/>
        </p:spPr>
        <p:txBody>
          <a:bodyPr wrap="none" lIns="0" rIns="0" tIns="0" bIns="0" anchor="t">
            <a:spAutoFit/>
          </a:bodyPr>
          <a:lstStyle/>
          <a:p>
            <a:pPr algn="l">
              <a:lnSpc>
                <a:spcPts val="7275"/>
              </a:lnSpc>
            </a:pPr>
            <a:r>
              <a:rPr sz="6277" b="0" i="0">
                <a:solidFill>
                  <a:srgbClr val="E9DCBC"/>
                </a:solidFill>
                <a:latin typeface="Georgia"/>
              </a:rPr>
              <a:t>70,000+</a:t>
            </a:r>
          </a:p>
        </p:txBody>
      </p:sp>
      <p:sp>
        <p:nvSpPr>
          <p:cNvPr id="12" name="TextBox 11"/>
          <p:cNvSpPr txBox="1"/>
          <p:nvPr/>
        </p:nvSpPr>
        <p:spPr>
          <a:xfrm>
            <a:off x="6400800" y="2647950"/>
            <a:ext cx="4978400" cy="248543"/>
          </a:xfrm>
          <a:prstGeom prst="rect">
            <a:avLst/>
          </a:prstGeom>
          <a:noFill/>
        </p:spPr>
        <p:txBody>
          <a:bodyPr wrap="none" lIns="0" rIns="0" tIns="0" bIns="0" anchor="t">
            <a:spAutoFit/>
          </a:bodyPr>
          <a:lstStyle/>
          <a:p>
            <a:pPr algn="l">
              <a:lnSpc>
                <a:spcPts val="1898"/>
              </a:lnSpc>
            </a:pPr>
            <a:r>
              <a:rPr sz="1309" b="0" i="0">
                <a:solidFill>
                  <a:srgbClr val="F4EEE1"/>
                </a:solidFill>
                <a:latin typeface="Calibri"/>
              </a:rPr>
              <a:t>delivery riders work across Dubai.</a:t>
            </a:r>
          </a:p>
        </p:txBody>
      </p:sp>
      <p:sp>
        <p:nvSpPr>
          <p:cNvPr id="13" name="TextBox 12"/>
          <p:cNvSpPr txBox="1"/>
          <p:nvPr/>
        </p:nvSpPr>
        <p:spPr>
          <a:xfrm>
            <a:off x="6400800" y="2985393"/>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DUBAI RTA</a:t>
            </a:r>
          </a:p>
        </p:txBody>
      </p:sp>
      <p:sp>
        <p:nvSpPr>
          <p:cNvPr id="14" name="TextBox 13"/>
          <p:cNvSpPr txBox="1"/>
          <p:nvPr/>
        </p:nvSpPr>
        <p:spPr>
          <a:xfrm>
            <a:off x="812800" y="4142879"/>
            <a:ext cx="4978400" cy="952500"/>
          </a:xfrm>
          <a:prstGeom prst="rect">
            <a:avLst/>
          </a:prstGeom>
          <a:noFill/>
        </p:spPr>
        <p:txBody>
          <a:bodyPr wrap="none" lIns="0" rIns="0" tIns="0" bIns="0" anchor="t">
            <a:spAutoFit/>
          </a:bodyPr>
          <a:lstStyle/>
          <a:p>
            <a:pPr algn="l">
              <a:lnSpc>
                <a:spcPts val="7275"/>
              </a:lnSpc>
            </a:pPr>
            <a:r>
              <a:rPr sz="6277" b="0" i="0">
                <a:solidFill>
                  <a:srgbClr val="E9DCBC"/>
                </a:solidFill>
                <a:latin typeface="Georgia"/>
              </a:rPr>
              <a:t>18.72</a:t>
            </a:r>
            <a:r>
              <a:rPr sz="2678" b="0" i="0">
                <a:solidFill>
                  <a:srgbClr val="F4EEE1">
                    <a:alpha val="62000"/>
                  </a:srgbClr>
                </a:solidFill>
                <a:latin typeface="Georgia"/>
              </a:rPr>
              <a:t> million</a:t>
            </a:r>
          </a:p>
        </p:txBody>
      </p:sp>
      <p:sp>
        <p:nvSpPr>
          <p:cNvPr id="15" name="TextBox 14"/>
          <p:cNvSpPr txBox="1"/>
          <p:nvPr/>
        </p:nvSpPr>
        <p:spPr>
          <a:xfrm>
            <a:off x="812800" y="5209679"/>
            <a:ext cx="4978400" cy="248543"/>
          </a:xfrm>
          <a:prstGeom prst="rect">
            <a:avLst/>
          </a:prstGeom>
          <a:noFill/>
        </p:spPr>
        <p:txBody>
          <a:bodyPr wrap="none" lIns="0" rIns="0" tIns="0" bIns="0" anchor="t">
            <a:spAutoFit/>
          </a:bodyPr>
          <a:lstStyle/>
          <a:p>
            <a:pPr algn="l">
              <a:lnSpc>
                <a:spcPts val="1898"/>
              </a:lnSpc>
            </a:pPr>
            <a:r>
              <a:rPr sz="1309" b="0" i="0">
                <a:solidFill>
                  <a:srgbClr val="F4EEE1"/>
                </a:solidFill>
                <a:latin typeface="Calibri"/>
              </a:rPr>
              <a:t>international overnight visitors came to Dubai in 2024.</a:t>
            </a:r>
          </a:p>
        </p:txBody>
      </p:sp>
      <p:sp>
        <p:nvSpPr>
          <p:cNvPr id="16" name="TextBox 15"/>
          <p:cNvSpPr txBox="1"/>
          <p:nvPr/>
        </p:nvSpPr>
        <p:spPr>
          <a:xfrm>
            <a:off x="812800" y="5547122"/>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DUBAI DET VIA WAM</a:t>
            </a:r>
          </a:p>
        </p:txBody>
      </p:sp>
      <p:sp>
        <p:nvSpPr>
          <p:cNvPr id="17" name="TextBox 16"/>
          <p:cNvSpPr txBox="1"/>
          <p:nvPr/>
        </p:nvSpPr>
        <p:spPr>
          <a:xfrm>
            <a:off x="6400800" y="4142879"/>
            <a:ext cx="4978400" cy="952500"/>
          </a:xfrm>
          <a:prstGeom prst="rect">
            <a:avLst/>
          </a:prstGeom>
          <a:noFill/>
        </p:spPr>
        <p:txBody>
          <a:bodyPr wrap="none" lIns="0" rIns="0" tIns="0" bIns="0" anchor="t">
            <a:spAutoFit/>
          </a:bodyPr>
          <a:lstStyle/>
          <a:p>
            <a:pPr algn="l">
              <a:lnSpc>
                <a:spcPts val="7275"/>
              </a:lnSpc>
            </a:pPr>
            <a:r>
              <a:rPr sz="6277" b="0" i="0">
                <a:solidFill>
                  <a:srgbClr val="D07A35"/>
                </a:solidFill>
                <a:latin typeface="Georgia"/>
              </a:rPr>
              <a:t>12:30–15:00</a:t>
            </a:r>
          </a:p>
        </p:txBody>
      </p:sp>
      <p:sp>
        <p:nvSpPr>
          <p:cNvPr id="18" name="TextBox 17"/>
          <p:cNvSpPr txBox="1"/>
          <p:nvPr/>
        </p:nvSpPr>
        <p:spPr>
          <a:xfrm>
            <a:off x="6400800" y="5209679"/>
            <a:ext cx="5127752" cy="497086"/>
          </a:xfrm>
          <a:prstGeom prst="rect">
            <a:avLst/>
          </a:prstGeom>
          <a:noFill/>
        </p:spPr>
        <p:txBody>
          <a:bodyPr wrap="square" lIns="0" rIns="0" tIns="0" bIns="0" anchor="t">
            <a:spAutoFit/>
          </a:bodyPr>
          <a:lstStyle/>
          <a:p>
            <a:pPr algn="l">
              <a:lnSpc>
                <a:spcPts val="1898"/>
              </a:lnSpc>
            </a:pPr>
            <a:r>
              <a:rPr sz="1309" b="0" i="0">
                <a:solidFill>
                  <a:srgbClr val="F4EEE1"/>
                </a:solidFill>
                <a:latin typeface="Calibri"/>
              </a:rPr>
              <a:t>The UAE bans outdoor work in direct sun, 15 June to 15 September, for the 21st year in 2025.</a:t>
            </a:r>
          </a:p>
        </p:txBody>
      </p:sp>
      <p:sp>
        <p:nvSpPr>
          <p:cNvPr id="19" name="TextBox 18"/>
          <p:cNvSpPr txBox="1"/>
          <p:nvPr/>
        </p:nvSpPr>
        <p:spPr>
          <a:xfrm>
            <a:off x="6400800" y="5795665"/>
            <a:ext cx="49784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UAE MINISTRY OF HUMAN RESOURCES AND EMIRATISATION</a:t>
            </a:r>
          </a:p>
        </p:txBody>
      </p:sp>
      <p:sp>
        <p:nvSpPr>
          <p:cNvPr id="20" name="TextBox 19"/>
          <p:cNvSpPr txBox="1"/>
          <p:nvPr/>
        </p:nvSpPr>
        <p:spPr>
          <a:xfrm>
            <a:off x="812800" y="6293842"/>
            <a:ext cx="10883392" cy="272058"/>
          </a:xfrm>
          <a:prstGeom prst="rect">
            <a:avLst/>
          </a:prstGeom>
          <a:noFill/>
        </p:spPr>
        <p:txBody>
          <a:bodyPr wrap="square" lIns="0" rIns="0" tIns="0" bIns="0" anchor="t">
            <a:spAutoFit/>
          </a:bodyPr>
          <a:lstStyle/>
          <a:p>
            <a:pPr algn="l">
              <a:lnSpc>
                <a:spcPts val="1014"/>
              </a:lnSpc>
            </a:pPr>
            <a:r>
              <a:rPr sz="654" b="0" i="0">
                <a:solidFill>
                  <a:srgbClr val="F4EEE1">
                    <a:alpha val="50000"/>
                  </a:srgbClr>
                </a:solidFill>
                <a:latin typeface="Calibri"/>
              </a:rPr>
              <a:t>Sources: BMC Research Notes 2019, vitamin D in Abu Dhabi (n=12,346): ncbi.nlm.nih.gov/pmc/articles/PMC6693241 · Dubai RTA, delivery rider programmes: rta.ae (news: 23 temporary rest areas to protect delivery riders from heat stress) · Dubai DET via WAM: wam.ae/article/bi46kc8-dubai-welcomes-1872-million-international-visitors · MoHRE, Midday Break 2025: mohre.gov.ae/en/media-center/news/3/6/2025 · Oslo daylight at the December solstice (about 5 h 54 min): fjordtours.com/en/norway/people-and-culture/facts/winter-solstice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3173412"/>
            <a:ext cx="5156200" cy="163691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3173412"/>
            <a:ext cx="5156200" cy="19050"/>
          </a:xfrm>
          <a:prstGeom prst="rect">
            <a:avLst/>
          </a:prstGeom>
          <a:solidFill>
            <a:srgbClr val="223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803973"/>
            <a:ext cx="5156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6265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23000" y="3173412"/>
            <a:ext cx="5156200" cy="163691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000" y="3173412"/>
            <a:ext cx="51562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23000" y="4803973"/>
            <a:ext cx="5156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300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372850" y="3173412"/>
            <a:ext cx="6350" cy="163691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20955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04 · THE PRODUCT</a:t>
            </a:r>
          </a:p>
        </p:txBody>
      </p:sp>
      <p:sp>
        <p:nvSpPr>
          <p:cNvPr id="15" name="TextBox 14"/>
          <p:cNvSpPr txBox="1"/>
          <p:nvPr/>
        </p:nvSpPr>
        <p:spPr>
          <a:xfrm>
            <a:off x="812800" y="23749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One engine, two modes.</a:t>
            </a:r>
          </a:p>
        </p:txBody>
      </p:sp>
      <p:sp>
        <p:nvSpPr>
          <p:cNvPr id="16" name="TextBox 15"/>
          <p:cNvSpPr txBox="1"/>
          <p:nvPr/>
        </p:nvSpPr>
        <p:spPr>
          <a:xfrm>
            <a:off x="1149350" y="3471862"/>
            <a:ext cx="4483100" cy="152400"/>
          </a:xfrm>
          <a:prstGeom prst="rect">
            <a:avLst/>
          </a:prstGeom>
          <a:noFill/>
        </p:spPr>
        <p:txBody>
          <a:bodyPr wrap="none" lIns="0" rIns="0" tIns="0" bIns="0" anchor="t">
            <a:spAutoFit/>
          </a:bodyPr>
          <a:lstStyle/>
          <a:p>
            <a:pPr algn="l">
              <a:lnSpc>
                <a:spcPts val="1261"/>
              </a:lnSpc>
            </a:pPr>
            <a:r>
              <a:rPr sz="969" b="0" i="0" spc="180">
                <a:solidFill>
                  <a:srgbClr val="8FB3BE"/>
                </a:solidFill>
                <a:latin typeface="Calibri"/>
              </a:rPr>
              <a:t>SHADE MODE · FOR HOT CITIES</a:t>
            </a:r>
          </a:p>
        </p:txBody>
      </p:sp>
      <p:sp>
        <p:nvSpPr>
          <p:cNvPr id="17" name="TextBox 16"/>
          <p:cNvSpPr txBox="1"/>
          <p:nvPr/>
        </p:nvSpPr>
        <p:spPr>
          <a:xfrm>
            <a:off x="1149350" y="3751262"/>
            <a:ext cx="4617593" cy="773311"/>
          </a:xfrm>
          <a:prstGeom prst="rect">
            <a:avLst/>
          </a:prstGeom>
          <a:noFill/>
        </p:spPr>
        <p:txBody>
          <a:bodyPr wrap="square" lIns="0" rIns="0" tIns="0" bIns="0" anchor="t">
            <a:spAutoFit/>
          </a:bodyPr>
          <a:lstStyle/>
          <a:p>
            <a:pPr algn="l">
              <a:lnSpc>
                <a:spcPts val="1969"/>
              </a:lnSpc>
            </a:pPr>
            <a:r>
              <a:rPr sz="1358" b="0" i="0">
                <a:solidFill>
                  <a:srgbClr val="F4EEE1"/>
                </a:solidFill>
                <a:latin typeface="Calibri"/>
              </a:rPr>
              <a:t>Finds the coolest route: the most shade and the least direct sun, using air-conditioned links such as the Dubai Metro to Dubai Mall walkway.</a:t>
            </a:r>
          </a:p>
        </p:txBody>
      </p:sp>
      <p:sp>
        <p:nvSpPr>
          <p:cNvPr id="18" name="TextBox 17"/>
          <p:cNvSpPr txBox="1"/>
          <p:nvPr/>
        </p:nvSpPr>
        <p:spPr>
          <a:xfrm>
            <a:off x="6559550" y="3471862"/>
            <a:ext cx="4483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SUN MODE · FOR DAYLIGHT AND WELL-BEING</a:t>
            </a:r>
          </a:p>
        </p:txBody>
      </p:sp>
      <p:sp>
        <p:nvSpPr>
          <p:cNvPr id="19" name="TextBox 18"/>
          <p:cNvSpPr txBox="1"/>
          <p:nvPr/>
        </p:nvSpPr>
        <p:spPr>
          <a:xfrm>
            <a:off x="6559550" y="3751262"/>
            <a:ext cx="4617593" cy="773311"/>
          </a:xfrm>
          <a:prstGeom prst="rect">
            <a:avLst/>
          </a:prstGeom>
          <a:noFill/>
        </p:spPr>
        <p:txBody>
          <a:bodyPr wrap="square" lIns="0" rIns="0" tIns="0" bIns="0" anchor="t">
            <a:spAutoFit/>
          </a:bodyPr>
          <a:lstStyle/>
          <a:p>
            <a:pPr algn="l">
              <a:lnSpc>
                <a:spcPts val="1969"/>
              </a:lnSpc>
            </a:pPr>
            <a:r>
              <a:rPr sz="1358" b="0" i="0">
                <a:solidFill>
                  <a:srgbClr val="F4EEE1"/>
                </a:solidFill>
                <a:latin typeface="Calibri"/>
              </a:rPr>
              <a:t>Finds the sunniest route for people who want more daylight: winter cities, office workers, anyone short on sun.</a:t>
            </a:r>
          </a:p>
        </p:txBody>
      </p:sp>
      <p:sp>
        <p:nvSpPr>
          <p:cNvPr id="20" name="TextBox 19"/>
          <p:cNvSpPr txBox="1"/>
          <p:nvPr/>
        </p:nvSpPr>
        <p:spPr>
          <a:xfrm>
            <a:off x="812800" y="5064323"/>
            <a:ext cx="10566400" cy="331391"/>
          </a:xfrm>
          <a:prstGeom prst="rect">
            <a:avLst/>
          </a:prstGeom>
          <a:noFill/>
        </p:spPr>
        <p:txBody>
          <a:bodyPr wrap="none" lIns="0" rIns="0" tIns="0" bIns="0" anchor="t">
            <a:spAutoFit/>
          </a:bodyPr>
          <a:lstStyle/>
          <a:p>
            <a:pPr algn="l">
              <a:lnSpc>
                <a:spcPts val="2531"/>
              </a:lnSpc>
            </a:pPr>
            <a:r>
              <a:rPr sz="1674" b="0" i="0">
                <a:solidFill>
                  <a:srgbClr val="E9DCBC"/>
                </a:solidFill>
                <a:latin typeface="Georgia"/>
              </a:rPr>
              <a:t>Same engine. </a:t>
            </a:r>
            <a:r>
              <a:rPr sz="1674" b="0" i="0">
                <a:solidFill>
                  <a:srgbClr val="C8A15A"/>
                </a:solidFill>
                <a:latin typeface="Georgia"/>
              </a:rPr>
              <a:t>The preference flips.</a:t>
            </a:r>
          </a:p>
        </p:txBody>
      </p:sp>
      <p:sp>
        <p:nvSpPr>
          <p:cNvPr id="21" name="TextBox 20"/>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2" name="TextBox 21"/>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4302125"/>
            <a:ext cx="105664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1280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2606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03932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152580"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265841" y="4276725"/>
            <a:ext cx="57150" cy="57150"/>
          </a:xfrm>
          <a:prstGeom prst="ellipse">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05 · HOW IT WORKS</a:t>
            </a:r>
          </a:p>
        </p:txBody>
      </p:sp>
      <p:sp>
        <p:nvSpPr>
          <p:cNvPr id="11" name="TextBox 10"/>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How it works, in one picture.</a:t>
            </a:r>
          </a:p>
        </p:txBody>
      </p:sp>
      <p:sp>
        <p:nvSpPr>
          <p:cNvPr id="12" name="TextBox 11"/>
          <p:cNvSpPr txBox="1"/>
          <p:nvPr/>
        </p:nvSpPr>
        <p:spPr>
          <a:xfrm>
            <a:off x="268476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3" name="TextBox 12"/>
          <p:cNvSpPr txBox="1"/>
          <p:nvPr/>
        </p:nvSpPr>
        <p:spPr>
          <a:xfrm>
            <a:off x="812800" y="4752975"/>
            <a:ext cx="1859260" cy="234950"/>
          </a:xfrm>
          <a:prstGeom prst="rect">
            <a:avLst/>
          </a:prstGeom>
          <a:noFill/>
        </p:spPr>
        <p:txBody>
          <a:bodyPr wrap="none" lIns="0" rIns="0" tIns="0" bIns="0" anchor="t">
            <a:spAutoFit/>
          </a:bodyPr>
          <a:lstStyle/>
          <a:p>
            <a:pPr algn="l">
              <a:lnSpc>
                <a:spcPts val="1818"/>
              </a:lnSpc>
            </a:pPr>
            <a:r>
              <a:rPr sz="1395" b="0" i="0">
                <a:solidFill>
                  <a:srgbClr val="F4EEE1"/>
                </a:solidFill>
                <a:latin typeface="Georgia"/>
              </a:rPr>
              <a:t>Open map data</a:t>
            </a:r>
          </a:p>
        </p:txBody>
      </p:sp>
      <p:sp>
        <p:nvSpPr>
          <p:cNvPr id="14" name="TextBox 13"/>
          <p:cNvSpPr txBox="1"/>
          <p:nvPr/>
        </p:nvSpPr>
        <p:spPr>
          <a:xfrm>
            <a:off x="81280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01</a:t>
            </a:r>
          </a:p>
        </p:txBody>
      </p:sp>
      <p:sp>
        <p:nvSpPr>
          <p:cNvPr id="15" name="TextBox 14"/>
          <p:cNvSpPr txBox="1"/>
          <p:nvPr/>
        </p:nvSpPr>
        <p:spPr>
          <a:xfrm>
            <a:off x="479802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6" name="TextBox 15"/>
          <p:cNvSpPr txBox="1"/>
          <p:nvPr/>
        </p:nvSpPr>
        <p:spPr>
          <a:xfrm>
            <a:off x="2926060" y="4752975"/>
            <a:ext cx="1859260" cy="234950"/>
          </a:xfrm>
          <a:prstGeom prst="rect">
            <a:avLst/>
          </a:prstGeom>
          <a:noFill/>
        </p:spPr>
        <p:txBody>
          <a:bodyPr wrap="none" lIns="0" rIns="0" tIns="0" bIns="0" anchor="t">
            <a:spAutoFit/>
          </a:bodyPr>
          <a:lstStyle/>
          <a:p>
            <a:pPr algn="l">
              <a:lnSpc>
                <a:spcPts val="1818"/>
              </a:lnSpc>
            </a:pPr>
            <a:r>
              <a:rPr sz="1395" b="0" i="0">
                <a:solidFill>
                  <a:srgbClr val="F4EEE1"/>
                </a:solidFill>
                <a:latin typeface="Georgia"/>
              </a:rPr>
              <a:t>3D model of the city</a:t>
            </a:r>
          </a:p>
        </p:txBody>
      </p:sp>
      <p:sp>
        <p:nvSpPr>
          <p:cNvPr id="17" name="TextBox 16"/>
          <p:cNvSpPr txBox="1"/>
          <p:nvPr/>
        </p:nvSpPr>
        <p:spPr>
          <a:xfrm>
            <a:off x="292606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02</a:t>
            </a:r>
          </a:p>
        </p:txBody>
      </p:sp>
      <p:sp>
        <p:nvSpPr>
          <p:cNvPr id="18" name="TextBox 17"/>
          <p:cNvSpPr txBox="1"/>
          <p:nvPr/>
        </p:nvSpPr>
        <p:spPr>
          <a:xfrm>
            <a:off x="6911280"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19" name="TextBox 18"/>
          <p:cNvSpPr txBox="1"/>
          <p:nvPr/>
        </p:nvSpPr>
        <p:spPr>
          <a:xfrm>
            <a:off x="5039320" y="4752975"/>
            <a:ext cx="1915038" cy="711200"/>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Where the sun and shadows fall, every 10 minutes</a:t>
            </a:r>
          </a:p>
        </p:txBody>
      </p:sp>
      <p:sp>
        <p:nvSpPr>
          <p:cNvPr id="20" name="TextBox 19"/>
          <p:cNvSpPr txBox="1"/>
          <p:nvPr/>
        </p:nvSpPr>
        <p:spPr>
          <a:xfrm>
            <a:off x="503932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03</a:t>
            </a:r>
          </a:p>
        </p:txBody>
      </p:sp>
      <p:sp>
        <p:nvSpPr>
          <p:cNvPr id="21" name="TextBox 20"/>
          <p:cNvSpPr txBox="1"/>
          <p:nvPr/>
        </p:nvSpPr>
        <p:spPr>
          <a:xfrm>
            <a:off x="9024541" y="4498975"/>
            <a:ext cx="190500" cy="165100"/>
          </a:xfrm>
          <a:prstGeom prst="rect">
            <a:avLst/>
          </a:prstGeom>
          <a:noFill/>
        </p:spPr>
        <p:txBody>
          <a:bodyPr wrap="none" lIns="0" rIns="0" tIns="0" bIns="0" anchor="t">
            <a:spAutoFit/>
          </a:bodyPr>
          <a:lstStyle/>
          <a:p>
            <a:pPr algn="l">
              <a:lnSpc>
                <a:spcPts val="1261"/>
              </a:lnSpc>
            </a:pPr>
            <a:r>
              <a:rPr sz="1067" b="0" i="0">
                <a:solidFill>
                  <a:srgbClr val="C8A15A"/>
                </a:solidFill>
                <a:latin typeface="Calibri"/>
              </a:rPr>
              <a:t>→</a:t>
            </a:r>
          </a:p>
        </p:txBody>
      </p:sp>
      <p:sp>
        <p:nvSpPr>
          <p:cNvPr id="22" name="TextBox 21"/>
          <p:cNvSpPr txBox="1"/>
          <p:nvPr/>
        </p:nvSpPr>
        <p:spPr>
          <a:xfrm>
            <a:off x="7152580" y="4752975"/>
            <a:ext cx="1915038" cy="473075"/>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The best route for you</a:t>
            </a:r>
          </a:p>
        </p:txBody>
      </p:sp>
      <p:sp>
        <p:nvSpPr>
          <p:cNvPr id="23" name="TextBox 22"/>
          <p:cNvSpPr txBox="1"/>
          <p:nvPr/>
        </p:nvSpPr>
        <p:spPr>
          <a:xfrm>
            <a:off x="7152580"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04</a:t>
            </a:r>
          </a:p>
        </p:txBody>
      </p:sp>
      <p:sp>
        <p:nvSpPr>
          <p:cNvPr id="24" name="TextBox 23"/>
          <p:cNvSpPr txBox="1"/>
          <p:nvPr/>
        </p:nvSpPr>
        <p:spPr>
          <a:xfrm>
            <a:off x="9265841" y="4752975"/>
            <a:ext cx="1915038" cy="711200"/>
          </a:xfrm>
          <a:prstGeom prst="rect">
            <a:avLst/>
          </a:prstGeom>
          <a:noFill/>
        </p:spPr>
        <p:txBody>
          <a:bodyPr wrap="square" lIns="0" rIns="0" tIns="0" bIns="0" anchor="t">
            <a:spAutoFit/>
          </a:bodyPr>
          <a:lstStyle/>
          <a:p>
            <a:pPr algn="l">
              <a:lnSpc>
                <a:spcPts val="1818"/>
              </a:lnSpc>
            </a:pPr>
            <a:r>
              <a:rPr sz="1395" b="0" i="0">
                <a:solidFill>
                  <a:srgbClr val="F4EEE1"/>
                </a:solidFill>
                <a:latin typeface="Georgia"/>
              </a:rPr>
              <a:t>An AI agent that plans, checks and adjusts</a:t>
            </a:r>
          </a:p>
        </p:txBody>
      </p:sp>
      <p:sp>
        <p:nvSpPr>
          <p:cNvPr id="25" name="TextBox 24"/>
          <p:cNvSpPr txBox="1"/>
          <p:nvPr/>
        </p:nvSpPr>
        <p:spPr>
          <a:xfrm>
            <a:off x="9265841" y="4524375"/>
            <a:ext cx="1859260" cy="127000"/>
          </a:xfrm>
          <a:prstGeom prst="rect">
            <a:avLst/>
          </a:prstGeom>
          <a:noFill/>
        </p:spPr>
        <p:txBody>
          <a:bodyPr wrap="none" lIns="0" rIns="0" tIns="0" bIns="0" anchor="t">
            <a:spAutoFit/>
          </a:bodyPr>
          <a:lstStyle/>
          <a:p>
            <a:pPr algn="l">
              <a:lnSpc>
                <a:spcPts val="969"/>
              </a:lnSpc>
            </a:pPr>
            <a:r>
              <a:rPr sz="776" b="0" i="0" spc="144">
                <a:solidFill>
                  <a:srgbClr val="C8A15A"/>
                </a:solidFill>
                <a:latin typeface="Calibri"/>
              </a:rPr>
              <a:t>05</a:t>
            </a:r>
          </a:p>
        </p:txBody>
      </p:sp>
      <p:sp>
        <p:nvSpPr>
          <p:cNvPr id="26" name="TextBox 25"/>
          <p:cNvSpPr txBox="1"/>
          <p:nvPr/>
        </p:nvSpPr>
        <p:spPr>
          <a:xfrm>
            <a:off x="812800" y="5695950"/>
            <a:ext cx="10566400" cy="209550"/>
          </a:xfrm>
          <a:prstGeom prst="rect">
            <a:avLst/>
          </a:prstGeom>
          <a:noFill/>
        </p:spPr>
        <p:txBody>
          <a:bodyPr wrap="none" lIns="0" rIns="0" tIns="0" bIns="0" anchor="t">
            <a:spAutoFit/>
          </a:bodyPr>
          <a:lstStyle/>
          <a:p>
            <a:pPr algn="l">
              <a:lnSpc>
                <a:spcPts val="1600"/>
              </a:lnSpc>
            </a:pPr>
            <a:r>
              <a:rPr sz="1067" b="0" i="0">
                <a:solidFill>
                  <a:srgbClr val="F4EEE1">
                    <a:alpha val="75000"/>
                  </a:srgbClr>
                </a:solidFill>
                <a:latin typeface="Calibri"/>
              </a:rPr>
              <a:t>Works for any city with OpenStreetMap data. Two cities live: Downtown Dubai (</a:t>
            </a:r>
            <a:r>
              <a:rPr sz="1067" b="0" i="0">
                <a:solidFill>
                  <a:srgbClr val="E9DCBC"/>
                </a:solidFill>
                <a:latin typeface="Calibri"/>
              </a:rPr>
              <a:t>8,602</a:t>
            </a:r>
            <a:r>
              <a:rPr sz="1067" b="0" i="0">
                <a:solidFill>
                  <a:srgbClr val="F4EEE1">
                    <a:alpha val="75000"/>
                  </a:srgbClr>
                </a:solidFill>
                <a:latin typeface="Calibri"/>
              </a:rPr>
              <a:t> buildings, </a:t>
            </a:r>
            <a:r>
              <a:rPr sz="1067" b="0" i="0">
                <a:solidFill>
                  <a:srgbClr val="E9DCBC"/>
                </a:solidFill>
                <a:latin typeface="Calibri"/>
              </a:rPr>
              <a:t>7,659</a:t>
            </a:r>
            <a:r>
              <a:rPr sz="1067" b="0" i="0">
                <a:solidFill>
                  <a:srgbClr val="F4EEE1">
                    <a:alpha val="75000"/>
                  </a:srgbClr>
                </a:solidFill>
                <a:latin typeface="Calibri"/>
              </a:rPr>
              <a:t> street segments, </a:t>
            </a:r>
            <a:r>
              <a:rPr sz="1067" b="0" i="0">
                <a:solidFill>
                  <a:srgbClr val="E9DCBC"/>
                </a:solidFill>
                <a:latin typeface="Calibri"/>
              </a:rPr>
              <a:t>744</a:t>
            </a:r>
            <a:r>
              <a:rPr sz="1067" b="0" i="0">
                <a:solidFill>
                  <a:srgbClr val="F4EEE1">
                    <a:alpha val="75000"/>
                  </a:srgbClr>
                </a:solidFill>
                <a:latin typeface="Calibri"/>
              </a:rPr>
              <a:t> trees) and central Oslo.</a:t>
            </a:r>
          </a:p>
        </p:txBody>
      </p:sp>
      <p:sp>
        <p:nvSpPr>
          <p:cNvPr id="27" name="TextBox 26"/>
          <p:cNvSpPr txBox="1"/>
          <p:nvPr/>
        </p:nvSpPr>
        <p:spPr>
          <a:xfrm>
            <a:off x="0" y="-27432000"/>
            <a:ext cx="0" cy="0"/>
          </a:xfrm>
          <a:prstGeom prst="rect">
            <a:avLst/>
          </a:prstGeom>
          <a:noFill/>
        </p:spPr>
        <p:txBody>
          <a:bodyPr wrap="none" lIns="0" rIns="0" tIns="0" bIns="0" anchor="t">
            <a:spAutoFit/>
          </a:bodyPr>
          <a:lstStyle/>
          <a:p>
            <a:pPr algn="l">
              <a:lnSpc>
                <a:spcPts val="1008"/>
              </a:lnSpc>
            </a:pPr>
            <a:r>
              <a:rPr sz="776" b="0" i="0">
                <a:solidFill>
                  <a:srgbClr val="F4EEE1"/>
                </a:solidFill>
                <a:latin typeface="Calibri"/>
              </a:rPr>
              <a:t>.step{position:relative;padding:34px 40px 0 0;font-family:Fraunces,serif;font-weight:300;font-size:30px;line-height:1.25;color:var(--ivory)} .step span{display:block;font-family:'Inter Tight';font-size:16px;letter-spacing:.18em;color:var(--brass);margin-bottom:16px;font-weight:500} .step::before{content:"";position:absolute;top:-5px;left:0;width:9px;height:9px;border-radius:50%;background:var(--brass)} .step:not(:last-child)::after{content:"→";position:absolute;right:24px;top:30px;font-family:'Inter Tight';font-weight:300;font-size:22px;color:var(--brass)}</a:t>
            </a:r>
          </a:p>
        </p:txBody>
      </p:sp>
      <p:sp>
        <p:nvSpPr>
          <p:cNvPr id="28" name="TextBox 2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9" name="TextBox 2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273800" y="2555677"/>
            <a:ext cx="5105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75600" y="2562027"/>
            <a:ext cx="6350" cy="13589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77400" y="2562027"/>
            <a:ext cx="6350" cy="13589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73800" y="812800"/>
            <a:ext cx="5105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06 · PROOF, SHADE MODE</a:t>
            </a:r>
          </a:p>
        </p:txBody>
      </p:sp>
      <p:sp>
        <p:nvSpPr>
          <p:cNvPr id="8" name="TextBox 7"/>
          <p:cNvSpPr txBox="1"/>
          <p:nvPr/>
        </p:nvSpPr>
        <p:spPr>
          <a:xfrm>
            <a:off x="6273800" y="1143000"/>
            <a:ext cx="5258562" cy="1069777"/>
          </a:xfrm>
          <a:prstGeom prst="rect">
            <a:avLst/>
          </a:prstGeom>
          <a:noFill/>
        </p:spPr>
        <p:txBody>
          <a:bodyPr wrap="square" lIns="0" rIns="0" tIns="0" bIns="0" anchor="t">
            <a:spAutoFit/>
          </a:bodyPr>
          <a:lstStyle/>
          <a:p>
            <a:pPr algn="l">
              <a:lnSpc>
                <a:spcPts val="2723"/>
              </a:lnSpc>
            </a:pPr>
            <a:r>
              <a:rPr sz="2418" b="0" i="0" spc="-26">
                <a:solidFill>
                  <a:srgbClr val="E9DCBC"/>
                </a:solidFill>
                <a:latin typeface="Georgia"/>
              </a:rPr>
              <a:t>A real walk computed by the engine: Burj Park → Business Bay Metro, a summer afternoon at 15:30.</a:t>
            </a:r>
          </a:p>
        </p:txBody>
      </p:sp>
      <p:sp>
        <p:nvSpPr>
          <p:cNvPr id="9" name="TextBox 8"/>
          <p:cNvSpPr txBox="1"/>
          <p:nvPr/>
        </p:nvSpPr>
        <p:spPr>
          <a:xfrm>
            <a:off x="6273800" y="2752527"/>
            <a:ext cx="1701800" cy="812800"/>
          </a:xfrm>
          <a:prstGeom prst="rect">
            <a:avLst/>
          </a:prstGeom>
          <a:noFill/>
        </p:spPr>
        <p:txBody>
          <a:bodyPr wrap="none" lIns="0" rIns="0" tIns="0" bIns="0" anchor="t">
            <a:spAutoFit/>
          </a:bodyPr>
          <a:lstStyle/>
          <a:p>
            <a:pPr algn="l">
              <a:lnSpc>
                <a:spcPts val="6208"/>
              </a:lnSpc>
            </a:pPr>
            <a:r>
              <a:rPr sz="5356" b="0" i="0">
                <a:solidFill>
                  <a:srgbClr val="C8A15A"/>
                </a:solidFill>
                <a:latin typeface="Georgia"/>
              </a:rPr>
              <a:t>6.2</a:t>
            </a:r>
          </a:p>
        </p:txBody>
      </p:sp>
      <p:sp>
        <p:nvSpPr>
          <p:cNvPr id="10" name="TextBox 9"/>
          <p:cNvSpPr txBox="1"/>
          <p:nvPr/>
        </p:nvSpPr>
        <p:spPr>
          <a:xfrm>
            <a:off x="6273800" y="3666927"/>
            <a:ext cx="1752854" cy="254000"/>
          </a:xfrm>
          <a:prstGeom prst="rect">
            <a:avLst/>
          </a:prstGeom>
          <a:noFill/>
        </p:spPr>
        <p:txBody>
          <a:bodyPr wrap="square" lIns="0" rIns="0" tIns="0" bIns="0" anchor="t">
            <a:spAutoFit/>
          </a:bodyPr>
          <a:lstStyle/>
          <a:p>
            <a:pPr algn="l">
              <a:lnSpc>
                <a:spcPts val="1008"/>
              </a:lnSpc>
            </a:pPr>
            <a:r>
              <a:rPr sz="776" b="0" i="0" spc="144">
                <a:solidFill>
                  <a:srgbClr val="7C8A94"/>
                </a:solidFill>
                <a:latin typeface="Calibri"/>
              </a:rPr>
              <a:t>MINUTES LESS</a:t>
            </a:r>
            <a:br/>
            <a:r>
              <a:rPr sz="776" b="0" i="0" spc="144">
                <a:solidFill>
                  <a:srgbClr val="7C8A94"/>
                </a:solidFill>
                <a:latin typeface="Calibri"/>
              </a:rPr>
              <a:t>DIRECT SUN</a:t>
            </a:r>
          </a:p>
        </p:txBody>
      </p:sp>
      <p:sp>
        <p:nvSpPr>
          <p:cNvPr id="11" name="TextBox 10"/>
          <p:cNvSpPr txBox="1"/>
          <p:nvPr/>
        </p:nvSpPr>
        <p:spPr>
          <a:xfrm>
            <a:off x="8210550" y="2752527"/>
            <a:ext cx="1466850" cy="812800"/>
          </a:xfrm>
          <a:prstGeom prst="rect">
            <a:avLst/>
          </a:prstGeom>
          <a:noFill/>
        </p:spPr>
        <p:txBody>
          <a:bodyPr wrap="none" lIns="0" rIns="0" tIns="0" bIns="0" anchor="t">
            <a:spAutoFit/>
          </a:bodyPr>
          <a:lstStyle/>
          <a:p>
            <a:pPr algn="l">
              <a:lnSpc>
                <a:spcPts val="6208"/>
              </a:lnSpc>
            </a:pPr>
            <a:r>
              <a:rPr sz="5356" b="0" i="0">
                <a:solidFill>
                  <a:srgbClr val="C8A15A"/>
                </a:solidFill>
                <a:latin typeface="Georgia"/>
              </a:rPr>
              <a:t>40%</a:t>
            </a:r>
          </a:p>
        </p:txBody>
      </p:sp>
      <p:sp>
        <p:nvSpPr>
          <p:cNvPr id="12" name="TextBox 11"/>
          <p:cNvSpPr txBox="1"/>
          <p:nvPr/>
        </p:nvSpPr>
        <p:spPr>
          <a:xfrm>
            <a:off x="8210550" y="3666927"/>
            <a:ext cx="1466850" cy="127000"/>
          </a:xfrm>
          <a:prstGeom prst="rect">
            <a:avLst/>
          </a:prstGeom>
          <a:noFill/>
        </p:spPr>
        <p:txBody>
          <a:bodyPr wrap="none" lIns="0" rIns="0" tIns="0" bIns="0" anchor="t">
            <a:spAutoFit/>
          </a:bodyPr>
          <a:lstStyle/>
          <a:p>
            <a:pPr algn="l">
              <a:lnSpc>
                <a:spcPts val="1008"/>
              </a:lnSpc>
            </a:pPr>
            <a:r>
              <a:rPr sz="776" b="0" i="0" spc="144">
                <a:solidFill>
                  <a:srgbClr val="7C8A94"/>
                </a:solidFill>
                <a:latin typeface="Calibri"/>
              </a:rPr>
              <a:t>LESS SUN</a:t>
            </a:r>
          </a:p>
        </p:txBody>
      </p:sp>
      <p:sp>
        <p:nvSpPr>
          <p:cNvPr id="13" name="TextBox 12"/>
          <p:cNvSpPr txBox="1"/>
          <p:nvPr/>
        </p:nvSpPr>
        <p:spPr>
          <a:xfrm>
            <a:off x="9912350" y="2752527"/>
            <a:ext cx="1466850" cy="812800"/>
          </a:xfrm>
          <a:prstGeom prst="rect">
            <a:avLst/>
          </a:prstGeom>
          <a:noFill/>
        </p:spPr>
        <p:txBody>
          <a:bodyPr wrap="none" lIns="0" rIns="0" tIns="0" bIns="0" anchor="t">
            <a:spAutoFit/>
          </a:bodyPr>
          <a:lstStyle/>
          <a:p>
            <a:pPr algn="l">
              <a:lnSpc>
                <a:spcPts val="6208"/>
              </a:lnSpc>
            </a:pPr>
            <a:r>
              <a:rPr sz="5356" b="0" i="0">
                <a:solidFill>
                  <a:srgbClr val="E9DCBC"/>
                </a:solidFill>
                <a:latin typeface="Georgia"/>
              </a:rPr>
              <a:t>2.2</a:t>
            </a:r>
          </a:p>
        </p:txBody>
      </p:sp>
      <p:sp>
        <p:nvSpPr>
          <p:cNvPr id="14" name="TextBox 13"/>
          <p:cNvSpPr txBox="1"/>
          <p:nvPr/>
        </p:nvSpPr>
        <p:spPr>
          <a:xfrm>
            <a:off x="9912350" y="3666927"/>
            <a:ext cx="1510856" cy="254000"/>
          </a:xfrm>
          <a:prstGeom prst="rect">
            <a:avLst/>
          </a:prstGeom>
          <a:noFill/>
        </p:spPr>
        <p:txBody>
          <a:bodyPr wrap="square" lIns="0" rIns="0" tIns="0" bIns="0" anchor="t">
            <a:spAutoFit/>
          </a:bodyPr>
          <a:lstStyle/>
          <a:p>
            <a:pPr algn="l">
              <a:lnSpc>
                <a:spcPts val="1008"/>
              </a:lnSpc>
            </a:pPr>
            <a:r>
              <a:rPr sz="776" b="0" i="0" spc="144">
                <a:solidFill>
                  <a:srgbClr val="7C8A94"/>
                </a:solidFill>
                <a:latin typeface="Calibri"/>
              </a:rPr>
              <a:t>ONLY MINUTES</a:t>
            </a:r>
            <a:br/>
            <a:r>
              <a:rPr sz="776" b="0" i="0" spc="144">
                <a:solidFill>
                  <a:srgbClr val="7C8A94"/>
                </a:solidFill>
                <a:latin typeface="Calibri"/>
              </a:rPr>
              <a:t>LONGER</a:t>
            </a:r>
          </a:p>
        </p:txBody>
      </p:sp>
      <p:sp>
        <p:nvSpPr>
          <p:cNvPr id="15" name="TextBox 14"/>
          <p:cNvSpPr txBox="1"/>
          <p:nvPr/>
        </p:nvSpPr>
        <p:spPr>
          <a:xfrm>
            <a:off x="6273800" y="4225727"/>
            <a:ext cx="5105400" cy="239316"/>
          </a:xfrm>
          <a:prstGeom prst="rect">
            <a:avLst/>
          </a:prstGeom>
          <a:noFill/>
        </p:spPr>
        <p:txBody>
          <a:bodyPr wrap="none" lIns="0" rIns="0" tIns="0" bIns="0" anchor="t">
            <a:spAutoFit/>
          </a:bodyPr>
          <a:lstStyle/>
          <a:p>
            <a:pPr algn="l">
              <a:lnSpc>
                <a:spcPts val="1828"/>
              </a:lnSpc>
            </a:pPr>
            <a:r>
              <a:rPr sz="1261" b="0" i="0">
                <a:solidFill>
                  <a:srgbClr val="F4EEE1"/>
                </a:solidFill>
                <a:latin typeface="Calibri"/>
              </a:rPr>
              <a:t>Computed from real map data, not a mock-up. Live at </a:t>
            </a:r>
            <a:r>
              <a:rPr sz="1261" b="0" i="0">
                <a:solidFill>
                  <a:srgbClr val="C8A15A"/>
                </a:solidFill>
                <a:latin typeface="Calibri"/>
              </a:rPr>
              <a:t>zill.itshamza.me</a:t>
            </a:r>
          </a:p>
        </p:txBody>
      </p:sp>
      <p:sp>
        <p:nvSpPr>
          <p:cNvPr id="16" name="TextBox 15"/>
          <p:cNvSpPr txBox="1"/>
          <p:nvPr/>
        </p:nvSpPr>
        <p:spPr>
          <a:xfrm>
            <a:off x="6273800" y="4553942"/>
            <a:ext cx="5105400" cy="171450"/>
          </a:xfrm>
          <a:prstGeom prst="rect">
            <a:avLst/>
          </a:prstGeom>
          <a:noFill/>
        </p:spPr>
        <p:txBody>
          <a:bodyPr wrap="none" lIns="0" rIns="0" tIns="0" bIns="0" anchor="t">
            <a:spAutoFit/>
          </a:bodyPr>
          <a:lstStyle/>
          <a:p>
            <a:pPr algn="l">
              <a:lnSpc>
                <a:spcPts val="1309"/>
              </a:lnSpc>
            </a:pPr>
            <a:r>
              <a:rPr sz="873" b="0" i="0">
                <a:solidFill>
                  <a:srgbClr val="F4EEE1">
                    <a:alpha val="62000"/>
                  </a:srgbClr>
                </a:solidFill>
                <a:latin typeface="Calibri"/>
              </a:rPr>
              <a:t>Model estimate; shade from buildings and mapped trees. Awnings and wind are not modelled yet.</a:t>
            </a:r>
          </a:p>
        </p:txBody>
      </p:sp>
      <p:sp>
        <p:nvSpPr>
          <p:cNvPr id="17" name="TextBox 1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8" name="TextBox 17"/>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283420"/>
            <a:ext cx="5130800" cy="25576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2283420"/>
            <a:ext cx="51308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83473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3725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3150" y="3214291"/>
            <a:ext cx="46101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48400" y="2283420"/>
            <a:ext cx="5130800" cy="25576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400" y="2283420"/>
            <a:ext cx="5130800"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483473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840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372850" y="2283420"/>
            <a:ext cx="6350" cy="25576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08750" y="3214291"/>
            <a:ext cx="46101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07 · PROOF, SUN MODE</a:t>
            </a:r>
          </a:p>
        </p:txBody>
      </p:sp>
      <p:sp>
        <p:nvSpPr>
          <p:cNvPr id="16" name="TextBox 15"/>
          <p:cNvSpPr txBox="1"/>
          <p:nvPr/>
        </p:nvSpPr>
        <p:spPr>
          <a:xfrm>
            <a:off x="812800" y="1143000"/>
            <a:ext cx="9810750" cy="822920"/>
          </a:xfrm>
          <a:prstGeom prst="rect">
            <a:avLst/>
          </a:prstGeom>
          <a:noFill/>
        </p:spPr>
        <p:txBody>
          <a:bodyPr wrap="square" lIns="0" rIns="0" tIns="0" bIns="0" anchor="t">
            <a:spAutoFit/>
          </a:bodyPr>
          <a:lstStyle/>
          <a:p>
            <a:pPr algn="l">
              <a:lnSpc>
                <a:spcPts val="3142"/>
              </a:lnSpc>
            </a:pPr>
            <a:r>
              <a:rPr sz="2511" b="0" i="0" spc="-30">
                <a:solidFill>
                  <a:srgbClr val="E9DCBC"/>
                </a:solidFill>
                <a:latin typeface="Georgia"/>
              </a:rPr>
              <a:t>Sun mode finds the sunnier walk: real routes, clear-sky geometry.</a:t>
            </a:r>
          </a:p>
        </p:txBody>
      </p:sp>
      <p:sp>
        <p:nvSpPr>
          <p:cNvPr id="17" name="TextBox 16"/>
          <p:cNvSpPr txBox="1"/>
          <p:nvPr/>
        </p:nvSpPr>
        <p:spPr>
          <a:xfrm>
            <a:off x="1073150" y="2556470"/>
            <a:ext cx="4610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DUBAI · 15 APRIL · 10:30</a:t>
            </a:r>
          </a:p>
        </p:txBody>
      </p:sp>
      <p:sp>
        <p:nvSpPr>
          <p:cNvPr id="18" name="TextBox 17"/>
          <p:cNvSpPr txBox="1"/>
          <p:nvPr/>
        </p:nvSpPr>
        <p:spPr>
          <a:xfrm>
            <a:off x="1073150" y="2772370"/>
            <a:ext cx="4610100" cy="251420"/>
          </a:xfrm>
          <a:prstGeom prst="rect">
            <a:avLst/>
          </a:prstGeom>
          <a:noFill/>
        </p:spPr>
        <p:txBody>
          <a:bodyPr wrap="none" lIns="0" rIns="0" tIns="0" bIns="0" anchor="t">
            <a:spAutoFit/>
          </a:bodyPr>
          <a:lstStyle/>
          <a:p>
            <a:pPr algn="l">
              <a:lnSpc>
                <a:spcPts val="1920"/>
              </a:lnSpc>
            </a:pPr>
            <a:r>
              <a:rPr sz="1674" b="0" i="0">
                <a:solidFill>
                  <a:srgbClr val="E9DCBC"/>
                </a:solidFill>
                <a:latin typeface="Georgia"/>
              </a:rPr>
              <a:t>Business Bay Metro → Burj Park</a:t>
            </a:r>
          </a:p>
        </p:txBody>
      </p:sp>
      <p:sp>
        <p:nvSpPr>
          <p:cNvPr id="19" name="TextBox 18"/>
          <p:cNvSpPr txBox="1"/>
          <p:nvPr/>
        </p:nvSpPr>
        <p:spPr>
          <a:xfrm>
            <a:off x="10731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+8.7</a:t>
            </a:r>
          </a:p>
        </p:txBody>
      </p:sp>
      <p:sp>
        <p:nvSpPr>
          <p:cNvPr id="20" name="TextBox 19"/>
          <p:cNvSpPr txBox="1"/>
          <p:nvPr/>
        </p:nvSpPr>
        <p:spPr>
          <a:xfrm>
            <a:off x="10731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MORE SUN</a:t>
            </a:r>
          </a:p>
        </p:txBody>
      </p:sp>
      <p:sp>
        <p:nvSpPr>
          <p:cNvPr id="21" name="TextBox 20"/>
          <p:cNvSpPr txBox="1"/>
          <p:nvPr/>
        </p:nvSpPr>
        <p:spPr>
          <a:xfrm>
            <a:off x="26098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+48%</a:t>
            </a:r>
          </a:p>
        </p:txBody>
      </p:sp>
      <p:sp>
        <p:nvSpPr>
          <p:cNvPr id="22" name="TextBox 21"/>
          <p:cNvSpPr txBox="1"/>
          <p:nvPr/>
        </p:nvSpPr>
        <p:spPr>
          <a:xfrm>
            <a:off x="26098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SUN VS FASTEST</a:t>
            </a:r>
          </a:p>
        </p:txBody>
      </p:sp>
      <p:sp>
        <p:nvSpPr>
          <p:cNvPr id="23" name="TextBox 22"/>
          <p:cNvSpPr txBox="1"/>
          <p:nvPr/>
        </p:nvSpPr>
        <p:spPr>
          <a:xfrm>
            <a:off x="4146550" y="3360341"/>
            <a:ext cx="1536700" cy="558800"/>
          </a:xfrm>
          <a:prstGeom prst="rect">
            <a:avLst/>
          </a:prstGeom>
          <a:noFill/>
        </p:spPr>
        <p:txBody>
          <a:bodyPr wrap="none" lIns="0" rIns="0" tIns="0" bIns="0" anchor="t">
            <a:spAutoFit/>
          </a:bodyPr>
          <a:lstStyle/>
          <a:p>
            <a:pPr algn="l">
              <a:lnSpc>
                <a:spcPts val="4268"/>
              </a:lnSpc>
            </a:pPr>
            <a:r>
              <a:rPr sz="3682" b="0" i="0">
                <a:solidFill>
                  <a:srgbClr val="E9DCBC"/>
                </a:solidFill>
                <a:latin typeface="Georgia"/>
              </a:rPr>
              <a:t>+4.5</a:t>
            </a:r>
          </a:p>
        </p:txBody>
      </p:sp>
      <p:sp>
        <p:nvSpPr>
          <p:cNvPr id="24" name="TextBox 23"/>
          <p:cNvSpPr txBox="1"/>
          <p:nvPr/>
        </p:nvSpPr>
        <p:spPr>
          <a:xfrm>
            <a:off x="41465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LONGER</a:t>
            </a:r>
          </a:p>
        </p:txBody>
      </p:sp>
      <p:sp>
        <p:nvSpPr>
          <p:cNvPr id="25" name="TextBox 24"/>
          <p:cNvSpPr txBox="1"/>
          <p:nvPr/>
        </p:nvSpPr>
        <p:spPr>
          <a:xfrm>
            <a:off x="1073150" y="4242991"/>
            <a:ext cx="4748403" cy="337741"/>
          </a:xfrm>
          <a:prstGeom prst="rect">
            <a:avLst/>
          </a:prstGeom>
          <a:noFill/>
        </p:spPr>
        <p:txBody>
          <a:bodyPr wrap="square" lIns="0" rIns="0" tIns="0" bIns="0" anchor="t">
            <a:spAutoFit/>
          </a:bodyPr>
          <a:lstStyle/>
          <a:p>
            <a:pPr algn="l">
              <a:lnSpc>
                <a:spcPts val="1290"/>
              </a:lnSpc>
            </a:pPr>
            <a:r>
              <a:rPr sz="921" b="0" i="0">
                <a:solidFill>
                  <a:srgbClr val="F4EEE1">
                    <a:alpha val="62000"/>
                  </a:srgbClr>
                </a:solidFill>
                <a:latin typeface="Calibri"/>
              </a:rPr>
              <a:t>Fastest: 1,101 s in direct sun of 1,435 s. Sunniest: 1,625 s of 1,704 s. Daylight window open: sun 59.9°, UV 8.7.</a:t>
            </a:r>
          </a:p>
        </p:txBody>
      </p:sp>
      <p:sp>
        <p:nvSpPr>
          <p:cNvPr id="26" name="TextBox 25"/>
          <p:cNvSpPr txBox="1"/>
          <p:nvPr/>
        </p:nvSpPr>
        <p:spPr>
          <a:xfrm>
            <a:off x="6508750" y="2556470"/>
            <a:ext cx="461010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OSLO · 21 JUNE · 12:00</a:t>
            </a:r>
          </a:p>
        </p:txBody>
      </p:sp>
      <p:sp>
        <p:nvSpPr>
          <p:cNvPr id="27" name="TextBox 26"/>
          <p:cNvSpPr txBox="1"/>
          <p:nvPr/>
        </p:nvSpPr>
        <p:spPr>
          <a:xfrm>
            <a:off x="6508750" y="2772370"/>
            <a:ext cx="4610100" cy="251420"/>
          </a:xfrm>
          <a:prstGeom prst="rect">
            <a:avLst/>
          </a:prstGeom>
          <a:noFill/>
        </p:spPr>
        <p:txBody>
          <a:bodyPr wrap="none" lIns="0" rIns="0" tIns="0" bIns="0" anchor="t">
            <a:spAutoFit/>
          </a:bodyPr>
          <a:lstStyle/>
          <a:p>
            <a:pPr algn="l">
              <a:lnSpc>
                <a:spcPts val="1920"/>
              </a:lnSpc>
            </a:pPr>
            <a:r>
              <a:rPr sz="1674" b="0" i="0">
                <a:solidFill>
                  <a:srgbClr val="E9DCBC"/>
                </a:solidFill>
                <a:latin typeface="Georgia"/>
              </a:rPr>
              <a:t>National Museum → Byporten Shopping</a:t>
            </a:r>
          </a:p>
        </p:txBody>
      </p:sp>
      <p:sp>
        <p:nvSpPr>
          <p:cNvPr id="28" name="TextBox 27"/>
          <p:cNvSpPr txBox="1"/>
          <p:nvPr/>
        </p:nvSpPr>
        <p:spPr>
          <a:xfrm>
            <a:off x="65087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+11.3</a:t>
            </a:r>
          </a:p>
        </p:txBody>
      </p:sp>
      <p:sp>
        <p:nvSpPr>
          <p:cNvPr id="29" name="TextBox 28"/>
          <p:cNvSpPr txBox="1"/>
          <p:nvPr/>
        </p:nvSpPr>
        <p:spPr>
          <a:xfrm>
            <a:off x="65087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MORE SUN</a:t>
            </a:r>
          </a:p>
        </p:txBody>
      </p:sp>
      <p:sp>
        <p:nvSpPr>
          <p:cNvPr id="30" name="TextBox 29"/>
          <p:cNvSpPr txBox="1"/>
          <p:nvPr/>
        </p:nvSpPr>
        <p:spPr>
          <a:xfrm>
            <a:off x="8045450" y="3360341"/>
            <a:ext cx="1536700" cy="558800"/>
          </a:xfrm>
          <a:prstGeom prst="rect">
            <a:avLst/>
          </a:prstGeom>
          <a:noFill/>
        </p:spPr>
        <p:txBody>
          <a:bodyPr wrap="none" lIns="0" rIns="0" tIns="0" bIns="0" anchor="t">
            <a:spAutoFit/>
          </a:bodyPr>
          <a:lstStyle/>
          <a:p>
            <a:pPr algn="l">
              <a:lnSpc>
                <a:spcPts val="4268"/>
              </a:lnSpc>
            </a:pPr>
            <a:r>
              <a:rPr sz="3682" b="0" i="0">
                <a:solidFill>
                  <a:srgbClr val="C8A15A"/>
                </a:solidFill>
                <a:latin typeface="Georgia"/>
              </a:rPr>
              <a:t>+110%</a:t>
            </a:r>
          </a:p>
        </p:txBody>
      </p:sp>
      <p:sp>
        <p:nvSpPr>
          <p:cNvPr id="31" name="TextBox 30"/>
          <p:cNvSpPr txBox="1"/>
          <p:nvPr/>
        </p:nvSpPr>
        <p:spPr>
          <a:xfrm>
            <a:off x="80454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SUN VS FASTEST</a:t>
            </a:r>
          </a:p>
        </p:txBody>
      </p:sp>
      <p:sp>
        <p:nvSpPr>
          <p:cNvPr id="32" name="TextBox 31"/>
          <p:cNvSpPr txBox="1"/>
          <p:nvPr/>
        </p:nvSpPr>
        <p:spPr>
          <a:xfrm>
            <a:off x="9582150" y="3360341"/>
            <a:ext cx="1536700" cy="558800"/>
          </a:xfrm>
          <a:prstGeom prst="rect">
            <a:avLst/>
          </a:prstGeom>
          <a:noFill/>
        </p:spPr>
        <p:txBody>
          <a:bodyPr wrap="none" lIns="0" rIns="0" tIns="0" bIns="0" anchor="t">
            <a:spAutoFit/>
          </a:bodyPr>
          <a:lstStyle/>
          <a:p>
            <a:pPr algn="l">
              <a:lnSpc>
                <a:spcPts val="4268"/>
              </a:lnSpc>
            </a:pPr>
            <a:r>
              <a:rPr sz="3682" b="0" i="0">
                <a:solidFill>
                  <a:srgbClr val="E9DCBC"/>
                </a:solidFill>
                <a:latin typeface="Georgia"/>
              </a:rPr>
              <a:t>+2.2</a:t>
            </a:r>
          </a:p>
        </p:txBody>
      </p:sp>
      <p:sp>
        <p:nvSpPr>
          <p:cNvPr id="33" name="TextBox 32"/>
          <p:cNvSpPr txBox="1"/>
          <p:nvPr/>
        </p:nvSpPr>
        <p:spPr>
          <a:xfrm>
            <a:off x="9582150" y="3982641"/>
            <a:ext cx="15367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MIN LONGER</a:t>
            </a:r>
          </a:p>
        </p:txBody>
      </p:sp>
      <p:sp>
        <p:nvSpPr>
          <p:cNvPr id="34" name="TextBox 33"/>
          <p:cNvSpPr txBox="1"/>
          <p:nvPr/>
        </p:nvSpPr>
        <p:spPr>
          <a:xfrm>
            <a:off x="6508750" y="4242991"/>
            <a:ext cx="4748403" cy="337741"/>
          </a:xfrm>
          <a:prstGeom prst="rect">
            <a:avLst/>
          </a:prstGeom>
          <a:noFill/>
        </p:spPr>
        <p:txBody>
          <a:bodyPr wrap="square" lIns="0" rIns="0" tIns="0" bIns="0" anchor="t">
            <a:spAutoFit/>
          </a:bodyPr>
          <a:lstStyle/>
          <a:p>
            <a:pPr algn="l">
              <a:lnSpc>
                <a:spcPts val="1290"/>
              </a:lnSpc>
            </a:pPr>
            <a:r>
              <a:rPr sz="921" b="0" i="0">
                <a:solidFill>
                  <a:srgbClr val="F4EEE1">
                    <a:alpha val="62000"/>
                  </a:srgbClr>
                </a:solidFill>
                <a:latin typeface="Calibri"/>
              </a:rPr>
              <a:t>Fastest: 613 s in direct sun of 1,259 s. Sunniest: 1,288 s of 1,390 s. Daylight window open: sun 51.0°, UV 6.8.</a:t>
            </a:r>
          </a:p>
        </p:txBody>
      </p:sp>
      <p:sp>
        <p:nvSpPr>
          <p:cNvPr id="35" name="TextBox 34"/>
          <p:cNvSpPr txBox="1"/>
          <p:nvPr/>
        </p:nvSpPr>
        <p:spPr>
          <a:xfrm>
            <a:off x="812800" y="5031581"/>
            <a:ext cx="9810750" cy="381000"/>
          </a:xfrm>
          <a:prstGeom prst="rect">
            <a:avLst/>
          </a:prstGeom>
          <a:noFill/>
        </p:spPr>
        <p:txBody>
          <a:bodyPr wrap="square" lIns="0" rIns="0" tIns="0" bIns="0" anchor="t">
            <a:spAutoFit/>
          </a:bodyPr>
          <a:lstStyle/>
          <a:p>
            <a:pPr algn="l">
              <a:lnSpc>
                <a:spcPts val="1455"/>
              </a:lnSpc>
            </a:pPr>
            <a:r>
              <a:rPr sz="969" b="0" i="0">
                <a:solidFill>
                  <a:srgbClr val="F4EEE1">
                    <a:alpha val="62000"/>
                  </a:srgbClr>
                </a:solidFill>
                <a:latin typeface="Calibri"/>
              </a:rPr>
              <a:t>Routes chosen by a documented search over place pairs 400 to 1,500 m apart (data/scenarios/hero.json). Gains are model estimates from the engine, not field measurements.</a:t>
            </a:r>
          </a:p>
        </p:txBody>
      </p:sp>
      <p:sp>
        <p:nvSpPr>
          <p:cNvPr id="36" name="TextBox 35"/>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37" name="TextBox 36"/>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639020"/>
            <a:ext cx="4826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248400" y="4508500"/>
            <a:ext cx="5130800" cy="995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248400" y="4508500"/>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48400" y="5497711"/>
            <a:ext cx="5130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48400" y="4508500"/>
            <a:ext cx="6350" cy="995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372850" y="4508500"/>
            <a:ext cx="6350" cy="995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812800"/>
            <a:ext cx="48260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08 · SECOND CITY</a:t>
            </a:r>
          </a:p>
        </p:txBody>
      </p:sp>
      <p:sp>
        <p:nvSpPr>
          <p:cNvPr id="11" name="TextBox 10"/>
          <p:cNvSpPr txBox="1"/>
          <p:nvPr/>
        </p:nvSpPr>
        <p:spPr>
          <a:xfrm>
            <a:off x="812800" y="1143000"/>
            <a:ext cx="4970780" cy="850305"/>
          </a:xfrm>
          <a:prstGeom prst="rect">
            <a:avLst/>
          </a:prstGeom>
          <a:noFill/>
        </p:spPr>
        <p:txBody>
          <a:bodyPr wrap="square" lIns="0" rIns="0" tIns="0" bIns="0" anchor="t">
            <a:spAutoFit/>
          </a:bodyPr>
          <a:lstStyle/>
          <a:p>
            <a:pPr algn="l">
              <a:lnSpc>
                <a:spcPts val="3247"/>
              </a:lnSpc>
            </a:pPr>
            <a:r>
              <a:rPr sz="2594" b="0" i="0" spc="-31">
                <a:solidFill>
                  <a:srgbClr val="E9DCBC"/>
                </a:solidFill>
                <a:latin typeface="Georgia"/>
              </a:rPr>
              <a:t>Oslo, built with the same pipeline.</a:t>
            </a:r>
          </a:p>
        </p:txBody>
      </p:sp>
      <p:sp>
        <p:nvSpPr>
          <p:cNvPr id="12" name="TextBox 11"/>
          <p:cNvSpPr txBox="1"/>
          <p:nvPr/>
        </p:nvSpPr>
        <p:spPr>
          <a:xfrm>
            <a:off x="812800" y="2183805"/>
            <a:ext cx="4826000" cy="239316"/>
          </a:xfrm>
          <a:prstGeom prst="rect">
            <a:avLst/>
          </a:prstGeom>
          <a:noFill/>
        </p:spPr>
        <p:txBody>
          <a:bodyPr wrap="none" lIns="0" rIns="0" tIns="0" bIns="0" anchor="t">
            <a:spAutoFit/>
          </a:bodyPr>
          <a:lstStyle/>
          <a:p>
            <a:pPr algn="l">
              <a:lnSpc>
                <a:spcPts val="1828"/>
              </a:lnSpc>
            </a:pPr>
            <a:r>
              <a:rPr sz="1261" b="0" i="0">
                <a:solidFill>
                  <a:srgbClr val="F4EEE1"/>
                </a:solidFill>
                <a:latin typeface="Calibri"/>
              </a:rPr>
              <a:t>No city-specific code: open map data in, a shade-aware city out.</a:t>
            </a:r>
          </a:p>
        </p:txBody>
      </p:sp>
      <p:sp>
        <p:nvSpPr>
          <p:cNvPr id="13" name="TextBox 12"/>
          <p:cNvSpPr txBox="1"/>
          <p:nvPr/>
        </p:nvSpPr>
        <p:spPr>
          <a:xfrm>
            <a:off x="812800" y="2823170"/>
            <a:ext cx="2286000" cy="533400"/>
          </a:xfrm>
          <a:prstGeom prst="rect">
            <a:avLst/>
          </a:prstGeom>
          <a:noFill/>
        </p:spPr>
        <p:txBody>
          <a:bodyPr wrap="none" lIns="0" rIns="0" tIns="0" bIns="0" anchor="t">
            <a:spAutoFit/>
          </a:bodyPr>
          <a:lstStyle/>
          <a:p>
            <a:pPr algn="l">
              <a:lnSpc>
                <a:spcPts val="4074"/>
              </a:lnSpc>
            </a:pPr>
            <a:r>
              <a:rPr sz="3515" b="0" i="0">
                <a:solidFill>
                  <a:srgbClr val="C8A15A"/>
                </a:solidFill>
                <a:latin typeface="Georgia"/>
              </a:rPr>
              <a:t>13,841</a:t>
            </a:r>
          </a:p>
        </p:txBody>
      </p:sp>
      <p:sp>
        <p:nvSpPr>
          <p:cNvPr id="14" name="TextBox 13"/>
          <p:cNvSpPr txBox="1"/>
          <p:nvPr/>
        </p:nvSpPr>
        <p:spPr>
          <a:xfrm>
            <a:off x="812800" y="340737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BUILDINGS IN THE SHADOW RING</a:t>
            </a:r>
          </a:p>
        </p:txBody>
      </p:sp>
      <p:sp>
        <p:nvSpPr>
          <p:cNvPr id="15" name="TextBox 14"/>
          <p:cNvSpPr txBox="1"/>
          <p:nvPr/>
        </p:nvSpPr>
        <p:spPr>
          <a:xfrm>
            <a:off x="3352800" y="282317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10,082</a:t>
            </a:r>
          </a:p>
        </p:txBody>
      </p:sp>
      <p:sp>
        <p:nvSpPr>
          <p:cNvPr id="16" name="TextBox 15"/>
          <p:cNvSpPr txBox="1"/>
          <p:nvPr/>
        </p:nvSpPr>
        <p:spPr>
          <a:xfrm>
            <a:off x="3352800" y="340737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STREET SEGMENTS</a:t>
            </a:r>
          </a:p>
        </p:txBody>
      </p:sp>
      <p:sp>
        <p:nvSpPr>
          <p:cNvPr id="17" name="TextBox 16"/>
          <p:cNvSpPr txBox="1"/>
          <p:nvPr/>
        </p:nvSpPr>
        <p:spPr>
          <a:xfrm>
            <a:off x="812800" y="369312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20,208</a:t>
            </a:r>
          </a:p>
        </p:txBody>
      </p:sp>
      <p:sp>
        <p:nvSpPr>
          <p:cNvPr id="18" name="TextBox 17"/>
          <p:cNvSpPr txBox="1"/>
          <p:nvPr/>
        </p:nvSpPr>
        <p:spPr>
          <a:xfrm>
            <a:off x="812800" y="427732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TREES</a:t>
            </a:r>
          </a:p>
        </p:txBody>
      </p:sp>
      <p:sp>
        <p:nvSpPr>
          <p:cNvPr id="19" name="TextBox 18"/>
          <p:cNvSpPr txBox="1"/>
          <p:nvPr/>
        </p:nvSpPr>
        <p:spPr>
          <a:xfrm>
            <a:off x="3352800" y="3693120"/>
            <a:ext cx="2286000" cy="533400"/>
          </a:xfrm>
          <a:prstGeom prst="rect">
            <a:avLst/>
          </a:prstGeom>
          <a:noFill/>
        </p:spPr>
        <p:txBody>
          <a:bodyPr wrap="none" lIns="0" rIns="0" tIns="0" bIns="0" anchor="t">
            <a:spAutoFit/>
          </a:bodyPr>
          <a:lstStyle/>
          <a:p>
            <a:pPr algn="l">
              <a:lnSpc>
                <a:spcPts val="4074"/>
              </a:lnSpc>
            </a:pPr>
            <a:r>
              <a:rPr sz="3515" b="0" i="0">
                <a:solidFill>
                  <a:srgbClr val="E9DCBC"/>
                </a:solidFill>
                <a:latin typeface="Georgia"/>
              </a:rPr>
              <a:t>53</a:t>
            </a:r>
          </a:p>
        </p:txBody>
      </p:sp>
      <p:sp>
        <p:nvSpPr>
          <p:cNvPr id="20" name="TextBox 19"/>
          <p:cNvSpPr txBox="1"/>
          <p:nvPr/>
        </p:nvSpPr>
        <p:spPr>
          <a:xfrm>
            <a:off x="3352800" y="4277320"/>
            <a:ext cx="2286000" cy="120650"/>
          </a:xfrm>
          <a:prstGeom prst="rect">
            <a:avLst/>
          </a:prstGeom>
          <a:noFill/>
        </p:spPr>
        <p:txBody>
          <a:bodyPr wrap="none" lIns="0" rIns="0" tIns="0" bIns="0" anchor="t">
            <a:spAutoFit/>
          </a:bodyPr>
          <a:lstStyle/>
          <a:p>
            <a:pPr algn="l">
              <a:lnSpc>
                <a:spcPts val="945"/>
              </a:lnSpc>
            </a:pPr>
            <a:r>
              <a:rPr sz="727" b="0" i="0" spc="135">
                <a:solidFill>
                  <a:srgbClr val="7C8A94"/>
                </a:solidFill>
                <a:latin typeface="Calibri"/>
              </a:rPr>
              <a:t>PLACES OF INTEREST</a:t>
            </a:r>
          </a:p>
        </p:txBody>
      </p:sp>
      <p:sp>
        <p:nvSpPr>
          <p:cNvPr id="21" name="TextBox 20"/>
          <p:cNvSpPr txBox="1"/>
          <p:nvPr/>
        </p:nvSpPr>
        <p:spPr>
          <a:xfrm>
            <a:off x="812800" y="4613870"/>
            <a:ext cx="4970780" cy="685800"/>
          </a:xfrm>
          <a:prstGeom prst="rect">
            <a:avLst/>
          </a:prstGeom>
          <a:noFill/>
        </p:spPr>
        <p:txBody>
          <a:bodyPr wrap="square" lIns="0" rIns="0" tIns="0" bIns="0" anchor="t">
            <a:spAutoFit/>
          </a:bodyPr>
          <a:lstStyle/>
          <a:p>
            <a:pPr algn="l">
              <a:lnSpc>
                <a:spcPts val="1746"/>
              </a:lnSpc>
            </a:pPr>
            <a:r>
              <a:rPr sz="1164" b="0" i="0">
                <a:solidFill>
                  <a:srgbClr val="F4EEE1">
                    <a:alpha val="62000"/>
                  </a:srgbClr>
                </a:solidFill>
                <a:latin typeface="Calibri"/>
              </a:rPr>
              <a:t>Low winter sun: at the December solstice the sun is about 6.6° high, so shadows run about 8.6 times a building’s height. The shadow engine is tested at exactly this angle.</a:t>
            </a:r>
          </a:p>
        </p:txBody>
      </p:sp>
      <p:sp>
        <p:nvSpPr>
          <p:cNvPr id="22" name="TextBox 21"/>
          <p:cNvSpPr txBox="1"/>
          <p:nvPr/>
        </p:nvSpPr>
        <p:spPr>
          <a:xfrm>
            <a:off x="6248400" y="3746500"/>
            <a:ext cx="2489200" cy="107950"/>
          </a:xfrm>
          <a:prstGeom prst="rect">
            <a:avLst/>
          </a:prstGeom>
          <a:noFill/>
        </p:spPr>
        <p:txBody>
          <a:bodyPr wrap="none" lIns="0" rIns="0" tIns="0" bIns="0" anchor="t">
            <a:spAutoFit/>
          </a:bodyPr>
          <a:lstStyle/>
          <a:p>
            <a:pPr algn="l">
              <a:lnSpc>
                <a:spcPts val="882"/>
              </a:lnSpc>
            </a:pPr>
            <a:r>
              <a:rPr sz="679" b="0" i="0" spc="126">
                <a:solidFill>
                  <a:srgbClr val="7C8A94"/>
                </a:solidFill>
                <a:latin typeface="Calibri"/>
              </a:rPr>
              <a:t>FILM STILL · OSLO, LOW WINTER SUN</a:t>
            </a:r>
          </a:p>
        </p:txBody>
      </p:sp>
      <p:sp>
        <p:nvSpPr>
          <p:cNvPr id="23" name="TextBox 22"/>
          <p:cNvSpPr txBox="1"/>
          <p:nvPr/>
        </p:nvSpPr>
        <p:spPr>
          <a:xfrm>
            <a:off x="8890000" y="3746500"/>
            <a:ext cx="2489200" cy="107950"/>
          </a:xfrm>
          <a:prstGeom prst="rect">
            <a:avLst/>
          </a:prstGeom>
          <a:noFill/>
        </p:spPr>
        <p:txBody>
          <a:bodyPr wrap="none" lIns="0" rIns="0" tIns="0" bIns="0" anchor="t">
            <a:spAutoFit/>
          </a:bodyPr>
          <a:lstStyle/>
          <a:p>
            <a:pPr algn="l">
              <a:lnSpc>
                <a:spcPts val="882"/>
              </a:lnSpc>
            </a:pPr>
            <a:r>
              <a:rPr sz="679" b="0" i="0" spc="126">
                <a:solidFill>
                  <a:srgbClr val="7C8A94"/>
                </a:solidFill>
                <a:latin typeface="Calibri"/>
              </a:rPr>
              <a:t>APP · OSLO, SUN MODE</a:t>
            </a:r>
          </a:p>
        </p:txBody>
      </p:sp>
      <p:sp>
        <p:nvSpPr>
          <p:cNvPr id="24" name="TextBox 23"/>
          <p:cNvSpPr txBox="1"/>
          <p:nvPr/>
        </p:nvSpPr>
        <p:spPr>
          <a:xfrm>
            <a:off x="6248400" y="3994150"/>
            <a:ext cx="5284724" cy="361950"/>
          </a:xfrm>
          <a:prstGeom prst="rect">
            <a:avLst/>
          </a:prstGeom>
          <a:noFill/>
        </p:spPr>
        <p:txBody>
          <a:bodyPr wrap="square" lIns="0" rIns="0" tIns="0" bIns="0" anchor="t">
            <a:spAutoFit/>
          </a:bodyPr>
          <a:lstStyle/>
          <a:p>
            <a:pPr algn="l">
              <a:lnSpc>
                <a:spcPts val="1382"/>
              </a:lnSpc>
            </a:pPr>
            <a:r>
              <a:rPr sz="921" b="0" i="0">
                <a:solidFill>
                  <a:srgbClr val="F4EEE1">
                    <a:alpha val="62000"/>
                  </a:srgbClr>
                </a:solidFill>
                <a:latin typeface="Calibri"/>
              </a:rPr>
              <a:t>Central Oslo, rendered from the baked city: the sun-mode route in the app, and the long shadows of a winter day in the film.</a:t>
            </a:r>
          </a:p>
        </p:txBody>
      </p:sp>
      <p:sp>
        <p:nvSpPr>
          <p:cNvPr id="25" name="TextBox 24"/>
          <p:cNvSpPr txBox="1"/>
          <p:nvPr/>
        </p:nvSpPr>
        <p:spPr>
          <a:xfrm>
            <a:off x="6445250" y="4667250"/>
            <a:ext cx="47371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HONEST NOTE</a:t>
            </a:r>
          </a:p>
        </p:txBody>
      </p:sp>
      <p:sp>
        <p:nvSpPr>
          <p:cNvPr id="26" name="TextBox 25"/>
          <p:cNvSpPr txBox="1"/>
          <p:nvPr/>
        </p:nvSpPr>
        <p:spPr>
          <a:xfrm>
            <a:off x="6445250" y="4883150"/>
            <a:ext cx="4879213" cy="462161"/>
          </a:xfrm>
          <a:prstGeom prst="rect">
            <a:avLst/>
          </a:prstGeom>
          <a:noFill/>
        </p:spPr>
        <p:txBody>
          <a:bodyPr wrap="square" lIns="0" rIns="0" tIns="0" bIns="0" anchor="t">
            <a:spAutoFit/>
          </a:bodyPr>
          <a:lstStyle/>
          <a:p>
            <a:pPr algn="l">
              <a:lnSpc>
                <a:spcPts val="1765"/>
              </a:lnSpc>
            </a:pPr>
            <a:r>
              <a:rPr sz="1261" b="0" i="0">
                <a:solidFill>
                  <a:srgbClr val="F4EEE1"/>
                </a:solidFill>
                <a:latin typeface="Calibri"/>
              </a:rPr>
              <a:t>Oslo’s winter weather is a labelled stand-in (the 2025 solstice). Oslo gets about 5 h 54 min of daylight at the solstice.</a:t>
            </a:r>
          </a:p>
        </p:txBody>
      </p:sp>
      <p:sp>
        <p:nvSpPr>
          <p:cNvPr id="27" name="TextBox 26"/>
          <p:cNvSpPr txBox="1"/>
          <p:nvPr/>
        </p:nvSpPr>
        <p:spPr>
          <a:xfrm>
            <a:off x="812800" y="60706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data/cities/oslo/meta.json (counts); docs/PROGRESS.md; daylight length: fjordtours.com/en/norway/people-and-culture/facts/winter-solstice. Map data © OpenStreetMap contributors.</a:t>
            </a:r>
          </a:p>
        </p:txBody>
      </p:sp>
      <p:sp>
        <p:nvSpPr>
          <p:cNvPr id="28" name="TextBox 2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9" name="TextBox 2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1890712"/>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1890712"/>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313392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3230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8350" y="1890712"/>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8350" y="1890712"/>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8350" y="313392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35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97850" y="1890712"/>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2800" y="3279973"/>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27997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523184"/>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80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3230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8350" y="3279973"/>
            <a:ext cx="3625850" cy="12495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8350" y="3279973"/>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8350" y="4523184"/>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835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97850" y="3279973"/>
            <a:ext cx="6350" cy="12495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4669234"/>
            <a:ext cx="3625850" cy="12622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2800" y="4669234"/>
            <a:ext cx="3625850" cy="19050"/>
          </a:xfrm>
          <a:prstGeom prst="rect">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12800" y="5925145"/>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80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3230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8350" y="4669234"/>
            <a:ext cx="3625850" cy="126226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8350" y="4669234"/>
            <a:ext cx="3625850" cy="19050"/>
          </a:xfrm>
          <a:prstGeom prst="rect">
            <a:avLst/>
          </a:prstGeom>
          <a:solidFill>
            <a:srgbClr val="7C8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8350" y="5925145"/>
            <a:ext cx="362585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835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97850" y="4669234"/>
            <a:ext cx="6350" cy="126226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2800" y="812800"/>
            <a:ext cx="7391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09 · WELL-BEING</a:t>
            </a:r>
          </a:p>
        </p:txBody>
      </p:sp>
      <p:sp>
        <p:nvSpPr>
          <p:cNvPr id="35" name="TextBox 34"/>
          <p:cNvSpPr txBox="1"/>
          <p:nvPr/>
        </p:nvSpPr>
        <p:spPr>
          <a:xfrm>
            <a:off x="812800" y="1143000"/>
            <a:ext cx="73914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Daylight and heat, made visible.</a:t>
            </a:r>
          </a:p>
        </p:txBody>
      </p:sp>
      <p:sp>
        <p:nvSpPr>
          <p:cNvPr id="36" name="TextBox 35"/>
          <p:cNvSpPr txBox="1"/>
          <p:nvPr/>
        </p:nvSpPr>
        <p:spPr>
          <a:xfrm>
            <a:off x="1022350" y="2074862"/>
            <a:ext cx="320675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UV INDEX</a:t>
            </a:r>
          </a:p>
        </p:txBody>
      </p:sp>
      <p:sp>
        <p:nvSpPr>
          <p:cNvPr id="37" name="TextBox 36"/>
          <p:cNvSpPr txBox="1"/>
          <p:nvPr/>
        </p:nvSpPr>
        <p:spPr>
          <a:xfrm>
            <a:off x="1022350" y="2316162"/>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Today’s index with its WHO band, from low to extreme, and the matching sun-protection advice.</a:t>
            </a:r>
          </a:p>
        </p:txBody>
      </p:sp>
      <p:sp>
        <p:nvSpPr>
          <p:cNvPr id="38" name="TextBox 37"/>
          <p:cNvSpPr txBox="1"/>
          <p:nvPr/>
        </p:nvSpPr>
        <p:spPr>
          <a:xfrm>
            <a:off x="4787900" y="2074862"/>
            <a:ext cx="3206750"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HEAT STRESS</a:t>
            </a:r>
          </a:p>
        </p:txBody>
      </p:sp>
      <p:sp>
        <p:nvSpPr>
          <p:cNvPr id="39" name="TextBox 38"/>
          <p:cNvSpPr txBox="1"/>
          <p:nvPr/>
        </p:nvSpPr>
        <p:spPr>
          <a:xfrm>
            <a:off x="4787900" y="2316162"/>
            <a:ext cx="3302952" cy="42664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A band from apparent temperature, labelled indicative.</a:t>
            </a:r>
          </a:p>
        </p:txBody>
      </p:sp>
      <p:sp>
        <p:nvSpPr>
          <p:cNvPr id="40" name="TextBox 39"/>
          <p:cNvSpPr txBox="1"/>
          <p:nvPr/>
        </p:nvSpPr>
        <p:spPr>
          <a:xfrm>
            <a:off x="1022350" y="3464123"/>
            <a:ext cx="320675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DAYLIGHT WINDOW</a:t>
            </a:r>
          </a:p>
        </p:txBody>
      </p:sp>
      <p:sp>
        <p:nvSpPr>
          <p:cNvPr id="41" name="TextBox 40"/>
          <p:cNvSpPr txBox="1"/>
          <p:nvPr/>
        </p:nvSpPr>
        <p:spPr>
          <a:xfrm>
            <a:off x="1022350" y="3705423"/>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Open when the sun is high (your shadow is shorter than you), UV is 3 or more and cloud is under 70%.</a:t>
            </a:r>
          </a:p>
        </p:txBody>
      </p:sp>
      <p:sp>
        <p:nvSpPr>
          <p:cNvPr id="42" name="TextBox 41"/>
          <p:cNvSpPr txBox="1"/>
          <p:nvPr/>
        </p:nvSpPr>
        <p:spPr>
          <a:xfrm>
            <a:off x="4787900" y="3464123"/>
            <a:ext cx="3206750" cy="152400"/>
          </a:xfrm>
          <a:prstGeom prst="rect">
            <a:avLst/>
          </a:prstGeom>
          <a:noFill/>
        </p:spPr>
        <p:txBody>
          <a:bodyPr wrap="none" lIns="0" rIns="0" tIns="0" bIns="0" anchor="t">
            <a:spAutoFit/>
          </a:bodyPr>
          <a:lstStyle/>
          <a:p>
            <a:pPr algn="l">
              <a:lnSpc>
                <a:spcPts val="1261"/>
              </a:lnSpc>
            </a:pPr>
            <a:r>
              <a:rPr sz="969" b="0" i="0" spc="180">
                <a:solidFill>
                  <a:srgbClr val="8FB3BE"/>
                </a:solidFill>
                <a:latin typeface="Calibri"/>
              </a:rPr>
              <a:t>BREAK PROMPTS</a:t>
            </a:r>
          </a:p>
        </p:txBody>
      </p:sp>
      <p:sp>
        <p:nvSpPr>
          <p:cNvPr id="43" name="TextBox 42"/>
          <p:cNvSpPr txBox="1"/>
          <p:nvPr/>
        </p:nvSpPr>
        <p:spPr>
          <a:xfrm>
            <a:off x="4787900" y="3705423"/>
            <a:ext cx="3302952" cy="42664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Hydration and shade-break reminders on long, hot routes.</a:t>
            </a:r>
          </a:p>
        </p:txBody>
      </p:sp>
      <p:sp>
        <p:nvSpPr>
          <p:cNvPr id="44" name="TextBox 43"/>
          <p:cNvSpPr txBox="1"/>
          <p:nvPr/>
        </p:nvSpPr>
        <p:spPr>
          <a:xfrm>
            <a:off x="1022350" y="4866084"/>
            <a:ext cx="320675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NOT MEDICAL ADVICE</a:t>
            </a:r>
          </a:p>
        </p:txBody>
      </p:sp>
      <p:sp>
        <p:nvSpPr>
          <p:cNvPr id="45" name="TextBox 44"/>
          <p:cNvSpPr txBox="1"/>
          <p:nvPr/>
        </p:nvSpPr>
        <p:spPr>
          <a:xfrm>
            <a:off x="1022350" y="5107384"/>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Well-being and daylight guidance only. It does not diagnose or treat anything. Clinicians are future partners, not a claim we make today.</a:t>
            </a:r>
          </a:p>
        </p:txBody>
      </p:sp>
      <p:sp>
        <p:nvSpPr>
          <p:cNvPr id="46" name="TextBox 45"/>
          <p:cNvSpPr txBox="1"/>
          <p:nvPr/>
        </p:nvSpPr>
        <p:spPr>
          <a:xfrm>
            <a:off x="4787900" y="4866084"/>
            <a:ext cx="3206750"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OSLO, IN WINTER</a:t>
            </a:r>
          </a:p>
        </p:txBody>
      </p:sp>
      <p:sp>
        <p:nvSpPr>
          <p:cNvPr id="47" name="TextBox 46"/>
          <p:cNvSpPr txBox="1"/>
          <p:nvPr/>
        </p:nvSpPr>
        <p:spPr>
          <a:xfrm>
            <a:off x="4787900" y="5107384"/>
            <a:ext cx="3302952" cy="639961"/>
          </a:xfrm>
          <a:prstGeom prst="rect">
            <a:avLst/>
          </a:prstGeom>
          <a:noFill/>
        </p:spPr>
        <p:txBody>
          <a:bodyPr wrap="square" lIns="0" rIns="0" tIns="0" bIns="0" anchor="t">
            <a:spAutoFit/>
          </a:bodyPr>
          <a:lstStyle/>
          <a:p>
            <a:pPr algn="l">
              <a:lnSpc>
                <a:spcPts val="1629"/>
              </a:lnSpc>
            </a:pPr>
            <a:r>
              <a:rPr sz="1164" b="0" i="0">
                <a:solidFill>
                  <a:srgbClr val="F4EEE1"/>
                </a:solidFill>
                <a:latin typeface="Calibri"/>
              </a:rPr>
              <a:t>The sun is about 6° high and UV is near zero (0.1). Sun mode there is about daylight and mood, not vitamin D.</a:t>
            </a:r>
          </a:p>
        </p:txBody>
      </p:sp>
      <p:sp>
        <p:nvSpPr>
          <p:cNvPr id="48" name="TextBox 47"/>
          <p:cNvSpPr txBox="1"/>
          <p:nvPr/>
        </p:nvSpPr>
        <p:spPr>
          <a:xfrm>
            <a:off x="8483600" y="5023445"/>
            <a:ext cx="2982468" cy="215900"/>
          </a:xfrm>
          <a:prstGeom prst="rect">
            <a:avLst/>
          </a:prstGeom>
          <a:noFill/>
        </p:spPr>
        <p:txBody>
          <a:bodyPr wrap="square" lIns="0" rIns="0" tIns="0" bIns="0" anchor="t">
            <a:spAutoFit/>
          </a:bodyPr>
          <a:lstStyle/>
          <a:p>
            <a:pPr algn="l">
              <a:lnSpc>
                <a:spcPts val="882"/>
              </a:lnSpc>
            </a:pPr>
            <a:r>
              <a:rPr sz="679" b="0" i="0" spc="126">
                <a:solidFill>
                  <a:srgbClr val="7C8A94"/>
                </a:solidFill>
                <a:latin typeface="Calibri"/>
              </a:rPr>
              <a:t>THE WELL-BEING CARD IN THE APP (DUBAI, 15 JAN, RECORDED WEATHER)</a:t>
            </a:r>
          </a:p>
        </p:txBody>
      </p:sp>
      <p:sp>
        <p:nvSpPr>
          <p:cNvPr id="49" name="TextBox 48"/>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Oslo solstice scenario from docs/PROGRESS.md: sun 6.3°, shadow 9.1× height, UV 0.1, window closed. UV bands follow WHO categories.</a:t>
            </a:r>
          </a:p>
        </p:txBody>
      </p:sp>
      <p:sp>
        <p:nvSpPr>
          <p:cNvPr id="50" name="TextBox 49"/>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51" name="TextBox 50"/>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2068512"/>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2982912"/>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4173538"/>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5087938"/>
            <a:ext cx="447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47752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4470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10 · THE AGENT</a:t>
            </a:r>
          </a:p>
        </p:txBody>
      </p:sp>
      <p:sp>
        <p:nvSpPr>
          <p:cNvPr id="9" name="TextBox 8"/>
          <p:cNvSpPr txBox="1"/>
          <p:nvPr/>
        </p:nvSpPr>
        <p:spPr>
          <a:xfrm>
            <a:off x="812800" y="1193800"/>
            <a:ext cx="44704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An agent, not just a map.</a:t>
            </a:r>
          </a:p>
        </p:txBody>
      </p:sp>
      <p:sp>
        <p:nvSpPr>
          <p:cNvPr id="10" name="TextBox 9"/>
          <p:cNvSpPr txBox="1"/>
          <p:nvPr/>
        </p:nvSpPr>
        <p:spPr>
          <a:xfrm>
            <a:off x="812800" y="2309812"/>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PLANS</a:t>
            </a:r>
          </a:p>
        </p:txBody>
      </p:sp>
      <p:sp>
        <p:nvSpPr>
          <p:cNvPr id="11" name="TextBox 10"/>
          <p:cNvSpPr txBox="1"/>
          <p:nvPr/>
        </p:nvSpPr>
        <p:spPr>
          <a:xfrm>
            <a:off x="1574800" y="2252662"/>
            <a:ext cx="3819652"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Understands “I’m walking to the metro, I tire easily in the heat” and compares options.</a:t>
            </a:r>
          </a:p>
        </p:txBody>
      </p:sp>
      <p:sp>
        <p:nvSpPr>
          <p:cNvPr id="12" name="TextBox 11"/>
          <p:cNvSpPr txBox="1"/>
          <p:nvPr/>
        </p:nvSpPr>
        <p:spPr>
          <a:xfrm>
            <a:off x="812800" y="3224212"/>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CHECKS</a:t>
            </a:r>
          </a:p>
        </p:txBody>
      </p:sp>
      <p:sp>
        <p:nvSpPr>
          <p:cNvPr id="13" name="TextBox 12"/>
          <p:cNvSpPr txBox="1"/>
          <p:nvPr/>
        </p:nvSpPr>
        <p:spPr>
          <a:xfrm>
            <a:off x="1574800" y="3167062"/>
            <a:ext cx="3819652" cy="828675"/>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A second AI step verifies every claim; every number comes from the engine, never made up.</a:t>
            </a:r>
          </a:p>
        </p:txBody>
      </p:sp>
      <p:sp>
        <p:nvSpPr>
          <p:cNvPr id="14" name="TextBox 13"/>
          <p:cNvSpPr txBox="1"/>
          <p:nvPr/>
        </p:nvSpPr>
        <p:spPr>
          <a:xfrm>
            <a:off x="812800" y="4414838"/>
            <a:ext cx="508000" cy="202505"/>
          </a:xfrm>
          <a:prstGeom prst="rect">
            <a:avLst/>
          </a:prstGeom>
          <a:noFill/>
        </p:spPr>
        <p:txBody>
          <a:bodyPr wrap="none" lIns="0" rIns="0" tIns="0" bIns="0" anchor="t">
            <a:spAutoFit/>
          </a:bodyPr>
          <a:lstStyle/>
          <a:p>
            <a:pPr algn="l">
              <a:lnSpc>
                <a:spcPts val="1547"/>
              </a:lnSpc>
            </a:pPr>
            <a:r>
              <a:rPr sz="1023" b="0" i="0" spc="132">
                <a:solidFill>
                  <a:srgbClr val="C8A15A"/>
                </a:solidFill>
                <a:latin typeface="Georgia"/>
              </a:rPr>
              <a:t>ADAPTS</a:t>
            </a:r>
          </a:p>
        </p:txBody>
      </p:sp>
      <p:sp>
        <p:nvSpPr>
          <p:cNvPr id="15" name="TextBox 14"/>
          <p:cNvSpPr txBox="1"/>
          <p:nvPr/>
        </p:nvSpPr>
        <p:spPr>
          <a:xfrm>
            <a:off x="1574800" y="4357688"/>
            <a:ext cx="3819652" cy="552450"/>
          </a:xfrm>
          <a:prstGeom prst="rect">
            <a:avLst/>
          </a:prstGeom>
          <a:noFill/>
        </p:spPr>
        <p:txBody>
          <a:bodyPr wrap="square" lIns="0" rIns="0" tIns="0" bIns="0" anchor="t">
            <a:spAutoFit/>
          </a:bodyPr>
          <a:lstStyle/>
          <a:p>
            <a:pPr algn="l">
              <a:lnSpc>
                <a:spcPts val="2109"/>
              </a:lnSpc>
            </a:pPr>
            <a:r>
              <a:rPr sz="1455" b="0" i="0">
                <a:solidFill>
                  <a:srgbClr val="F4EEE1"/>
                </a:solidFill>
                <a:latin typeface="Calibri"/>
              </a:rPr>
              <a:t>If you are delayed or a street is closed, it replans and asks before changing your plan.</a:t>
            </a:r>
          </a:p>
        </p:txBody>
      </p:sp>
      <p:sp>
        <p:nvSpPr>
          <p:cNvPr id="16" name="TextBox 15"/>
          <p:cNvSpPr txBox="1"/>
          <p:nvPr/>
        </p:nvSpPr>
        <p:spPr>
          <a:xfrm>
            <a:off x="812800" y="5284788"/>
            <a:ext cx="4604512" cy="381000"/>
          </a:xfrm>
          <a:prstGeom prst="rect">
            <a:avLst/>
          </a:prstGeom>
          <a:noFill/>
        </p:spPr>
        <p:txBody>
          <a:bodyPr wrap="square" lIns="0" rIns="0" tIns="0" bIns="0" anchor="t">
            <a:spAutoFit/>
          </a:bodyPr>
          <a:lstStyle/>
          <a:p>
            <a:pPr algn="l">
              <a:lnSpc>
                <a:spcPts val="1455"/>
              </a:lnSpc>
            </a:pPr>
            <a:r>
              <a:rPr sz="969" b="0" i="0">
                <a:solidFill>
                  <a:srgbClr val="F4EEE1">
                    <a:alpha val="62000"/>
                  </a:srgbClr>
                </a:solidFill>
                <a:latin typeface="Calibri"/>
              </a:rPr>
              <a:t>A pluggable provider chain (OpenCode Go, then Voke) with automatic fallback. Until a live key is set, sessions are labelled recorded replays.</a:t>
            </a:r>
          </a:p>
        </p:txBody>
      </p:sp>
      <p:sp>
        <p:nvSpPr>
          <p:cNvPr id="17" name="TextBox 1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18" name="TextBox 17"/>
          <p:cNvSpPr txBox="1"/>
          <p:nvPr/>
        </p:nvSpPr>
        <p:spPr>
          <a:xfrm>
            <a:off x="54293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116138"/>
            <a:ext cx="1638399"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451199" y="2116138"/>
            <a:ext cx="3823097"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2854623"/>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451199" y="2854623"/>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3383260"/>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51199" y="3383260"/>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3911898"/>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451199" y="3911898"/>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800" y="4440535"/>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451199" y="4440535"/>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 y="5179318"/>
            <a:ext cx="163839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51199" y="5179318"/>
            <a:ext cx="382309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896" y="1890712"/>
            <a:ext cx="4749205" cy="149473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29896" y="1890712"/>
            <a:ext cx="4749205" cy="19050"/>
          </a:xfrm>
          <a:prstGeom prst="rect">
            <a:avLst/>
          </a:prstGeom>
          <a:solidFill>
            <a:srgbClr val="C8A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29896" y="3379093"/>
            <a:ext cx="4749205"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29896" y="1890712"/>
            <a:ext cx="6350" cy="149473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372751" y="1890712"/>
            <a:ext cx="6350" cy="149473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29896" y="3525143"/>
            <a:ext cx="4749205" cy="16637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29896" y="3525143"/>
            <a:ext cx="4749205" cy="19050"/>
          </a:xfrm>
          <a:prstGeom prst="rect">
            <a:avLst/>
          </a:prstGeom>
          <a:solidFill>
            <a:srgbClr val="D07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29896" y="5182493"/>
            <a:ext cx="4749205"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29896" y="3525143"/>
            <a:ext cx="6350" cy="16637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372751" y="3525143"/>
            <a:ext cx="6350" cy="16637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11 · ACCURACY AND UPDATE FREQUENCY</a:t>
            </a:r>
          </a:p>
        </p:txBody>
      </p:sp>
      <p:sp>
        <p:nvSpPr>
          <p:cNvPr id="26" name="TextBox 25"/>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How accurate, how fresh.</a:t>
            </a:r>
          </a:p>
        </p:txBody>
      </p:sp>
      <p:sp>
        <p:nvSpPr>
          <p:cNvPr id="27" name="TextBox 26"/>
          <p:cNvSpPr txBox="1"/>
          <p:nvPr/>
        </p:nvSpPr>
        <p:spPr>
          <a:xfrm>
            <a:off x="812800" y="1890712"/>
            <a:ext cx="1485999"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INPUT</a:t>
            </a:r>
          </a:p>
        </p:txBody>
      </p:sp>
      <p:sp>
        <p:nvSpPr>
          <p:cNvPr id="28" name="TextBox 27"/>
          <p:cNvSpPr txBox="1"/>
          <p:nvPr/>
        </p:nvSpPr>
        <p:spPr>
          <a:xfrm>
            <a:off x="2451199" y="1890712"/>
            <a:ext cx="3670697"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REFRESH</a:t>
            </a:r>
          </a:p>
        </p:txBody>
      </p:sp>
      <p:sp>
        <p:nvSpPr>
          <p:cNvPr id="29" name="TextBox 28"/>
          <p:cNvSpPr txBox="1"/>
          <p:nvPr/>
        </p:nvSpPr>
        <p:spPr>
          <a:xfrm>
            <a:off x="812800" y="2230438"/>
            <a:ext cx="1504417" cy="522585"/>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Sun position</a:t>
            </a:r>
          </a:p>
        </p:txBody>
      </p:sp>
      <p:sp>
        <p:nvSpPr>
          <p:cNvPr id="30" name="TextBox 29"/>
          <p:cNvSpPr txBox="1"/>
          <p:nvPr/>
        </p:nvSpPr>
        <p:spPr>
          <a:xfrm>
            <a:off x="2451199" y="2230438"/>
            <a:ext cx="3754656" cy="52258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Exact for any minute; within 0.5° of a reference solar model on 20 test samples</a:t>
            </a:r>
          </a:p>
        </p:txBody>
      </p:sp>
      <p:sp>
        <p:nvSpPr>
          <p:cNvPr id="31" name="TextBox 30"/>
          <p:cNvSpPr txBox="1"/>
          <p:nvPr/>
        </p:nvSpPr>
        <p:spPr>
          <a:xfrm>
            <a:off x="812800" y="2968923"/>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Shadows</a:t>
            </a:r>
          </a:p>
        </p:txBody>
      </p:sp>
      <p:sp>
        <p:nvSpPr>
          <p:cNvPr id="32" name="TextBox 31"/>
          <p:cNvSpPr txBox="1"/>
          <p:nvPr/>
        </p:nvSpPr>
        <p:spPr>
          <a:xfrm>
            <a:off x="2451199" y="2968923"/>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Every 10 minutes, on a 2 m grid</a:t>
            </a:r>
          </a:p>
        </p:txBody>
      </p:sp>
      <p:sp>
        <p:nvSpPr>
          <p:cNvPr id="33" name="TextBox 32"/>
          <p:cNvSpPr txBox="1"/>
          <p:nvPr/>
        </p:nvSpPr>
        <p:spPr>
          <a:xfrm>
            <a:off x="812800" y="3497560"/>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Route timing</a:t>
            </a:r>
          </a:p>
        </p:txBody>
      </p:sp>
      <p:sp>
        <p:nvSpPr>
          <p:cNvPr id="34" name="TextBox 33"/>
          <p:cNvSpPr txBox="1"/>
          <p:nvPr/>
        </p:nvSpPr>
        <p:spPr>
          <a:xfrm>
            <a:off x="2451199" y="3497560"/>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Departure checked every 5 minutes</a:t>
            </a:r>
          </a:p>
        </p:txBody>
      </p:sp>
      <p:sp>
        <p:nvSpPr>
          <p:cNvPr id="35" name="TextBox 34"/>
          <p:cNvSpPr txBox="1"/>
          <p:nvPr/>
        </p:nvSpPr>
        <p:spPr>
          <a:xfrm>
            <a:off x="812800" y="4026198"/>
            <a:ext cx="1460599" cy="312738"/>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Weather</a:t>
            </a:r>
          </a:p>
        </p:txBody>
      </p:sp>
      <p:sp>
        <p:nvSpPr>
          <p:cNvPr id="36" name="TextBox 35"/>
          <p:cNvSpPr txBox="1"/>
          <p:nvPr/>
        </p:nvSpPr>
        <p:spPr>
          <a:xfrm>
            <a:off x="2451199" y="4026198"/>
            <a:ext cx="3645297" cy="312738"/>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Hourly: UV, cloud, sunlight, temperature</a:t>
            </a:r>
          </a:p>
        </p:txBody>
      </p:sp>
      <p:sp>
        <p:nvSpPr>
          <p:cNvPr id="37" name="TextBox 36"/>
          <p:cNvSpPr txBox="1"/>
          <p:nvPr/>
        </p:nvSpPr>
        <p:spPr>
          <a:xfrm>
            <a:off x="812800" y="4554835"/>
            <a:ext cx="1504417" cy="522883"/>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Map data</a:t>
            </a:r>
          </a:p>
        </p:txBody>
      </p:sp>
      <p:sp>
        <p:nvSpPr>
          <p:cNvPr id="38" name="TextBox 37"/>
          <p:cNvSpPr txBox="1"/>
          <p:nvPr/>
        </p:nvSpPr>
        <p:spPr>
          <a:xfrm>
            <a:off x="2451199" y="4554835"/>
            <a:ext cx="3754656" cy="522883"/>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Re-baked from OpenStreetMap on demand; a weekly job is planned, not yet running</a:t>
            </a:r>
          </a:p>
        </p:txBody>
      </p:sp>
      <p:sp>
        <p:nvSpPr>
          <p:cNvPr id="39" name="TextBox 38"/>
          <p:cNvSpPr txBox="1"/>
          <p:nvPr/>
        </p:nvSpPr>
        <p:spPr>
          <a:xfrm>
            <a:off x="6890246" y="2163762"/>
            <a:ext cx="4228505"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TESTED</a:t>
            </a:r>
          </a:p>
        </p:txBody>
      </p:sp>
      <p:sp>
        <p:nvSpPr>
          <p:cNvPr id="40" name="TextBox 39"/>
          <p:cNvSpPr txBox="1"/>
          <p:nvPr/>
        </p:nvSpPr>
        <p:spPr>
          <a:xfrm>
            <a:off x="6890246" y="2405062"/>
            <a:ext cx="4355360" cy="72003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Shadow length and direction for boxes at several sun angles, including Oslo’s 6.6° winter sun. </a:t>
            </a:r>
            <a:r>
              <a:rPr sz="1309" b="0" i="0">
                <a:solidFill>
                  <a:srgbClr val="E9DCBC"/>
                </a:solidFill>
                <a:latin typeface="Calibri"/>
              </a:rPr>
              <a:t>470</a:t>
            </a:r>
            <a:r>
              <a:rPr sz="1309" b="0" i="0">
                <a:solidFill>
                  <a:srgbClr val="F4EEE1"/>
                </a:solidFill>
                <a:latin typeface="Calibri"/>
              </a:rPr>
              <a:t> automated tests pass (375 backend, 95 frontend).</a:t>
            </a:r>
          </a:p>
        </p:txBody>
      </p:sp>
      <p:sp>
        <p:nvSpPr>
          <p:cNvPr id="41" name="TextBox 40"/>
          <p:cNvSpPr txBox="1"/>
          <p:nvPr/>
        </p:nvSpPr>
        <p:spPr>
          <a:xfrm>
            <a:off x="6890246" y="3798193"/>
            <a:ext cx="4228505" cy="152400"/>
          </a:xfrm>
          <a:prstGeom prst="rect">
            <a:avLst/>
          </a:prstGeom>
          <a:noFill/>
        </p:spPr>
        <p:txBody>
          <a:bodyPr wrap="none" lIns="0" rIns="0" tIns="0" bIns="0" anchor="t">
            <a:spAutoFit/>
          </a:bodyPr>
          <a:lstStyle/>
          <a:p>
            <a:pPr algn="l">
              <a:lnSpc>
                <a:spcPts val="1261"/>
              </a:lnSpc>
            </a:pPr>
            <a:r>
              <a:rPr sz="969" b="0" i="0" spc="180">
                <a:solidFill>
                  <a:srgbClr val="D07A35"/>
                </a:solidFill>
                <a:latin typeface="Calibri"/>
              </a:rPr>
              <a:t>LIMITS, SAID PLAINLY</a:t>
            </a:r>
          </a:p>
        </p:txBody>
      </p:sp>
      <p:sp>
        <p:nvSpPr>
          <p:cNvPr id="42" name="TextBox 41"/>
          <p:cNvSpPr txBox="1"/>
          <p:nvPr/>
        </p:nvSpPr>
        <p:spPr>
          <a:xfrm>
            <a:off x="6890246" y="4039493"/>
            <a:ext cx="4355360" cy="8890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About 79% of Dubai buildings have no mapped height, so typical heights are used. Trees and awnings are only what is mapped. A passing cloud is not predicted. No field validation yet, so we claim no accuracy percentage.</a:t>
            </a:r>
          </a:p>
        </p:txBody>
      </p:sp>
      <p:sp>
        <p:nvSpPr>
          <p:cNvPr id="43" name="TextBox 42"/>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docs/ACCURACY.md, docs/VALIDATION.md, docs/PROGRESS.md. Next step: walk the hero routes with a light sensor and compare.</a:t>
            </a:r>
          </a:p>
        </p:txBody>
      </p:sp>
      <p:sp>
        <p:nvSpPr>
          <p:cNvPr id="44" name="TextBox 43"/>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45" name="TextBox 44"/>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31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73150" y="275302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73150" y="336639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73150" y="373975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42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942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42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914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545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550" y="299303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54550" y="360640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54550" y="397976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75600" y="1890712"/>
            <a:ext cx="3403600" cy="2962771"/>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5600" y="1890712"/>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4847134"/>
            <a:ext cx="34036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72850" y="1890712"/>
            <a:ext cx="6350" cy="2962771"/>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35950" y="2379662"/>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35950" y="275302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35950" y="3126383"/>
            <a:ext cx="28829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12 · SECURITY AND PRIVACY</a:t>
            </a:r>
          </a:p>
        </p:txBody>
      </p:sp>
      <p:sp>
        <p:nvSpPr>
          <p:cNvPr id="30" name="TextBox 29"/>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Nothing to steal: we store no user data.</a:t>
            </a:r>
          </a:p>
        </p:txBody>
      </p:sp>
      <p:sp>
        <p:nvSpPr>
          <p:cNvPr id="31" name="TextBox 30"/>
          <p:cNvSpPr txBox="1"/>
          <p:nvPr/>
        </p:nvSpPr>
        <p:spPr>
          <a:xfrm>
            <a:off x="10731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BY DESIGN</a:t>
            </a:r>
          </a:p>
        </p:txBody>
      </p:sp>
      <p:sp>
        <p:nvSpPr>
          <p:cNvPr id="32" name="TextBox 31"/>
          <p:cNvSpPr txBox="1"/>
          <p:nvPr/>
        </p:nvSpPr>
        <p:spPr>
          <a:xfrm>
            <a:off x="1073150" y="2443162"/>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No accounts, no user database</a:t>
            </a:r>
          </a:p>
        </p:txBody>
      </p:sp>
      <p:sp>
        <p:nvSpPr>
          <p:cNvPr id="33" name="TextBox 32"/>
          <p:cNvSpPr txBox="1"/>
          <p:nvPr/>
        </p:nvSpPr>
        <p:spPr>
          <a:xfrm>
            <a:off x="1073150" y="281652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Location used per request, then discarded</a:t>
            </a:r>
          </a:p>
        </p:txBody>
      </p:sp>
      <p:sp>
        <p:nvSpPr>
          <p:cNvPr id="34" name="TextBox 33"/>
          <p:cNvSpPr txBox="1"/>
          <p:nvPr/>
        </p:nvSpPr>
        <p:spPr>
          <a:xfrm>
            <a:off x="1073150" y="342989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Logs scrub coordinates and keys</a:t>
            </a:r>
          </a:p>
        </p:txBody>
      </p:sp>
      <p:sp>
        <p:nvSpPr>
          <p:cNvPr id="35" name="TextBox 34"/>
          <p:cNvSpPr txBox="1"/>
          <p:nvPr/>
        </p:nvSpPr>
        <p:spPr>
          <a:xfrm>
            <a:off x="1073150" y="380325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No ads, no third-party trackers</a:t>
            </a:r>
          </a:p>
        </p:txBody>
      </p:sp>
      <p:sp>
        <p:nvSpPr>
          <p:cNvPr id="36" name="TextBox 35"/>
          <p:cNvSpPr txBox="1"/>
          <p:nvPr/>
        </p:nvSpPr>
        <p:spPr>
          <a:xfrm>
            <a:off x="46545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ON THE LIVE SITE</a:t>
            </a:r>
          </a:p>
        </p:txBody>
      </p:sp>
      <p:sp>
        <p:nvSpPr>
          <p:cNvPr id="37" name="TextBox 36"/>
          <p:cNvSpPr txBox="1"/>
          <p:nvPr/>
        </p:nvSpPr>
        <p:spPr>
          <a:xfrm>
            <a:off x="4654550" y="2443162"/>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Per-IP rate limits, tightest on the AI agent</a:t>
            </a:r>
          </a:p>
        </p:txBody>
      </p:sp>
      <p:sp>
        <p:nvSpPr>
          <p:cNvPr id="38" name="TextBox 37"/>
          <p:cNvSpPr txBox="1"/>
          <p:nvPr/>
        </p:nvSpPr>
        <p:spPr>
          <a:xfrm>
            <a:off x="4654550" y="305653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64 KB request cap, 1,000-character text cap</a:t>
            </a:r>
          </a:p>
        </p:txBody>
      </p:sp>
      <p:sp>
        <p:nvSpPr>
          <p:cNvPr id="39" name="TextBox 38"/>
          <p:cNvSpPr txBox="1"/>
          <p:nvPr/>
        </p:nvSpPr>
        <p:spPr>
          <a:xfrm>
            <a:off x="4654550" y="366990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CORS locked to our domain</a:t>
            </a:r>
          </a:p>
        </p:txBody>
      </p:sp>
      <p:sp>
        <p:nvSpPr>
          <p:cNvPr id="40" name="TextBox 39"/>
          <p:cNvSpPr txBox="1"/>
          <p:nvPr/>
        </p:nvSpPr>
        <p:spPr>
          <a:xfrm>
            <a:off x="4654550" y="4043263"/>
            <a:ext cx="2969387" cy="48637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CSP, HSTS, no framing (except the hotel widget)</a:t>
            </a:r>
          </a:p>
        </p:txBody>
      </p:sp>
      <p:sp>
        <p:nvSpPr>
          <p:cNvPr id="41" name="TextBox 40"/>
          <p:cNvSpPr txBox="1"/>
          <p:nvPr/>
        </p:nvSpPr>
        <p:spPr>
          <a:xfrm>
            <a:off x="8235950" y="2151062"/>
            <a:ext cx="28829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SECRETS AND AUDIT</a:t>
            </a:r>
          </a:p>
        </p:txBody>
      </p:sp>
      <p:sp>
        <p:nvSpPr>
          <p:cNvPr id="42" name="TextBox 41"/>
          <p:cNvSpPr txBox="1"/>
          <p:nvPr/>
        </p:nvSpPr>
        <p:spPr>
          <a:xfrm>
            <a:off x="8235950" y="2443162"/>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LLM key stays on the server</a:t>
            </a:r>
          </a:p>
        </p:txBody>
      </p:sp>
      <p:sp>
        <p:nvSpPr>
          <p:cNvPr id="43" name="TextBox 42"/>
          <p:cNvSpPr txBox="1"/>
          <p:nvPr/>
        </p:nvSpPr>
        <p:spPr>
          <a:xfrm>
            <a:off x="8235950" y="2816523"/>
            <a:ext cx="2882900" cy="246360"/>
          </a:xfrm>
          <a:prstGeom prst="rect">
            <a:avLst/>
          </a:prstGeom>
          <a:noFill/>
        </p:spPr>
        <p:txBody>
          <a:bodyPr wrap="none" lIns="0" rIns="0" tIns="0" bIns="0" anchor="t">
            <a:spAutoFit/>
          </a:bodyPr>
          <a:lstStyle/>
          <a:p>
            <a:pPr algn="l">
              <a:lnSpc>
                <a:spcPts val="1833"/>
              </a:lnSpc>
            </a:pPr>
            <a:r>
              <a:rPr sz="1309" b="0" i="0">
                <a:solidFill>
                  <a:srgbClr val="F4EEE1"/>
                </a:solidFill>
                <a:latin typeface="Calibri"/>
              </a:rPr>
              <a:t>pip-audit: no known vulnerabilities</a:t>
            </a:r>
          </a:p>
        </p:txBody>
      </p:sp>
      <p:sp>
        <p:nvSpPr>
          <p:cNvPr id="44" name="TextBox 43"/>
          <p:cNvSpPr txBox="1"/>
          <p:nvPr/>
        </p:nvSpPr>
        <p:spPr>
          <a:xfrm>
            <a:off x="8235950" y="3189883"/>
            <a:ext cx="2969387" cy="726380"/>
          </a:xfrm>
          <a:prstGeom prst="rect">
            <a:avLst/>
          </a:prstGeom>
          <a:noFill/>
        </p:spPr>
        <p:txBody>
          <a:bodyPr wrap="square" lIns="0" rIns="0" tIns="0" bIns="0" anchor="t">
            <a:spAutoFit/>
          </a:bodyPr>
          <a:lstStyle/>
          <a:p>
            <a:pPr algn="l">
              <a:lnSpc>
                <a:spcPts val="1833"/>
              </a:lnSpc>
            </a:pPr>
            <a:r>
              <a:rPr sz="1309" b="0" i="0">
                <a:solidFill>
                  <a:srgbClr val="F4EEE1"/>
                </a:solidFill>
                <a:latin typeface="Calibri"/>
              </a:rPr>
              <a:t>npm audit: 2 findings, both in Next’s build-time PostCSS; the fix is a major upgrade</a:t>
            </a:r>
          </a:p>
        </p:txBody>
      </p:sp>
      <p:sp>
        <p:nvSpPr>
          <p:cNvPr id="45" name="TextBox 44"/>
          <p:cNvSpPr txBox="1"/>
          <p:nvPr/>
        </p:nvSpPr>
        <p:spPr>
          <a:xfrm>
            <a:off x="812800" y="5082084"/>
            <a:ext cx="9810750" cy="476250"/>
          </a:xfrm>
          <a:prstGeom prst="rect">
            <a:avLst/>
          </a:prstGeom>
          <a:noFill/>
        </p:spPr>
        <p:txBody>
          <a:bodyPr wrap="square" lIns="0" rIns="0" tIns="0" bIns="0" anchor="t">
            <a:spAutoFit/>
          </a:bodyPr>
          <a:lstStyle/>
          <a:p>
            <a:pPr algn="l">
              <a:lnSpc>
                <a:spcPts val="1818"/>
              </a:lnSpc>
            </a:pPr>
            <a:r>
              <a:rPr sz="1212" b="0" i="0">
                <a:solidFill>
                  <a:srgbClr val="F4EEE1">
                    <a:alpha val="62000"/>
                  </a:srgbClr>
                </a:solidFill>
                <a:latin typeface="Calibri"/>
              </a:rPr>
              <a:t>We aim to align with the UAE PDPL and the GDPR by design. This is an aim, not a certification. No external penetration test yet; it comes before any B2B launch.</a:t>
            </a:r>
          </a:p>
        </p:txBody>
      </p:sp>
      <p:sp>
        <p:nvSpPr>
          <p:cNvPr id="46" name="TextBox 45"/>
          <p:cNvSpPr txBox="1"/>
          <p:nvPr/>
        </p:nvSpPr>
        <p:spPr>
          <a:xfrm>
            <a:off x="812800" y="6045200"/>
            <a:ext cx="10566400" cy="152400"/>
          </a:xfrm>
          <a:prstGeom prst="rect">
            <a:avLst/>
          </a:prstGeom>
          <a:noFill/>
        </p:spPr>
        <p:txBody>
          <a:bodyPr wrap="none" lIns="0" rIns="0" tIns="0" bIns="0" anchor="t">
            <a:spAutoFit/>
          </a:bodyPr>
          <a:lstStyle/>
          <a:p>
            <a:pPr algn="l">
              <a:lnSpc>
                <a:spcPts val="1164"/>
              </a:lnSpc>
            </a:pPr>
            <a:r>
              <a:rPr sz="776" b="0" i="0">
                <a:solidFill>
                  <a:srgbClr val="F4EEE1">
                    <a:alpha val="50000"/>
                  </a:srgbClr>
                </a:solidFill>
                <a:latin typeface="Calibri"/>
              </a:rPr>
              <a:t>Source: docs/SECURITY.md. Controls implemented in backend/zill/api/security.py and frontend/next.config.ts (2026-10-23).</a:t>
            </a:r>
          </a:p>
        </p:txBody>
      </p:sp>
      <p:sp>
        <p:nvSpPr>
          <p:cNvPr id="47" name="TextBox 46"/>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48" name="TextBox 47"/>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919585"/>
            <a:ext cx="3169841"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982641" y="1919585"/>
            <a:ext cx="5655866"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38506" y="1919585"/>
            <a:ext cx="1740694"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555180"/>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982641" y="2555180"/>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38506" y="2555180"/>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3289796"/>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82641" y="3289796"/>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38506" y="3289796"/>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 y="3892352"/>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82641" y="3892352"/>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38506" y="3892352"/>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4626967"/>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82641" y="4626967"/>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38506" y="4626967"/>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5360988"/>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82641" y="5360988"/>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638506" y="5360988"/>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800" y="6186388"/>
            <a:ext cx="3169841"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82641" y="6186388"/>
            <a:ext cx="5655866"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38506" y="6186388"/>
            <a:ext cx="174069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13 · WHO PAYS, AND WHO ELSE NEEDS IT</a:t>
            </a:r>
          </a:p>
        </p:txBody>
      </p:sp>
      <p:sp>
        <p:nvSpPr>
          <p:cNvPr id="25" name="TextBox 24"/>
          <p:cNvSpPr txBox="1"/>
          <p:nvPr/>
        </p:nvSpPr>
        <p:spPr>
          <a:xfrm>
            <a:off x="812800" y="1117600"/>
            <a:ext cx="8255000" cy="411460"/>
          </a:xfrm>
          <a:prstGeom prst="rect">
            <a:avLst/>
          </a:prstGeom>
          <a:noFill/>
        </p:spPr>
        <p:txBody>
          <a:bodyPr wrap="none" lIns="0" rIns="0" tIns="0" bIns="0" anchor="t">
            <a:spAutoFit/>
          </a:bodyPr>
          <a:lstStyle/>
          <a:p>
            <a:pPr algn="l">
              <a:lnSpc>
                <a:spcPts val="3142"/>
              </a:lnSpc>
            </a:pPr>
            <a:r>
              <a:rPr sz="2511" b="0" i="0" spc="-30">
                <a:solidFill>
                  <a:srgbClr val="E9DCBC"/>
                </a:solidFill>
                <a:latin typeface="Georgia"/>
              </a:rPr>
              <a:t>Who pays.</a:t>
            </a:r>
          </a:p>
        </p:txBody>
      </p:sp>
      <p:sp>
        <p:nvSpPr>
          <p:cNvPr id="26" name="TextBox 25"/>
          <p:cNvSpPr txBox="1"/>
          <p:nvPr/>
        </p:nvSpPr>
        <p:spPr>
          <a:xfrm>
            <a:off x="812800" y="1694160"/>
            <a:ext cx="3017441"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SEGMENT</a:t>
            </a:r>
          </a:p>
        </p:txBody>
      </p:sp>
      <p:sp>
        <p:nvSpPr>
          <p:cNvPr id="27" name="TextBox 26"/>
          <p:cNvSpPr txBox="1"/>
          <p:nvPr/>
        </p:nvSpPr>
        <p:spPr>
          <a:xfrm>
            <a:off x="3982641" y="1694160"/>
            <a:ext cx="5503466"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WHAT THEY GET</a:t>
            </a:r>
          </a:p>
        </p:txBody>
      </p:sp>
      <p:sp>
        <p:nvSpPr>
          <p:cNvPr id="28" name="TextBox 27"/>
          <p:cNvSpPr txBox="1"/>
          <p:nvPr/>
        </p:nvSpPr>
        <p:spPr>
          <a:xfrm>
            <a:off x="9638506" y="1694160"/>
            <a:ext cx="1588294"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HOW THEY PAY</a:t>
            </a:r>
          </a:p>
        </p:txBody>
      </p:sp>
      <p:sp>
        <p:nvSpPr>
          <p:cNvPr id="29" name="TextBox 28"/>
          <p:cNvSpPr txBox="1"/>
          <p:nvPr/>
        </p:nvSpPr>
        <p:spPr>
          <a:xfrm>
            <a:off x="812800" y="2043410"/>
            <a:ext cx="2915841" cy="241300"/>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Delivery fleets</a:t>
            </a:r>
          </a:p>
        </p:txBody>
      </p:sp>
      <p:sp>
        <p:nvSpPr>
          <p:cNvPr id="30" name="TextBox 29"/>
          <p:cNvSpPr txBox="1"/>
          <p:nvPr/>
        </p:nvSpPr>
        <p:spPr>
          <a:xfrm>
            <a:off x="812800" y="2318345"/>
            <a:ext cx="2992041"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targets such as Talabat, Deliveroo, Careem</a:t>
            </a:r>
          </a:p>
        </p:txBody>
      </p:sp>
      <p:sp>
        <p:nvSpPr>
          <p:cNvPr id="31" name="TextBox 30"/>
          <p:cNvSpPr txBox="1"/>
          <p:nvPr/>
        </p:nvSpPr>
        <p:spPr>
          <a:xfrm>
            <a:off x="3982641" y="2033885"/>
            <a:ext cx="5642408" cy="41969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Heat-aware routes and shift pacing for riders</a:t>
            </a:r>
          </a:p>
        </p:txBody>
      </p:sp>
      <p:sp>
        <p:nvSpPr>
          <p:cNvPr id="32" name="TextBox 31"/>
          <p:cNvSpPr txBox="1"/>
          <p:nvPr/>
        </p:nvSpPr>
        <p:spPr>
          <a:xfrm>
            <a:off x="9638506" y="2043410"/>
            <a:ext cx="1486694" cy="209550"/>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Per rider per month</a:t>
            </a:r>
          </a:p>
        </p:txBody>
      </p:sp>
      <p:sp>
        <p:nvSpPr>
          <p:cNvPr id="33" name="TextBox 32"/>
          <p:cNvSpPr txBox="1"/>
          <p:nvPr/>
        </p:nvSpPr>
        <p:spPr>
          <a:xfrm>
            <a:off x="9638506" y="2285305"/>
            <a:ext cx="1562894"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pricing hypothesis: ~$1</a:t>
            </a:r>
          </a:p>
        </p:txBody>
      </p:sp>
      <p:sp>
        <p:nvSpPr>
          <p:cNvPr id="34" name="TextBox 33"/>
          <p:cNvSpPr txBox="1"/>
          <p:nvPr/>
        </p:nvSpPr>
        <p:spPr>
          <a:xfrm>
            <a:off x="812800" y="2669480"/>
            <a:ext cx="3081802" cy="518716"/>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Hotels and tourism boards</a:t>
            </a:r>
          </a:p>
        </p:txBody>
      </p:sp>
      <p:sp>
        <p:nvSpPr>
          <p:cNvPr id="35" name="TextBox 34"/>
          <p:cNvSpPr txBox="1"/>
          <p:nvPr/>
        </p:nvSpPr>
        <p:spPr>
          <a:xfrm>
            <a:off x="3982641" y="2669480"/>
            <a:ext cx="5642408" cy="518716"/>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“Walk there in the shade, or in the sun” guest concierge</a:t>
            </a:r>
          </a:p>
        </p:txBody>
      </p:sp>
      <p:sp>
        <p:nvSpPr>
          <p:cNvPr id="36" name="TextBox 35"/>
          <p:cNvSpPr txBox="1"/>
          <p:nvPr/>
        </p:nvSpPr>
        <p:spPr>
          <a:xfrm>
            <a:off x="9638506" y="2679005"/>
            <a:ext cx="1486694" cy="209550"/>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Per hotel per month</a:t>
            </a:r>
          </a:p>
        </p:txBody>
      </p:sp>
      <p:sp>
        <p:nvSpPr>
          <p:cNvPr id="37" name="TextBox 36"/>
          <p:cNvSpPr txBox="1"/>
          <p:nvPr/>
        </p:nvSpPr>
        <p:spPr>
          <a:xfrm>
            <a:off x="9638506" y="2920901"/>
            <a:ext cx="1609781" cy="264120"/>
          </a:xfrm>
          <a:prstGeom prst="rect">
            <a:avLst/>
          </a:prstGeom>
          <a:noFill/>
        </p:spPr>
        <p:txBody>
          <a:bodyPr wrap="square" lIns="0" rIns="0" tIns="0" bIns="0" anchor="t">
            <a:spAutoFit/>
          </a:bodyPr>
          <a:lstStyle/>
          <a:p>
            <a:pPr algn="l">
              <a:lnSpc>
                <a:spcPts val="1008"/>
              </a:lnSpc>
            </a:pPr>
            <a:r>
              <a:rPr sz="776" b="0" i="0">
                <a:solidFill>
                  <a:srgbClr val="F4EEE1">
                    <a:alpha val="62000"/>
                  </a:srgbClr>
                </a:solidFill>
                <a:latin typeface="Calibri"/>
              </a:rPr>
              <a:t>pricing hypothesis: ~$99 per property</a:t>
            </a:r>
          </a:p>
        </p:txBody>
      </p:sp>
      <p:sp>
        <p:nvSpPr>
          <p:cNvPr id="38" name="TextBox 37"/>
          <p:cNvSpPr txBox="1"/>
          <p:nvPr/>
        </p:nvSpPr>
        <p:spPr>
          <a:xfrm>
            <a:off x="812800" y="3404096"/>
            <a:ext cx="3081802" cy="386655"/>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Employers of outdoor workers</a:t>
            </a:r>
          </a:p>
        </p:txBody>
      </p:sp>
      <p:sp>
        <p:nvSpPr>
          <p:cNvPr id="39" name="TextBox 38"/>
          <p:cNvSpPr txBox="1"/>
          <p:nvPr/>
        </p:nvSpPr>
        <p:spPr>
          <a:xfrm>
            <a:off x="3982641" y="3404096"/>
            <a:ext cx="5642408" cy="386655"/>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Shift planner that respects the midday break</a:t>
            </a:r>
          </a:p>
        </p:txBody>
      </p:sp>
      <p:sp>
        <p:nvSpPr>
          <p:cNvPr id="40" name="TextBox 39"/>
          <p:cNvSpPr txBox="1"/>
          <p:nvPr/>
        </p:nvSpPr>
        <p:spPr>
          <a:xfrm>
            <a:off x="9638506" y="3413621"/>
            <a:ext cx="1486694" cy="209550"/>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Per site per month</a:t>
            </a:r>
          </a:p>
        </p:txBody>
      </p:sp>
      <p:sp>
        <p:nvSpPr>
          <p:cNvPr id="41" name="TextBox 40"/>
          <p:cNvSpPr txBox="1"/>
          <p:nvPr/>
        </p:nvSpPr>
        <p:spPr>
          <a:xfrm>
            <a:off x="9638506" y="3655516"/>
            <a:ext cx="1562894"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pricing hypothesis: ~$49</a:t>
            </a:r>
          </a:p>
        </p:txBody>
      </p:sp>
      <p:sp>
        <p:nvSpPr>
          <p:cNvPr id="42" name="TextBox 41"/>
          <p:cNvSpPr txBox="1"/>
          <p:nvPr/>
        </p:nvSpPr>
        <p:spPr>
          <a:xfrm>
            <a:off x="812800" y="4016177"/>
            <a:ext cx="2915841" cy="241300"/>
          </a:xfrm>
          <a:prstGeom prst="rect">
            <a:avLst/>
          </a:prstGeom>
          <a:noFill/>
        </p:spPr>
        <p:txBody>
          <a:bodyPr wrap="none" lIns="0" rIns="0" tIns="0" bIns="0" anchor="t">
            <a:spAutoFit/>
          </a:bodyPr>
          <a:lstStyle/>
          <a:p>
            <a:pPr algn="l">
              <a:lnSpc>
                <a:spcPts val="1954"/>
              </a:lnSpc>
            </a:pPr>
            <a:r>
              <a:rPr sz="1441" b="0" i="0">
                <a:solidFill>
                  <a:srgbClr val="E9DCBC"/>
                </a:solidFill>
                <a:latin typeface="Georgia"/>
              </a:rPr>
              <a:t>Cities and city planners</a:t>
            </a:r>
          </a:p>
        </p:txBody>
      </p:sp>
      <p:sp>
        <p:nvSpPr>
          <p:cNvPr id="43" name="TextBox 42"/>
          <p:cNvSpPr txBox="1"/>
          <p:nvPr/>
        </p:nvSpPr>
        <p:spPr>
          <a:xfrm>
            <a:off x="812800" y="4291112"/>
            <a:ext cx="2992041"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B2G planning analytics</a:t>
            </a:r>
          </a:p>
        </p:txBody>
      </p:sp>
      <p:sp>
        <p:nvSpPr>
          <p:cNvPr id="44" name="TextBox 43"/>
          <p:cNvSpPr txBox="1"/>
          <p:nvPr/>
        </p:nvSpPr>
        <p:spPr>
          <a:xfrm>
            <a:off x="3982641" y="4006652"/>
            <a:ext cx="5642408" cy="518716"/>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Where to plant trees or add shade, from the same engine</a:t>
            </a:r>
          </a:p>
        </p:txBody>
      </p:sp>
      <p:sp>
        <p:nvSpPr>
          <p:cNvPr id="45" name="TextBox 44"/>
          <p:cNvSpPr txBox="1"/>
          <p:nvPr/>
        </p:nvSpPr>
        <p:spPr>
          <a:xfrm>
            <a:off x="9638506" y="4016177"/>
            <a:ext cx="1486694" cy="209550"/>
          </a:xfrm>
          <a:prstGeom prst="rect">
            <a:avLst/>
          </a:prstGeom>
          <a:noFill/>
        </p:spPr>
        <p:txBody>
          <a:bodyPr wrap="none" lIns="0" rIns="0" tIns="0" bIns="0" anchor="t">
            <a:spAutoFit/>
          </a:bodyPr>
          <a:lstStyle/>
          <a:p>
            <a:pPr algn="l">
              <a:lnSpc>
                <a:spcPts val="1702"/>
              </a:lnSpc>
            </a:pPr>
            <a:r>
              <a:rPr sz="1309" b="0" i="0">
                <a:solidFill>
                  <a:srgbClr val="C8A15A"/>
                </a:solidFill>
                <a:latin typeface="Calibri"/>
              </a:rPr>
              <a:t>City licence</a:t>
            </a:r>
          </a:p>
        </p:txBody>
      </p:sp>
      <p:sp>
        <p:nvSpPr>
          <p:cNvPr id="46" name="TextBox 45"/>
          <p:cNvSpPr txBox="1"/>
          <p:nvPr/>
        </p:nvSpPr>
        <p:spPr>
          <a:xfrm>
            <a:off x="9638506" y="4258072"/>
            <a:ext cx="1609781" cy="264120"/>
          </a:xfrm>
          <a:prstGeom prst="rect">
            <a:avLst/>
          </a:prstGeom>
          <a:noFill/>
        </p:spPr>
        <p:txBody>
          <a:bodyPr wrap="square" lIns="0" rIns="0" tIns="0" bIns="0" anchor="t">
            <a:spAutoFit/>
          </a:bodyPr>
          <a:lstStyle/>
          <a:p>
            <a:pPr algn="l">
              <a:lnSpc>
                <a:spcPts val="1008"/>
              </a:lnSpc>
            </a:pPr>
            <a:r>
              <a:rPr sz="776" b="0" i="0">
                <a:solidFill>
                  <a:srgbClr val="F4EEE1">
                    <a:alpha val="62000"/>
                  </a:srgbClr>
                </a:solidFill>
                <a:latin typeface="Calibri"/>
              </a:rPr>
              <a:t>pricing hypothesis: ~$15,000 per year</a:t>
            </a:r>
          </a:p>
        </p:txBody>
      </p:sp>
      <p:sp>
        <p:nvSpPr>
          <p:cNvPr id="47" name="TextBox 46"/>
          <p:cNvSpPr txBox="1"/>
          <p:nvPr/>
        </p:nvSpPr>
        <p:spPr>
          <a:xfrm>
            <a:off x="812800" y="4741267"/>
            <a:ext cx="3081802" cy="518120"/>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Schools, elderly care, events, real estate</a:t>
            </a:r>
          </a:p>
        </p:txBody>
      </p:sp>
      <p:sp>
        <p:nvSpPr>
          <p:cNvPr id="48" name="TextBox 47"/>
          <p:cNvSpPr txBox="1"/>
          <p:nvPr/>
        </p:nvSpPr>
        <p:spPr>
          <a:xfrm>
            <a:off x="3982641" y="4741267"/>
            <a:ext cx="5642408" cy="518120"/>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Shaded routes and outdoor-time planning; shade and sun reports for sites and venues</a:t>
            </a:r>
          </a:p>
        </p:txBody>
      </p:sp>
      <p:sp>
        <p:nvSpPr>
          <p:cNvPr id="49" name="TextBox 48"/>
          <p:cNvSpPr txBox="1"/>
          <p:nvPr/>
        </p:nvSpPr>
        <p:spPr>
          <a:xfrm>
            <a:off x="9638506" y="4741267"/>
            <a:ext cx="1609781" cy="518120"/>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Per site subscription</a:t>
            </a:r>
          </a:p>
        </p:txBody>
      </p:sp>
      <p:sp>
        <p:nvSpPr>
          <p:cNvPr id="50" name="TextBox 49"/>
          <p:cNvSpPr txBox="1"/>
          <p:nvPr/>
        </p:nvSpPr>
        <p:spPr>
          <a:xfrm>
            <a:off x="812800" y="5475288"/>
            <a:ext cx="3081802" cy="609501"/>
          </a:xfrm>
          <a:prstGeom prst="rect">
            <a:avLst/>
          </a:prstGeom>
          <a:noFill/>
        </p:spPr>
        <p:txBody>
          <a:bodyPr wrap="square" lIns="0" rIns="0" tIns="0" bIns="0" anchor="t">
            <a:spAutoFit/>
          </a:bodyPr>
          <a:lstStyle/>
          <a:p>
            <a:pPr algn="l">
              <a:lnSpc>
                <a:spcPts val="1954"/>
              </a:lnSpc>
            </a:pPr>
            <a:r>
              <a:rPr sz="1441" b="0" i="0">
                <a:solidFill>
                  <a:srgbClr val="E9DCBC"/>
                </a:solidFill>
                <a:latin typeface="Georgia"/>
              </a:rPr>
              <a:t>Corporate well-being and insurers</a:t>
            </a:r>
          </a:p>
        </p:txBody>
      </p:sp>
      <p:sp>
        <p:nvSpPr>
          <p:cNvPr id="51" name="TextBox 50"/>
          <p:cNvSpPr txBox="1"/>
          <p:nvPr/>
        </p:nvSpPr>
        <p:spPr>
          <a:xfrm>
            <a:off x="3982641" y="5475288"/>
            <a:ext cx="5642408" cy="609501"/>
          </a:xfrm>
          <a:prstGeom prst="rect">
            <a:avLst/>
          </a:prstGeom>
          <a:noFill/>
        </p:spPr>
        <p:txBody>
          <a:bodyPr wrap="square" lIns="0" rIns="0" tIns="0" bIns="0" anchor="t">
            <a:spAutoFit/>
          </a:bodyPr>
          <a:lstStyle/>
          <a:p>
            <a:pPr algn="l">
              <a:lnSpc>
                <a:spcPts val="1702"/>
              </a:lnSpc>
            </a:pPr>
            <a:r>
              <a:rPr sz="1309" b="0" i="0">
                <a:solidFill>
                  <a:srgbClr val="F4EEE1"/>
                </a:solidFill>
                <a:latin typeface="Calibri"/>
              </a:rPr>
              <a:t>Daylight-walk programmes for staff</a:t>
            </a:r>
          </a:p>
        </p:txBody>
      </p:sp>
      <p:sp>
        <p:nvSpPr>
          <p:cNvPr id="52" name="TextBox 51"/>
          <p:cNvSpPr txBox="1"/>
          <p:nvPr/>
        </p:nvSpPr>
        <p:spPr>
          <a:xfrm>
            <a:off x="9638506" y="5484812"/>
            <a:ext cx="1531295" cy="432395"/>
          </a:xfrm>
          <a:prstGeom prst="rect">
            <a:avLst/>
          </a:prstGeom>
          <a:noFill/>
        </p:spPr>
        <p:txBody>
          <a:bodyPr wrap="square" lIns="0" rIns="0" tIns="0" bIns="0" anchor="t">
            <a:spAutoFit/>
          </a:bodyPr>
          <a:lstStyle/>
          <a:p>
            <a:pPr algn="l">
              <a:lnSpc>
                <a:spcPts val="1702"/>
              </a:lnSpc>
            </a:pPr>
            <a:r>
              <a:rPr sz="1309" b="0" i="0">
                <a:solidFill>
                  <a:srgbClr val="C8A15A"/>
                </a:solidFill>
                <a:latin typeface="Calibri"/>
              </a:rPr>
              <a:t>Per employee per year</a:t>
            </a:r>
          </a:p>
        </p:txBody>
      </p:sp>
      <p:sp>
        <p:nvSpPr>
          <p:cNvPr id="53" name="TextBox 52"/>
          <p:cNvSpPr txBox="1"/>
          <p:nvPr/>
        </p:nvSpPr>
        <p:spPr>
          <a:xfrm>
            <a:off x="9638506" y="5949553"/>
            <a:ext cx="1562894" cy="132060"/>
          </a:xfrm>
          <a:prstGeom prst="rect">
            <a:avLst/>
          </a:prstGeom>
          <a:noFill/>
        </p:spPr>
        <p:txBody>
          <a:bodyPr wrap="none" lIns="0" rIns="0" tIns="0" bIns="0" anchor="t">
            <a:spAutoFit/>
          </a:bodyPr>
          <a:lstStyle/>
          <a:p>
            <a:pPr algn="l">
              <a:lnSpc>
                <a:spcPts val="1008"/>
              </a:lnSpc>
            </a:pPr>
            <a:r>
              <a:rPr sz="776" b="0" i="0">
                <a:solidFill>
                  <a:srgbClr val="F4EEE1">
                    <a:alpha val="62000"/>
                  </a:srgbClr>
                </a:solidFill>
                <a:latin typeface="Calibri"/>
              </a:rPr>
              <a:t>pricing hypothesis: ~$12</a:t>
            </a:r>
          </a:p>
        </p:txBody>
      </p:sp>
      <p:sp>
        <p:nvSpPr>
          <p:cNvPr id="54" name="TextBox 53"/>
          <p:cNvSpPr txBox="1"/>
          <p:nvPr/>
        </p:nvSpPr>
        <p:spPr>
          <a:xfrm>
            <a:off x="812800" y="6310213"/>
            <a:ext cx="10566400" cy="190500"/>
          </a:xfrm>
          <a:prstGeom prst="rect">
            <a:avLst/>
          </a:prstGeom>
          <a:noFill/>
        </p:spPr>
        <p:txBody>
          <a:bodyPr wrap="none" lIns="0" rIns="0" tIns="0" bIns="0" anchor="t">
            <a:spAutoFit/>
          </a:bodyPr>
          <a:lstStyle/>
          <a:p>
            <a:pPr algn="l">
              <a:lnSpc>
                <a:spcPts val="1455"/>
              </a:lnSpc>
            </a:pPr>
            <a:r>
              <a:rPr sz="969" b="0" i="0">
                <a:solidFill>
                  <a:srgbClr val="F4EEE1">
                    <a:alpha val="62000"/>
                  </a:srgbClr>
                </a:solidFill>
                <a:latin typeface="Calibri"/>
              </a:rPr>
              <a:t>Prices shown are our pricing hypotheses, not validated quotes. Consumer premium: ~$2.99 per month, no ads.</a:t>
            </a:r>
          </a:p>
        </p:txBody>
      </p:sp>
      <p:sp>
        <p:nvSpPr>
          <p:cNvPr id="55" name="TextBox 54"/>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56" name="TextBox 55"/>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5638800" y="132080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38800" y="1958975"/>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38800" y="25971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38800" y="3511550"/>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38800" y="4149725"/>
            <a:ext cx="5740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812800"/>
            <a:ext cx="40640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14 · BUSINESS MODEL</a:t>
            </a:r>
          </a:p>
        </p:txBody>
      </p:sp>
      <p:sp>
        <p:nvSpPr>
          <p:cNvPr id="9" name="TextBox 8"/>
          <p:cNvSpPr txBox="1"/>
          <p:nvPr/>
        </p:nvSpPr>
        <p:spPr>
          <a:xfrm>
            <a:off x="812800" y="1143000"/>
            <a:ext cx="4064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Freemium. No ads.</a:t>
            </a:r>
          </a:p>
        </p:txBody>
      </p:sp>
      <p:sp>
        <p:nvSpPr>
          <p:cNvPr id="10" name="TextBox 9"/>
          <p:cNvSpPr txBox="1"/>
          <p:nvPr/>
        </p:nvSpPr>
        <p:spPr>
          <a:xfrm>
            <a:off x="812800" y="1941512"/>
            <a:ext cx="4185920" cy="603250"/>
          </a:xfrm>
          <a:prstGeom prst="rect">
            <a:avLst/>
          </a:prstGeom>
          <a:noFill/>
        </p:spPr>
        <p:txBody>
          <a:bodyPr wrap="square" lIns="0" rIns="0" tIns="0" bIns="0" anchor="t">
            <a:spAutoFit/>
          </a:bodyPr>
          <a:lstStyle/>
          <a:p>
            <a:pPr algn="l">
              <a:lnSpc>
                <a:spcPts val="2303"/>
              </a:lnSpc>
            </a:pPr>
            <a:r>
              <a:rPr sz="1767" b="0" i="0">
                <a:solidFill>
                  <a:srgbClr val="E9DCBC"/>
                </a:solidFill>
                <a:latin typeface="Georgia"/>
              </a:rPr>
              <a:t>No ads, because </a:t>
            </a:r>
            <a:r>
              <a:rPr sz="1767" b="0" i="0">
                <a:solidFill>
                  <a:srgbClr val="C8A15A"/>
                </a:solidFill>
                <a:latin typeface="Georgia"/>
              </a:rPr>
              <a:t>selling attention would mean selling location.</a:t>
            </a:r>
          </a:p>
        </p:txBody>
      </p:sp>
      <p:sp>
        <p:nvSpPr>
          <p:cNvPr id="11" name="TextBox 10"/>
          <p:cNvSpPr txBox="1"/>
          <p:nvPr/>
        </p:nvSpPr>
        <p:spPr>
          <a:xfrm>
            <a:off x="812800" y="2722562"/>
            <a:ext cx="4185920" cy="460375"/>
          </a:xfrm>
          <a:prstGeom prst="rect">
            <a:avLst/>
          </a:prstGeom>
          <a:noFill/>
        </p:spPr>
        <p:txBody>
          <a:bodyPr wrap="square" lIns="0" rIns="0" tIns="0" bIns="0" anchor="t">
            <a:spAutoFit/>
          </a:bodyPr>
          <a:lstStyle/>
          <a:p>
            <a:pPr algn="l">
              <a:lnSpc>
                <a:spcPts val="1758"/>
              </a:lnSpc>
            </a:pPr>
            <a:r>
              <a:rPr sz="1212" b="0" i="0">
                <a:solidFill>
                  <a:srgbClr val="F4EEE1">
                    <a:alpha val="62000"/>
                  </a:srgbClr>
                </a:solidFill>
                <a:latin typeface="Calibri"/>
              </a:rPr>
              <a:t>Keeping location out of any ad pipeline keeps the privacy story clean.</a:t>
            </a:r>
          </a:p>
        </p:txBody>
      </p:sp>
      <p:sp>
        <p:nvSpPr>
          <p:cNvPr id="12" name="TextBox 11"/>
          <p:cNvSpPr txBox="1"/>
          <p:nvPr/>
        </p:nvSpPr>
        <p:spPr>
          <a:xfrm>
            <a:off x="5638800" y="153670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01</a:t>
            </a:r>
          </a:p>
        </p:txBody>
      </p:sp>
      <p:sp>
        <p:nvSpPr>
          <p:cNvPr id="13" name="TextBox 12"/>
          <p:cNvSpPr txBox="1"/>
          <p:nvPr/>
        </p:nvSpPr>
        <p:spPr>
          <a:xfrm>
            <a:off x="6146800" y="1504950"/>
            <a:ext cx="5232400" cy="276225"/>
          </a:xfrm>
          <a:prstGeom prst="rect">
            <a:avLst/>
          </a:prstGeom>
          <a:noFill/>
        </p:spPr>
        <p:txBody>
          <a:bodyPr wrap="none" lIns="0" rIns="0" tIns="0" bIns="0" anchor="t">
            <a:spAutoFit/>
          </a:bodyPr>
          <a:lstStyle/>
          <a:p>
            <a:pPr algn="l">
              <a:lnSpc>
                <a:spcPts val="2109"/>
              </a:lnSpc>
            </a:pPr>
            <a:r>
              <a:rPr sz="1455" b="0" i="0">
                <a:solidFill>
                  <a:srgbClr val="E9DCBC"/>
                </a:solidFill>
                <a:latin typeface="Calibri"/>
              </a:rPr>
              <a:t>Free app</a:t>
            </a:r>
            <a:r>
              <a:rPr sz="1455" b="0" i="0">
                <a:solidFill>
                  <a:srgbClr val="F4EEE1"/>
                </a:solidFill>
                <a:latin typeface="Calibri"/>
              </a:rPr>
              <a:t> for individuals: reach and trust.</a:t>
            </a:r>
          </a:p>
        </p:txBody>
      </p:sp>
      <p:sp>
        <p:nvSpPr>
          <p:cNvPr id="14" name="TextBox 13"/>
          <p:cNvSpPr txBox="1"/>
          <p:nvPr/>
        </p:nvSpPr>
        <p:spPr>
          <a:xfrm>
            <a:off x="5638800" y="2174875"/>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02</a:t>
            </a:r>
          </a:p>
        </p:txBody>
      </p:sp>
      <p:sp>
        <p:nvSpPr>
          <p:cNvPr id="15" name="TextBox 14"/>
          <p:cNvSpPr txBox="1"/>
          <p:nvPr/>
        </p:nvSpPr>
        <p:spPr>
          <a:xfrm>
            <a:off x="6146800" y="2143125"/>
            <a:ext cx="5232400" cy="276225"/>
          </a:xfrm>
          <a:prstGeom prst="rect">
            <a:avLst/>
          </a:prstGeom>
          <a:noFill/>
        </p:spPr>
        <p:txBody>
          <a:bodyPr wrap="none" lIns="0" rIns="0" tIns="0" bIns="0" anchor="t">
            <a:spAutoFit/>
          </a:bodyPr>
          <a:lstStyle/>
          <a:p>
            <a:pPr algn="l">
              <a:lnSpc>
                <a:spcPts val="2109"/>
              </a:lnSpc>
            </a:pPr>
            <a:r>
              <a:rPr sz="1455" b="0" i="0">
                <a:solidFill>
                  <a:srgbClr val="E9DCBC"/>
                </a:solidFill>
                <a:latin typeface="Calibri"/>
              </a:rPr>
              <a:t>Optional premium:</a:t>
            </a:r>
            <a:r>
              <a:rPr sz="1455" b="0" i="0">
                <a:solidFill>
                  <a:srgbClr val="F4EEE1"/>
                </a:solidFill>
                <a:latin typeface="Calibri"/>
              </a:rPr>
              <a:t> saved routes and day plans.</a:t>
            </a:r>
          </a:p>
        </p:txBody>
      </p:sp>
      <p:sp>
        <p:nvSpPr>
          <p:cNvPr id="16" name="TextBox 15"/>
          <p:cNvSpPr txBox="1"/>
          <p:nvPr/>
        </p:nvSpPr>
        <p:spPr>
          <a:xfrm>
            <a:off x="5638800" y="281305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03</a:t>
            </a:r>
          </a:p>
        </p:txBody>
      </p:sp>
      <p:sp>
        <p:nvSpPr>
          <p:cNvPr id="17" name="TextBox 16"/>
          <p:cNvSpPr txBox="1"/>
          <p:nvPr/>
        </p:nvSpPr>
        <p:spPr>
          <a:xfrm>
            <a:off x="6146800" y="2781300"/>
            <a:ext cx="5389372" cy="552450"/>
          </a:xfrm>
          <a:prstGeom prst="rect">
            <a:avLst/>
          </a:prstGeom>
          <a:noFill/>
        </p:spPr>
        <p:txBody>
          <a:bodyPr wrap="square" lIns="0" rIns="0" tIns="0" bIns="0" anchor="t">
            <a:spAutoFit/>
          </a:bodyPr>
          <a:lstStyle/>
          <a:p>
            <a:pPr algn="l">
              <a:lnSpc>
                <a:spcPts val="2109"/>
              </a:lnSpc>
            </a:pPr>
            <a:r>
              <a:rPr sz="1455" b="0" i="0">
                <a:solidFill>
                  <a:srgbClr val="E9DCBC"/>
                </a:solidFill>
                <a:latin typeface="Calibri"/>
              </a:rPr>
              <a:t>B2B and B2G subscriptions</a:t>
            </a:r>
            <a:r>
              <a:rPr sz="1455" b="0" i="0">
                <a:solidFill>
                  <a:srgbClr val="F4EEE1"/>
                </a:solidFill>
                <a:latin typeface="Calibri"/>
              </a:rPr>
              <a:t> (fleets, hotels, employers, cities) as the main revenue.</a:t>
            </a:r>
          </a:p>
        </p:txBody>
      </p:sp>
      <p:sp>
        <p:nvSpPr>
          <p:cNvPr id="18" name="TextBox 17"/>
          <p:cNvSpPr txBox="1"/>
          <p:nvPr/>
        </p:nvSpPr>
        <p:spPr>
          <a:xfrm>
            <a:off x="5638800" y="3727450"/>
            <a:ext cx="508000" cy="239316"/>
          </a:xfrm>
          <a:prstGeom prst="rect">
            <a:avLst/>
          </a:prstGeom>
          <a:noFill/>
        </p:spPr>
        <p:txBody>
          <a:bodyPr wrap="none" lIns="0" rIns="0" tIns="0" bIns="0" anchor="t">
            <a:spAutoFit/>
          </a:bodyPr>
          <a:lstStyle/>
          <a:p>
            <a:pPr algn="l">
              <a:lnSpc>
                <a:spcPts val="1828"/>
              </a:lnSpc>
            </a:pPr>
            <a:r>
              <a:rPr sz="1209" b="0" i="0">
                <a:solidFill>
                  <a:srgbClr val="C8A15A"/>
                </a:solidFill>
                <a:latin typeface="Georgia"/>
              </a:rPr>
              <a:t>04</a:t>
            </a:r>
          </a:p>
        </p:txBody>
      </p:sp>
      <p:sp>
        <p:nvSpPr>
          <p:cNvPr id="19" name="TextBox 18"/>
          <p:cNvSpPr txBox="1"/>
          <p:nvPr/>
        </p:nvSpPr>
        <p:spPr>
          <a:xfrm>
            <a:off x="6146800" y="3695700"/>
            <a:ext cx="5232400" cy="276225"/>
          </a:xfrm>
          <a:prstGeom prst="rect">
            <a:avLst/>
          </a:prstGeom>
          <a:noFill/>
        </p:spPr>
        <p:txBody>
          <a:bodyPr wrap="none" lIns="0" rIns="0" tIns="0" bIns="0" anchor="t">
            <a:spAutoFit/>
          </a:bodyPr>
          <a:lstStyle/>
          <a:p>
            <a:pPr algn="l">
              <a:lnSpc>
                <a:spcPts val="2109"/>
              </a:lnSpc>
            </a:pPr>
            <a:r>
              <a:rPr sz="1455" b="0" i="0">
                <a:solidFill>
                  <a:srgbClr val="F4EEE1"/>
                </a:solidFill>
                <a:latin typeface="Calibri"/>
              </a:rPr>
              <a:t>A </a:t>
            </a:r>
            <a:r>
              <a:rPr sz="1455" b="0" i="0">
                <a:solidFill>
                  <a:srgbClr val="E9DCBC"/>
                </a:solidFill>
                <a:latin typeface="Calibri"/>
              </a:rPr>
              <a:t>pay-per-route API</a:t>
            </a:r>
            <a:r>
              <a:rPr sz="1455" b="0" i="0">
                <a:solidFill>
                  <a:srgbClr val="F4EEE1"/>
                </a:solidFill>
                <a:latin typeface="Calibri"/>
              </a:rPr>
              <a:t> for delivery and mobility apps.</a:t>
            </a:r>
          </a:p>
        </p:txBody>
      </p:sp>
      <p:sp>
        <p:nvSpPr>
          <p:cNvPr id="20" name="TextBox 19"/>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21" name="TextBox 20"/>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8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3337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925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925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925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925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134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722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931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51900" y="1890712"/>
            <a:ext cx="2527300" cy="2730500"/>
          </a:xfrm>
          <a:prstGeom prst="rect">
            <a:avLst/>
          </a:prstGeom>
          <a:solidFill>
            <a:srgbClr val="1A15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51900" y="189071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851900" y="4614862"/>
            <a:ext cx="25273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5190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372850" y="1890712"/>
            <a:ext cx="6350" cy="273050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15 · COSTS TO RUN</a:t>
            </a:r>
          </a:p>
        </p:txBody>
      </p:sp>
      <p:sp>
        <p:nvSpPr>
          <p:cNvPr id="24" name="TextBox 23"/>
          <p:cNvSpPr txBox="1"/>
          <p:nvPr/>
        </p:nvSpPr>
        <p:spPr>
          <a:xfrm>
            <a:off x="812800" y="1143000"/>
            <a:ext cx="8255000" cy="493712"/>
          </a:xfrm>
          <a:prstGeom prst="rect">
            <a:avLst/>
          </a:prstGeom>
          <a:noFill/>
        </p:spPr>
        <p:txBody>
          <a:bodyPr wrap="none" lIns="0" rIns="0" tIns="0" bIns="0" anchor="t">
            <a:spAutoFit/>
          </a:bodyPr>
          <a:lstStyle/>
          <a:p>
            <a:pPr algn="l">
              <a:lnSpc>
                <a:spcPts val="3771"/>
              </a:lnSpc>
            </a:pPr>
            <a:r>
              <a:rPr sz="3013" b="0" i="0" spc="-36">
                <a:solidFill>
                  <a:srgbClr val="E9DCBC"/>
                </a:solidFill>
                <a:latin typeface="Georgia"/>
              </a:rPr>
              <a:t>Cheap to run, cheap to add a city.</a:t>
            </a:r>
          </a:p>
        </p:txBody>
      </p:sp>
      <p:sp>
        <p:nvSpPr>
          <p:cNvPr id="25" name="TextBox 24"/>
          <p:cNvSpPr txBox="1"/>
          <p:nvPr/>
        </p:nvSpPr>
        <p:spPr>
          <a:xfrm>
            <a:off x="10731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SERVER</a:t>
            </a:r>
          </a:p>
        </p:txBody>
      </p:sp>
      <p:sp>
        <p:nvSpPr>
          <p:cNvPr id="26" name="TextBox 25"/>
          <p:cNvSpPr txBox="1"/>
          <p:nvPr/>
        </p:nvSpPr>
        <p:spPr>
          <a:xfrm>
            <a:off x="1073150" y="2455862"/>
            <a:ext cx="2006600" cy="228600"/>
          </a:xfrm>
          <a:prstGeom prst="rect">
            <a:avLst/>
          </a:prstGeom>
          <a:noFill/>
        </p:spPr>
        <p:txBody>
          <a:bodyPr wrap="none" lIns="0" rIns="0" tIns="0" bIns="0" anchor="t">
            <a:spAutoFit/>
          </a:bodyPr>
          <a:lstStyle/>
          <a:p>
            <a:pPr algn="l">
              <a:lnSpc>
                <a:spcPts val="1746"/>
              </a:lnSpc>
            </a:pPr>
            <a:r>
              <a:rPr sz="1674" b="0" i="0">
                <a:solidFill>
                  <a:srgbClr val="D07A35"/>
                </a:solidFill>
                <a:latin typeface="Georgia"/>
              </a:rPr>
              <a:t>$6.93</a:t>
            </a:r>
          </a:p>
        </p:txBody>
      </p:sp>
      <p:sp>
        <p:nvSpPr>
          <p:cNvPr id="27" name="TextBox 26"/>
          <p:cNvSpPr txBox="1"/>
          <p:nvPr/>
        </p:nvSpPr>
        <p:spPr>
          <a:xfrm>
            <a:off x="1073150" y="2773362"/>
            <a:ext cx="2066798" cy="13335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per month: Contabo VPS, 4 vCPU, 8 GB. The VM is shared with other apps, so Zill’s share is a fraction. Total fixed cost about $17 per month with the agent.</a:t>
            </a:r>
          </a:p>
        </p:txBody>
      </p:sp>
      <p:sp>
        <p:nvSpPr>
          <p:cNvPr id="28" name="TextBox 27"/>
          <p:cNvSpPr txBox="1"/>
          <p:nvPr/>
        </p:nvSpPr>
        <p:spPr>
          <a:xfrm>
            <a:off x="37528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AI AGENT</a:t>
            </a:r>
          </a:p>
        </p:txBody>
      </p:sp>
      <p:sp>
        <p:nvSpPr>
          <p:cNvPr id="29" name="TextBox 28"/>
          <p:cNvSpPr txBox="1"/>
          <p:nvPr/>
        </p:nvSpPr>
        <p:spPr>
          <a:xfrm>
            <a:off x="3752850" y="2392362"/>
            <a:ext cx="2006600" cy="508000"/>
          </a:xfrm>
          <a:prstGeom prst="rect">
            <a:avLst/>
          </a:prstGeom>
          <a:noFill/>
        </p:spPr>
        <p:txBody>
          <a:bodyPr wrap="none" lIns="0" rIns="0" tIns="0" bIns="0" anchor="t">
            <a:spAutoFit/>
          </a:bodyPr>
          <a:lstStyle/>
          <a:p>
            <a:pPr algn="l">
              <a:lnSpc>
                <a:spcPts val="3879"/>
              </a:lnSpc>
            </a:pPr>
            <a:r>
              <a:rPr sz="3348" b="0" i="0">
                <a:solidFill>
                  <a:srgbClr val="E9DCBC"/>
                </a:solidFill>
                <a:latin typeface="Georgia"/>
              </a:rPr>
              <a:t>$10</a:t>
            </a:r>
          </a:p>
        </p:txBody>
      </p:sp>
      <p:sp>
        <p:nvSpPr>
          <p:cNvPr id="30" name="TextBox 29"/>
          <p:cNvSpPr txBox="1"/>
          <p:nvPr/>
        </p:nvSpPr>
        <p:spPr>
          <a:xfrm>
            <a:off x="3752850" y="2989262"/>
            <a:ext cx="2066798" cy="111125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per month flat on OpenCode Go: about 3,630 conversations on glm-5.3-flash, about 56 on the strongest model, kimi-k3.</a:t>
            </a:r>
          </a:p>
        </p:txBody>
      </p:sp>
      <p:sp>
        <p:nvSpPr>
          <p:cNvPr id="31" name="TextBox 30"/>
          <p:cNvSpPr txBox="1"/>
          <p:nvPr/>
        </p:nvSpPr>
        <p:spPr>
          <a:xfrm>
            <a:off x="64325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ADD A CITY</a:t>
            </a:r>
          </a:p>
        </p:txBody>
      </p:sp>
      <p:sp>
        <p:nvSpPr>
          <p:cNvPr id="32" name="TextBox 31"/>
          <p:cNvSpPr txBox="1"/>
          <p:nvPr/>
        </p:nvSpPr>
        <p:spPr>
          <a:xfrm>
            <a:off x="6432550" y="2392362"/>
            <a:ext cx="2006600" cy="508000"/>
          </a:xfrm>
          <a:prstGeom prst="rect">
            <a:avLst/>
          </a:prstGeom>
          <a:noFill/>
        </p:spPr>
        <p:txBody>
          <a:bodyPr wrap="none" lIns="0" rIns="0" tIns="0" bIns="0" anchor="t">
            <a:spAutoFit/>
          </a:bodyPr>
          <a:lstStyle/>
          <a:p>
            <a:pPr algn="l">
              <a:lnSpc>
                <a:spcPts val="3879"/>
              </a:lnSpc>
            </a:pPr>
            <a:r>
              <a:rPr sz="3348" b="0" i="0">
                <a:solidFill>
                  <a:srgbClr val="E9DCBC"/>
                </a:solidFill>
                <a:latin typeface="Georgia"/>
              </a:rPr>
              <a:t>$0</a:t>
            </a:r>
          </a:p>
        </p:txBody>
      </p:sp>
      <p:sp>
        <p:nvSpPr>
          <p:cNvPr id="33" name="TextBox 32"/>
          <p:cNvSpPr txBox="1"/>
          <p:nvPr/>
        </p:nvSpPr>
        <p:spPr>
          <a:xfrm>
            <a:off x="6432550" y="2989262"/>
            <a:ext cx="2066798" cy="13335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Open data is free. Measured: Dubai data bake 7.5 s, shade bake 487.5 s for four dates. Oslo took about 29 minutes, mostly waiting on Overpass.</a:t>
            </a:r>
          </a:p>
        </p:txBody>
      </p:sp>
      <p:sp>
        <p:nvSpPr>
          <p:cNvPr id="34" name="TextBox 33"/>
          <p:cNvSpPr txBox="1"/>
          <p:nvPr/>
        </p:nvSpPr>
        <p:spPr>
          <a:xfrm>
            <a:off x="9112250" y="2151062"/>
            <a:ext cx="20066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PER 1,000 USERS</a:t>
            </a:r>
          </a:p>
        </p:txBody>
      </p:sp>
      <p:sp>
        <p:nvSpPr>
          <p:cNvPr id="35" name="TextBox 34"/>
          <p:cNvSpPr txBox="1"/>
          <p:nvPr/>
        </p:nvSpPr>
        <p:spPr>
          <a:xfrm>
            <a:off x="9112250" y="2455862"/>
            <a:ext cx="2006600" cy="228600"/>
          </a:xfrm>
          <a:prstGeom prst="rect">
            <a:avLst/>
          </a:prstGeom>
          <a:noFill/>
        </p:spPr>
        <p:txBody>
          <a:bodyPr wrap="none" lIns="0" rIns="0" tIns="0" bIns="0" anchor="t">
            <a:spAutoFit/>
          </a:bodyPr>
          <a:lstStyle/>
          <a:p>
            <a:pPr algn="l">
              <a:lnSpc>
                <a:spcPts val="1746"/>
              </a:lnSpc>
            </a:pPr>
            <a:r>
              <a:rPr sz="1674" b="0" i="0">
                <a:solidFill>
                  <a:srgbClr val="D07A35"/>
                </a:solidFill>
                <a:latin typeface="Georgia"/>
              </a:rPr>
              <a:t>≈ $0.002</a:t>
            </a:r>
          </a:p>
        </p:txBody>
      </p:sp>
      <p:sp>
        <p:nvSpPr>
          <p:cNvPr id="36" name="TextBox 35"/>
          <p:cNvSpPr txBox="1"/>
          <p:nvPr/>
        </p:nvSpPr>
        <p:spPr>
          <a:xfrm>
            <a:off x="9112250" y="2773362"/>
            <a:ext cx="2066798" cy="889000"/>
          </a:xfrm>
          <a:prstGeom prst="rect">
            <a:avLst/>
          </a:prstGeom>
          <a:noFill/>
        </p:spPr>
        <p:txBody>
          <a:bodyPr wrap="square" lIns="0" rIns="0" tIns="0" bIns="0" anchor="t">
            <a:spAutoFit/>
          </a:bodyPr>
          <a:lstStyle/>
          <a:p>
            <a:pPr algn="l">
              <a:lnSpc>
                <a:spcPts val="1697"/>
              </a:lnSpc>
            </a:pPr>
            <a:r>
              <a:rPr sz="1212" b="0" i="0">
                <a:solidFill>
                  <a:srgbClr val="F4EEE1"/>
                </a:solidFill>
                <a:latin typeface="Calibri"/>
              </a:rPr>
              <a:t>of server per 1,000 users: plan price × 0.0003, assuming 20 requests per visit.</a:t>
            </a:r>
          </a:p>
        </p:txBody>
      </p:sp>
      <p:sp>
        <p:nvSpPr>
          <p:cNvPr id="37" name="TextBox 36"/>
          <p:cNvSpPr txBox="1"/>
          <p:nvPr/>
        </p:nvSpPr>
        <p:spPr>
          <a:xfrm>
            <a:off x="812800" y="5892800"/>
            <a:ext cx="10883392" cy="304800"/>
          </a:xfrm>
          <a:prstGeom prst="rect">
            <a:avLst/>
          </a:prstGeom>
          <a:noFill/>
        </p:spPr>
        <p:txBody>
          <a:bodyPr wrap="square" lIns="0" rIns="0" tIns="0" bIns="0" anchor="t">
            <a:spAutoFit/>
          </a:bodyPr>
          <a:lstStyle/>
          <a:p>
            <a:pPr algn="l">
              <a:lnSpc>
                <a:spcPts val="1164"/>
              </a:lnSpc>
            </a:pPr>
            <a:r>
              <a:rPr sz="776" b="0" i="0">
                <a:solidFill>
                  <a:srgbClr val="F4EEE1">
                    <a:alpha val="50000"/>
                  </a:srgbClr>
                </a:solidFill>
                <a:latin typeface="Calibri"/>
              </a:rPr>
              <a:t>Source: docs/COSTS.md. Token counts use characters ÷ 4 on the scripted planner, so output tokens are a lower bound. Bake timings were measured on a dev laptop, not the VM. Per-token API prices are not used (flat subscription). Open-Meteo’s free tier is non-commercial, so a paid plan is needed before B2B revenue.</a:t>
            </a:r>
          </a:p>
        </p:txBody>
      </p:sp>
      <p:sp>
        <p:nvSpPr>
          <p:cNvPr id="38" name="TextBox 37"/>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39" name="TextBox 38"/>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sp>
        <p:nvSpPr>
          <p:cNvPr id="2" name="Rectangle 1"/>
          <p:cNvSpPr/>
          <p:nvPr/>
        </p:nvSpPr>
        <p:spPr>
          <a:xfrm>
            <a:off x="812800" y="2050752"/>
            <a:ext cx="453806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12800" y="3192462"/>
            <a:ext cx="4538067"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06467" y="2276177"/>
            <a:ext cx="17018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8267" y="2276177"/>
            <a:ext cx="891778"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300045" y="2276177"/>
            <a:ext cx="845344"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5389" y="2276177"/>
            <a:ext cx="1208782"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354171" y="2276177"/>
            <a:ext cx="1025029"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06467" y="2721273"/>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08267" y="2721273"/>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300045" y="2721273"/>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145389" y="2721273"/>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354171" y="2721273"/>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706467" y="3166368"/>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8267" y="3166368"/>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00045" y="3166368"/>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45389" y="3166368"/>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54171" y="3166368"/>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706467" y="3611463"/>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8267" y="3611463"/>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00045" y="3611463"/>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5389" y="3611463"/>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354171" y="3611463"/>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06467" y="4056559"/>
            <a:ext cx="17018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08267" y="4056559"/>
            <a:ext cx="891778"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00045" y="4056559"/>
            <a:ext cx="845344"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45389" y="4056559"/>
            <a:ext cx="1208782"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354171" y="4056559"/>
            <a:ext cx="1025029"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2800" y="6254750"/>
            <a:ext cx="105664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800" y="812800"/>
            <a:ext cx="105664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16 · HOW MANY USERS</a:t>
            </a:r>
          </a:p>
        </p:txBody>
      </p:sp>
      <p:sp>
        <p:nvSpPr>
          <p:cNvPr id="31" name="TextBox 30"/>
          <p:cNvSpPr txBox="1"/>
          <p:nvPr/>
        </p:nvSpPr>
        <p:spPr>
          <a:xfrm>
            <a:off x="812800" y="1143000"/>
            <a:ext cx="8255000" cy="425152"/>
          </a:xfrm>
          <a:prstGeom prst="rect">
            <a:avLst/>
          </a:prstGeom>
          <a:noFill/>
        </p:spPr>
        <p:txBody>
          <a:bodyPr wrap="none" lIns="0" rIns="0" tIns="0" bIns="0" anchor="t">
            <a:spAutoFit/>
          </a:bodyPr>
          <a:lstStyle/>
          <a:p>
            <a:pPr algn="l">
              <a:lnSpc>
                <a:spcPts val="3247"/>
              </a:lnSpc>
            </a:pPr>
            <a:r>
              <a:rPr sz="2594" b="0" i="0" spc="-31">
                <a:solidFill>
                  <a:srgbClr val="E9DCBC"/>
                </a:solidFill>
                <a:latin typeface="Georgia"/>
              </a:rPr>
              <a:t>Who needs it, and how many one server holds.</a:t>
            </a:r>
          </a:p>
        </p:txBody>
      </p:sp>
      <p:sp>
        <p:nvSpPr>
          <p:cNvPr id="32" name="TextBox 31"/>
          <p:cNvSpPr txBox="1"/>
          <p:nvPr/>
        </p:nvSpPr>
        <p:spPr>
          <a:xfrm>
            <a:off x="812800" y="1796752"/>
            <a:ext cx="4538067"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MARKET, SOURCED</a:t>
            </a:r>
          </a:p>
        </p:txBody>
      </p:sp>
      <p:sp>
        <p:nvSpPr>
          <p:cNvPr id="33" name="TextBox 32"/>
          <p:cNvSpPr txBox="1"/>
          <p:nvPr/>
        </p:nvSpPr>
        <p:spPr>
          <a:xfrm>
            <a:off x="812800" y="2196802"/>
            <a:ext cx="4538067" cy="584200"/>
          </a:xfrm>
          <a:prstGeom prst="rect">
            <a:avLst/>
          </a:prstGeom>
          <a:noFill/>
        </p:spPr>
        <p:txBody>
          <a:bodyPr wrap="none" lIns="0" rIns="0" tIns="0" bIns="0" anchor="t">
            <a:spAutoFit/>
          </a:bodyPr>
          <a:lstStyle/>
          <a:p>
            <a:pPr algn="l">
              <a:lnSpc>
                <a:spcPts val="4462"/>
              </a:lnSpc>
            </a:pPr>
            <a:r>
              <a:rPr sz="3850" b="0" i="0">
                <a:solidFill>
                  <a:srgbClr val="E9DCBC"/>
                </a:solidFill>
                <a:latin typeface="Georgia"/>
              </a:rPr>
              <a:t>70,000+</a:t>
            </a:r>
          </a:p>
        </p:txBody>
      </p:sp>
      <p:sp>
        <p:nvSpPr>
          <p:cNvPr id="34" name="TextBox 33"/>
          <p:cNvSpPr txBox="1"/>
          <p:nvPr/>
        </p:nvSpPr>
        <p:spPr>
          <a:xfrm>
            <a:off x="812800" y="2831802"/>
            <a:ext cx="4538067" cy="220960"/>
          </a:xfrm>
          <a:prstGeom prst="rect">
            <a:avLst/>
          </a:prstGeom>
          <a:noFill/>
        </p:spPr>
        <p:txBody>
          <a:bodyPr wrap="none" lIns="0" rIns="0" tIns="0" bIns="0" anchor="t">
            <a:spAutoFit/>
          </a:bodyPr>
          <a:lstStyle/>
          <a:p>
            <a:pPr algn="l">
              <a:lnSpc>
                <a:spcPts val="1687"/>
              </a:lnSpc>
            </a:pPr>
            <a:r>
              <a:rPr sz="1164" b="0" i="0">
                <a:solidFill>
                  <a:srgbClr val="F4EEE1"/>
                </a:solidFill>
                <a:latin typeface="Calibri"/>
              </a:rPr>
              <a:t>delivery riders in Dubai </a:t>
            </a:r>
            <a:r>
              <a:rPr sz="969" b="0" i="0">
                <a:solidFill>
                  <a:srgbClr val="F4EEE1">
                    <a:alpha val="62000"/>
                  </a:srgbClr>
                </a:solidFill>
                <a:latin typeface="Calibri"/>
              </a:rPr>
              <a:t>(Dubai RTA)</a:t>
            </a:r>
          </a:p>
        </p:txBody>
      </p:sp>
      <p:sp>
        <p:nvSpPr>
          <p:cNvPr id="35" name="TextBox 34"/>
          <p:cNvSpPr txBox="1"/>
          <p:nvPr/>
        </p:nvSpPr>
        <p:spPr>
          <a:xfrm>
            <a:off x="812800" y="3338512"/>
            <a:ext cx="4538067" cy="584200"/>
          </a:xfrm>
          <a:prstGeom prst="rect">
            <a:avLst/>
          </a:prstGeom>
          <a:noFill/>
        </p:spPr>
        <p:txBody>
          <a:bodyPr wrap="none" lIns="0" rIns="0" tIns="0" bIns="0" anchor="t">
            <a:spAutoFit/>
          </a:bodyPr>
          <a:lstStyle/>
          <a:p>
            <a:pPr algn="l">
              <a:lnSpc>
                <a:spcPts val="4462"/>
              </a:lnSpc>
            </a:pPr>
            <a:r>
              <a:rPr sz="3850" b="0" i="0">
                <a:solidFill>
                  <a:srgbClr val="E9DCBC"/>
                </a:solidFill>
                <a:latin typeface="Georgia"/>
              </a:rPr>
              <a:t>18.72</a:t>
            </a:r>
            <a:r>
              <a:rPr sz="2046" b="0" i="0">
                <a:solidFill>
                  <a:srgbClr val="F4EEE1">
                    <a:alpha val="62000"/>
                  </a:srgbClr>
                </a:solidFill>
                <a:latin typeface="Georgia"/>
              </a:rPr>
              <a:t> million</a:t>
            </a:r>
          </a:p>
        </p:txBody>
      </p:sp>
      <p:sp>
        <p:nvSpPr>
          <p:cNvPr id="36" name="TextBox 35"/>
          <p:cNvSpPr txBox="1"/>
          <p:nvPr/>
        </p:nvSpPr>
        <p:spPr>
          <a:xfrm>
            <a:off x="812800" y="3973512"/>
            <a:ext cx="4538067" cy="220960"/>
          </a:xfrm>
          <a:prstGeom prst="rect">
            <a:avLst/>
          </a:prstGeom>
          <a:noFill/>
        </p:spPr>
        <p:txBody>
          <a:bodyPr wrap="none" lIns="0" rIns="0" tIns="0" bIns="0" anchor="t">
            <a:spAutoFit/>
          </a:bodyPr>
          <a:lstStyle/>
          <a:p>
            <a:pPr algn="l">
              <a:lnSpc>
                <a:spcPts val="1687"/>
              </a:lnSpc>
            </a:pPr>
            <a:r>
              <a:rPr sz="1164" b="0" i="0">
                <a:solidFill>
                  <a:srgbClr val="F4EEE1"/>
                </a:solidFill>
                <a:latin typeface="Calibri"/>
              </a:rPr>
              <a:t>international overnight visitors in 2024 </a:t>
            </a:r>
            <a:r>
              <a:rPr sz="969" b="0" i="0">
                <a:solidFill>
                  <a:srgbClr val="F4EEE1">
                    <a:alpha val="62000"/>
                  </a:srgbClr>
                </a:solidFill>
                <a:latin typeface="Calibri"/>
              </a:rPr>
              <a:t>(Dubai DET via WAM)</a:t>
            </a:r>
          </a:p>
        </p:txBody>
      </p:sp>
      <p:sp>
        <p:nvSpPr>
          <p:cNvPr id="37" name="TextBox 36"/>
          <p:cNvSpPr txBox="1"/>
          <p:nvPr/>
        </p:nvSpPr>
        <p:spPr>
          <a:xfrm>
            <a:off x="5706467" y="1796752"/>
            <a:ext cx="5672733" cy="152400"/>
          </a:xfrm>
          <a:prstGeom prst="rect">
            <a:avLst/>
          </a:prstGeom>
          <a:noFill/>
        </p:spPr>
        <p:txBody>
          <a:bodyPr wrap="none" lIns="0" rIns="0" tIns="0" bIns="0" anchor="t">
            <a:spAutoFit/>
          </a:bodyPr>
          <a:lstStyle/>
          <a:p>
            <a:pPr algn="l">
              <a:lnSpc>
                <a:spcPts val="1261"/>
              </a:lnSpc>
            </a:pPr>
            <a:r>
              <a:rPr sz="969" b="0" i="0" spc="180">
                <a:solidFill>
                  <a:srgbClr val="7C8A94"/>
                </a:solidFill>
                <a:latin typeface="Calibri"/>
              </a:rPr>
              <a:t>CAPACITY, MEASURED</a:t>
            </a:r>
          </a:p>
        </p:txBody>
      </p:sp>
      <p:sp>
        <p:nvSpPr>
          <p:cNvPr id="38" name="TextBox 37"/>
          <p:cNvSpPr txBox="1"/>
          <p:nvPr/>
        </p:nvSpPr>
        <p:spPr>
          <a:xfrm>
            <a:off x="5706467" y="2050752"/>
            <a:ext cx="1549400"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WHERE</a:t>
            </a:r>
          </a:p>
        </p:txBody>
      </p:sp>
      <p:sp>
        <p:nvSpPr>
          <p:cNvPr id="39" name="TextBox 38"/>
          <p:cNvSpPr txBox="1"/>
          <p:nvPr/>
        </p:nvSpPr>
        <p:spPr>
          <a:xfrm>
            <a:off x="7408267" y="2050752"/>
            <a:ext cx="739378"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USERS</a:t>
            </a:r>
          </a:p>
        </p:txBody>
      </p:sp>
      <p:sp>
        <p:nvSpPr>
          <p:cNvPr id="40" name="TextBox 39"/>
          <p:cNvSpPr txBox="1"/>
          <p:nvPr/>
        </p:nvSpPr>
        <p:spPr>
          <a:xfrm>
            <a:off x="8300045" y="2050752"/>
            <a:ext cx="692944"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REQ/S</a:t>
            </a:r>
          </a:p>
        </p:txBody>
      </p:sp>
      <p:sp>
        <p:nvSpPr>
          <p:cNvPr id="41" name="TextBox 40"/>
          <p:cNvSpPr txBox="1"/>
          <p:nvPr/>
        </p:nvSpPr>
        <p:spPr>
          <a:xfrm>
            <a:off x="9145389" y="2050752"/>
            <a:ext cx="1056382"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P95</a:t>
            </a:r>
          </a:p>
        </p:txBody>
      </p:sp>
      <p:sp>
        <p:nvSpPr>
          <p:cNvPr id="42" name="TextBox 41"/>
          <p:cNvSpPr txBox="1"/>
          <p:nvPr/>
        </p:nvSpPr>
        <p:spPr>
          <a:xfrm>
            <a:off x="10354171" y="2050752"/>
            <a:ext cx="872629" cy="130175"/>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ERRORS</a:t>
            </a:r>
          </a:p>
        </p:txBody>
      </p:sp>
      <p:sp>
        <p:nvSpPr>
          <p:cNvPr id="43" name="TextBox 42"/>
          <p:cNvSpPr txBox="1"/>
          <p:nvPr/>
        </p:nvSpPr>
        <p:spPr>
          <a:xfrm>
            <a:off x="5706467" y="2390477"/>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Local machine</a:t>
            </a:r>
          </a:p>
        </p:txBody>
      </p:sp>
      <p:sp>
        <p:nvSpPr>
          <p:cNvPr id="44" name="TextBox 43"/>
          <p:cNvSpPr txBox="1"/>
          <p:nvPr/>
        </p:nvSpPr>
        <p:spPr>
          <a:xfrm>
            <a:off x="7408267" y="2390477"/>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20</a:t>
            </a:r>
          </a:p>
        </p:txBody>
      </p:sp>
      <p:sp>
        <p:nvSpPr>
          <p:cNvPr id="45" name="TextBox 44"/>
          <p:cNvSpPr txBox="1"/>
          <p:nvPr/>
        </p:nvSpPr>
        <p:spPr>
          <a:xfrm>
            <a:off x="8300045" y="2390477"/>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26.4</a:t>
            </a:r>
          </a:p>
        </p:txBody>
      </p:sp>
      <p:sp>
        <p:nvSpPr>
          <p:cNvPr id="46" name="TextBox 45"/>
          <p:cNvSpPr txBox="1"/>
          <p:nvPr/>
        </p:nvSpPr>
        <p:spPr>
          <a:xfrm>
            <a:off x="9145389" y="2390477"/>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596 ms</a:t>
            </a:r>
          </a:p>
        </p:txBody>
      </p:sp>
      <p:sp>
        <p:nvSpPr>
          <p:cNvPr id="47" name="TextBox 46"/>
          <p:cNvSpPr txBox="1"/>
          <p:nvPr/>
        </p:nvSpPr>
        <p:spPr>
          <a:xfrm>
            <a:off x="10354171" y="2390477"/>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48" name="TextBox 47"/>
          <p:cNvSpPr txBox="1"/>
          <p:nvPr/>
        </p:nvSpPr>
        <p:spPr>
          <a:xfrm>
            <a:off x="5706467" y="2835573"/>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Local machine</a:t>
            </a:r>
          </a:p>
        </p:txBody>
      </p:sp>
      <p:sp>
        <p:nvSpPr>
          <p:cNvPr id="49" name="TextBox 48"/>
          <p:cNvSpPr txBox="1"/>
          <p:nvPr/>
        </p:nvSpPr>
        <p:spPr>
          <a:xfrm>
            <a:off x="7408267" y="2835573"/>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40</a:t>
            </a:r>
          </a:p>
        </p:txBody>
      </p:sp>
      <p:sp>
        <p:nvSpPr>
          <p:cNvPr id="50" name="TextBox 49"/>
          <p:cNvSpPr txBox="1"/>
          <p:nvPr/>
        </p:nvSpPr>
        <p:spPr>
          <a:xfrm>
            <a:off x="8300045" y="2835573"/>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17.1</a:t>
            </a:r>
          </a:p>
        </p:txBody>
      </p:sp>
      <p:sp>
        <p:nvSpPr>
          <p:cNvPr id="51" name="TextBox 50"/>
          <p:cNvSpPr txBox="1"/>
          <p:nvPr/>
        </p:nvSpPr>
        <p:spPr>
          <a:xfrm>
            <a:off x="9145389" y="2835573"/>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2.6 s</a:t>
            </a:r>
          </a:p>
        </p:txBody>
      </p:sp>
      <p:sp>
        <p:nvSpPr>
          <p:cNvPr id="52" name="TextBox 51"/>
          <p:cNvSpPr txBox="1"/>
          <p:nvPr/>
        </p:nvSpPr>
        <p:spPr>
          <a:xfrm>
            <a:off x="10354171" y="2835573"/>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53" name="TextBox 52"/>
          <p:cNvSpPr txBox="1"/>
          <p:nvPr/>
        </p:nvSpPr>
        <p:spPr>
          <a:xfrm>
            <a:off x="5706467" y="3280668"/>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Live VM</a:t>
            </a:r>
          </a:p>
        </p:txBody>
      </p:sp>
      <p:sp>
        <p:nvSpPr>
          <p:cNvPr id="54" name="TextBox 53"/>
          <p:cNvSpPr txBox="1"/>
          <p:nvPr/>
        </p:nvSpPr>
        <p:spPr>
          <a:xfrm>
            <a:off x="7408267" y="3280668"/>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a:t>
            </a:r>
          </a:p>
        </p:txBody>
      </p:sp>
      <p:sp>
        <p:nvSpPr>
          <p:cNvPr id="55" name="TextBox 54"/>
          <p:cNvSpPr txBox="1"/>
          <p:nvPr/>
        </p:nvSpPr>
        <p:spPr>
          <a:xfrm>
            <a:off x="8300045" y="3280668"/>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10.4</a:t>
            </a:r>
          </a:p>
        </p:txBody>
      </p:sp>
      <p:sp>
        <p:nvSpPr>
          <p:cNvPr id="56" name="TextBox 55"/>
          <p:cNvSpPr txBox="1"/>
          <p:nvPr/>
        </p:nvSpPr>
        <p:spPr>
          <a:xfrm>
            <a:off x="9145389" y="3280668"/>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1.0 s</a:t>
            </a:r>
          </a:p>
        </p:txBody>
      </p:sp>
      <p:sp>
        <p:nvSpPr>
          <p:cNvPr id="57" name="TextBox 56"/>
          <p:cNvSpPr txBox="1"/>
          <p:nvPr/>
        </p:nvSpPr>
        <p:spPr>
          <a:xfrm>
            <a:off x="10354171" y="3280668"/>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58" name="TextBox 57"/>
          <p:cNvSpPr txBox="1"/>
          <p:nvPr/>
        </p:nvSpPr>
        <p:spPr>
          <a:xfrm>
            <a:off x="5706467" y="3725763"/>
            <a:ext cx="1524000" cy="229195"/>
          </a:xfrm>
          <a:prstGeom prst="rect">
            <a:avLst/>
          </a:prstGeom>
          <a:noFill/>
        </p:spPr>
        <p:txBody>
          <a:bodyPr wrap="none" lIns="0" rIns="0" tIns="0" bIns="0" anchor="t">
            <a:spAutoFit/>
          </a:bodyPr>
          <a:lstStyle/>
          <a:p>
            <a:pPr algn="l">
              <a:lnSpc>
                <a:spcPts val="1639"/>
              </a:lnSpc>
            </a:pPr>
            <a:r>
              <a:rPr sz="1209" b="0" i="0">
                <a:solidFill>
                  <a:srgbClr val="E9DCBC"/>
                </a:solidFill>
                <a:latin typeface="Georgia"/>
              </a:rPr>
              <a:t>Live VM</a:t>
            </a:r>
          </a:p>
        </p:txBody>
      </p:sp>
      <p:sp>
        <p:nvSpPr>
          <p:cNvPr id="59" name="TextBox 58"/>
          <p:cNvSpPr txBox="1"/>
          <p:nvPr/>
        </p:nvSpPr>
        <p:spPr>
          <a:xfrm>
            <a:off x="7408267" y="3725763"/>
            <a:ext cx="713978"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20</a:t>
            </a:r>
          </a:p>
        </p:txBody>
      </p:sp>
      <p:sp>
        <p:nvSpPr>
          <p:cNvPr id="60" name="TextBox 59"/>
          <p:cNvSpPr txBox="1"/>
          <p:nvPr/>
        </p:nvSpPr>
        <p:spPr>
          <a:xfrm>
            <a:off x="8300045" y="3725763"/>
            <a:ext cx="667544"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16.9</a:t>
            </a:r>
          </a:p>
        </p:txBody>
      </p:sp>
      <p:sp>
        <p:nvSpPr>
          <p:cNvPr id="61" name="TextBox 60"/>
          <p:cNvSpPr txBox="1"/>
          <p:nvPr/>
        </p:nvSpPr>
        <p:spPr>
          <a:xfrm>
            <a:off x="9145389" y="3725763"/>
            <a:ext cx="1030982"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1.6 s</a:t>
            </a:r>
          </a:p>
        </p:txBody>
      </p:sp>
      <p:sp>
        <p:nvSpPr>
          <p:cNvPr id="62" name="TextBox 61"/>
          <p:cNvSpPr txBox="1"/>
          <p:nvPr/>
        </p:nvSpPr>
        <p:spPr>
          <a:xfrm>
            <a:off x="10354171" y="3725763"/>
            <a:ext cx="847229" cy="229195"/>
          </a:xfrm>
          <a:prstGeom prst="rect">
            <a:avLst/>
          </a:prstGeom>
          <a:noFill/>
        </p:spPr>
        <p:txBody>
          <a:bodyPr wrap="none" lIns="0" rIns="0" tIns="0" bIns="0" anchor="t">
            <a:spAutoFit/>
          </a:bodyPr>
          <a:lstStyle/>
          <a:p>
            <a:pPr algn="l">
              <a:lnSpc>
                <a:spcPts val="1702"/>
              </a:lnSpc>
            </a:pPr>
            <a:r>
              <a:rPr sz="1309" b="0" i="0">
                <a:solidFill>
                  <a:srgbClr val="F4EEE1"/>
                </a:solidFill>
                <a:latin typeface="Calibri"/>
              </a:rPr>
              <a:t>0</a:t>
            </a:r>
          </a:p>
        </p:txBody>
      </p:sp>
      <p:sp>
        <p:nvSpPr>
          <p:cNvPr id="63" name="TextBox 62"/>
          <p:cNvSpPr txBox="1"/>
          <p:nvPr/>
        </p:nvSpPr>
        <p:spPr>
          <a:xfrm>
            <a:off x="5706467" y="4180384"/>
            <a:ext cx="5842915" cy="542925"/>
          </a:xfrm>
          <a:prstGeom prst="rect">
            <a:avLst/>
          </a:prstGeom>
          <a:noFill/>
        </p:spPr>
        <p:txBody>
          <a:bodyPr wrap="square" lIns="0" rIns="0" tIns="0" bIns="0" anchor="t">
            <a:spAutoFit/>
          </a:bodyPr>
          <a:lstStyle/>
          <a:p>
            <a:pPr algn="l">
              <a:lnSpc>
                <a:spcPts val="1382"/>
              </a:lnSpc>
            </a:pPr>
            <a:r>
              <a:rPr sz="921" b="0" i="0">
                <a:solidFill>
                  <a:srgbClr val="F4EEE1">
                    <a:alpha val="62000"/>
                  </a:srgbClr>
                </a:solidFill>
                <a:latin typeface="Calibri"/>
              </a:rPr>
              <a:t>One API worker saturates near 26 requests per second on this machine. The live run (capped at 20 concurrent users, 48 s) did not reach its limit, and its latency includes the network round trip. VM: 4 vCPU, 8 GB.</a:t>
            </a:r>
          </a:p>
        </p:txBody>
      </p:sp>
      <p:sp>
        <p:nvSpPr>
          <p:cNvPr id="64" name="TextBox 63"/>
          <p:cNvSpPr txBox="1"/>
          <p:nvPr/>
        </p:nvSpPr>
        <p:spPr>
          <a:xfrm>
            <a:off x="812800" y="5892800"/>
            <a:ext cx="10883392" cy="304800"/>
          </a:xfrm>
          <a:prstGeom prst="rect">
            <a:avLst/>
          </a:prstGeom>
          <a:noFill/>
        </p:spPr>
        <p:txBody>
          <a:bodyPr wrap="square" lIns="0" rIns="0" tIns="0" bIns="0" anchor="t">
            <a:spAutoFit/>
          </a:bodyPr>
          <a:lstStyle/>
          <a:p>
            <a:pPr algn="l">
              <a:lnSpc>
                <a:spcPts val="1164"/>
              </a:lnSpc>
            </a:pPr>
            <a:r>
              <a:rPr sz="776" b="0" i="0">
                <a:solidFill>
                  <a:srgbClr val="F4EEE1">
                    <a:alpha val="50000"/>
                  </a:srgbClr>
                </a:solidFill>
                <a:latin typeface="Calibri"/>
              </a:rPr>
              <a:t>Sources: docs/COSTS.md (scripts/loadtest.py). RTA: rta.ae news, 23 temporary rest areas to protect delivery riders. DET: wam.ae/article/bi46kc8-dubai-welcomes-1872-million-international-visitors. Market figures are context, not a revenue forecast.</a:t>
            </a:r>
          </a:p>
        </p:txBody>
      </p:sp>
      <p:sp>
        <p:nvSpPr>
          <p:cNvPr id="65" name="TextBox 64"/>
          <p:cNvSpPr txBox="1"/>
          <p:nvPr/>
        </p:nvSpPr>
        <p:spPr>
          <a:xfrm>
            <a:off x="812800" y="6375400"/>
            <a:ext cx="863501" cy="127000"/>
          </a:xfrm>
          <a:prstGeom prst="rect">
            <a:avLst/>
          </a:prstGeom>
          <a:noFill/>
        </p:spPr>
        <p:txBody>
          <a:bodyPr wrap="none" lIns="0" rIns="0" tIns="0" bIns="0" anchor="t">
            <a:spAutoFit/>
          </a:bodyPr>
          <a:lstStyle/>
          <a:p>
            <a:pPr algn="l">
              <a:lnSpc>
                <a:spcPts val="1008"/>
              </a:lnSpc>
            </a:pPr>
            <a:r>
              <a:rPr sz="776" b="0" i="0" spc="144">
                <a:solidFill>
                  <a:srgbClr val="C8A15A"/>
                </a:solidFill>
                <a:latin typeface="Calibri"/>
              </a:rPr>
              <a:t>ZILL &amp; SHAMS</a:t>
            </a:r>
          </a:p>
        </p:txBody>
      </p:sp>
      <p:sp>
        <p:nvSpPr>
          <p:cNvPr id="66" name="TextBox 65"/>
          <p:cNvSpPr txBox="1"/>
          <p:nvPr/>
        </p:nvSpPr>
        <p:spPr>
          <a:xfrm>
            <a:off x="11220549" y="6375400"/>
            <a:ext cx="158651" cy="127000"/>
          </a:xfrm>
          <a:prstGeom prst="rect">
            <a:avLst/>
          </a:prstGeom>
          <a:noFill/>
        </p:spPr>
        <p:txBody>
          <a:bodyPr wrap="none" lIns="0" rIns="0" tIns="0" bIns="0" anchor="t">
            <a:spAutoFit/>
          </a:bodyPr>
          <a:lstStyle/>
          <a:p>
            <a:pPr algn="l">
              <a:lnSpc>
                <a:spcPts val="1008"/>
              </a:lnSpc>
            </a:pPr>
            <a:r>
              <a:rPr sz="776" b="0" i="0" spc="144">
                <a:solidFill>
                  <a:srgbClr val="F4EEE1">
                    <a:alpha val="62000"/>
                  </a:srgbClr>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0C0A"/>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12800" y="571500"/>
            <a:ext cx="10566400" cy="6350"/>
          </a:xfrm>
          <a:prstGeom prst="rect">
            <a:avLst/>
          </a:prstGeom>
          <a:solidFill>
            <a:srgbClr val="F4EEE1">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715000" y="5607050"/>
            <a:ext cx="762000" cy="6350"/>
          </a:xfrm>
          <a:prstGeom prst="rect">
            <a:avLst/>
          </a:prstGeom>
          <a:solidFill>
            <a:srgbClr val="F4EEE1">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NOW · DUBAI AND OSLO</a:t>
            </a:r>
          </a:p>
        </p:txBody>
      </p:sp>
      <p:sp>
        <p:nvSpPr>
          <p:cNvPr id="6" name="TextBox 5"/>
          <p:cNvSpPr txBox="1"/>
          <p:nvPr/>
        </p:nvSpPr>
        <p:spPr>
          <a:xfrm>
            <a:off x="812800" y="920750"/>
            <a:ext cx="3453384" cy="419100"/>
          </a:xfrm>
          <a:prstGeom prst="rect">
            <a:avLst/>
          </a:prstGeom>
          <a:noFill/>
        </p:spPr>
        <p:txBody>
          <a:bodyPr wrap="square" lIns="0" rIns="0" tIns="0" bIns="0" anchor="t">
            <a:spAutoFit/>
          </a:bodyPr>
          <a:lstStyle/>
          <a:p>
            <a:pPr algn="l">
              <a:lnSpc>
                <a:spcPts val="1600"/>
              </a:lnSpc>
            </a:pPr>
            <a:r>
              <a:rPr sz="1067" b="0" i="0">
                <a:solidFill>
                  <a:srgbClr val="F4EEE1">
                    <a:alpha val="62000"/>
                  </a:srgbClr>
                </a:solidFill>
                <a:latin typeface="Calibri"/>
              </a:rPr>
              <a:t>Live prototype at zill.itshamza.me; a pilot with one fleet and one hotel next.</a:t>
            </a:r>
          </a:p>
        </p:txBody>
      </p:sp>
      <p:sp>
        <p:nvSpPr>
          <p:cNvPr id="7" name="TextBox 6"/>
          <p:cNvSpPr txBox="1"/>
          <p:nvPr/>
        </p:nvSpPr>
        <p:spPr>
          <a:xfrm>
            <a:off x="44196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NEXT · UAE AND GULF</a:t>
            </a:r>
          </a:p>
        </p:txBody>
      </p:sp>
      <p:sp>
        <p:nvSpPr>
          <p:cNvPr id="8" name="TextBox 7"/>
          <p:cNvSpPr txBox="1"/>
          <p:nvPr/>
        </p:nvSpPr>
        <p:spPr>
          <a:xfrm>
            <a:off x="4419600" y="920750"/>
            <a:ext cx="3453384" cy="419100"/>
          </a:xfrm>
          <a:prstGeom prst="rect">
            <a:avLst/>
          </a:prstGeom>
          <a:noFill/>
        </p:spPr>
        <p:txBody>
          <a:bodyPr wrap="square" lIns="0" rIns="0" tIns="0" bIns="0" anchor="t">
            <a:spAutoFit/>
          </a:bodyPr>
          <a:lstStyle/>
          <a:p>
            <a:pPr algn="l">
              <a:lnSpc>
                <a:spcPts val="1600"/>
              </a:lnSpc>
            </a:pPr>
            <a:r>
              <a:rPr sz="1067" b="0" i="0">
                <a:solidFill>
                  <a:srgbClr val="F4EEE1">
                    <a:alpha val="62000"/>
                  </a:srgbClr>
                </a:solidFill>
                <a:latin typeface="Calibri"/>
              </a:rPr>
              <a:t>Abu Dhabi, Doha, Riyadh; city planners as the first B2G pilot.</a:t>
            </a:r>
          </a:p>
        </p:txBody>
      </p:sp>
      <p:sp>
        <p:nvSpPr>
          <p:cNvPr id="9" name="TextBox 8"/>
          <p:cNvSpPr txBox="1"/>
          <p:nvPr/>
        </p:nvSpPr>
        <p:spPr>
          <a:xfrm>
            <a:off x="8026400" y="717550"/>
            <a:ext cx="3352800" cy="152400"/>
          </a:xfrm>
          <a:prstGeom prst="rect">
            <a:avLst/>
          </a:prstGeom>
          <a:noFill/>
        </p:spPr>
        <p:txBody>
          <a:bodyPr wrap="none" lIns="0" rIns="0" tIns="0" bIns="0" anchor="t">
            <a:spAutoFit/>
          </a:bodyPr>
          <a:lstStyle/>
          <a:p>
            <a:pPr algn="l">
              <a:lnSpc>
                <a:spcPts val="1261"/>
              </a:lnSpc>
            </a:pPr>
            <a:r>
              <a:rPr sz="969" b="0" i="0" spc="180">
                <a:solidFill>
                  <a:srgbClr val="C8A15A"/>
                </a:solidFill>
                <a:latin typeface="Calibri"/>
              </a:rPr>
              <a:t>THEN · NORTHERN CITIES</a:t>
            </a:r>
          </a:p>
        </p:txBody>
      </p:sp>
      <p:sp>
        <p:nvSpPr>
          <p:cNvPr id="10" name="TextBox 9"/>
          <p:cNvSpPr txBox="1"/>
          <p:nvPr/>
        </p:nvSpPr>
        <p:spPr>
          <a:xfrm>
            <a:off x="8026400" y="920750"/>
            <a:ext cx="3352800" cy="209550"/>
          </a:xfrm>
          <a:prstGeom prst="rect">
            <a:avLst/>
          </a:prstGeom>
          <a:noFill/>
        </p:spPr>
        <p:txBody>
          <a:bodyPr wrap="none" lIns="0" rIns="0" tIns="0" bIns="0" anchor="t">
            <a:spAutoFit/>
          </a:bodyPr>
          <a:lstStyle/>
          <a:p>
            <a:pPr algn="l">
              <a:lnSpc>
                <a:spcPts val="1600"/>
              </a:lnSpc>
            </a:pPr>
            <a:r>
              <a:rPr sz="1067" b="0" i="0">
                <a:solidFill>
                  <a:srgbClr val="F4EEE1">
                    <a:alpha val="62000"/>
                  </a:srgbClr>
                </a:solidFill>
                <a:latin typeface="Calibri"/>
              </a:rPr>
              <a:t>A winter daylight pilot in a city like Oslo or Toronto.</a:t>
            </a:r>
          </a:p>
        </p:txBody>
      </p:sp>
      <p:sp>
        <p:nvSpPr>
          <p:cNvPr id="11" name="TextBox 10"/>
          <p:cNvSpPr txBox="1"/>
          <p:nvPr/>
        </p:nvSpPr>
        <p:spPr>
          <a:xfrm>
            <a:off x="0" y="3613150"/>
            <a:ext cx="12192000" cy="787400"/>
          </a:xfrm>
          <a:prstGeom prst="rect">
            <a:avLst/>
          </a:prstGeom>
          <a:noFill/>
        </p:spPr>
        <p:txBody>
          <a:bodyPr wrap="none" lIns="0" rIns="0" tIns="0" bIns="0" anchor="t">
            <a:spAutoFit/>
          </a:bodyPr>
          <a:lstStyle/>
          <a:p>
            <a:pPr algn="ctr">
              <a:lnSpc>
                <a:spcPts val="6014"/>
              </a:lnSpc>
            </a:pPr>
            <a:r>
              <a:rPr sz="5189" b="0" i="0" spc="-62">
                <a:solidFill>
                  <a:srgbClr val="E9DCBC"/>
                </a:solidFill>
                <a:latin typeface="Georgia"/>
              </a:rPr>
              <a:t>Zill &amp; Shams</a:t>
            </a:r>
          </a:p>
        </p:txBody>
      </p:sp>
      <p:sp>
        <p:nvSpPr>
          <p:cNvPr id="12" name="TextBox 11"/>
          <p:cNvSpPr txBox="1"/>
          <p:nvPr/>
        </p:nvSpPr>
        <p:spPr>
          <a:xfrm>
            <a:off x="0" y="4464050"/>
            <a:ext cx="12192000" cy="444500"/>
          </a:xfrm>
          <a:prstGeom prst="rect">
            <a:avLst/>
          </a:prstGeom>
          <a:noFill/>
        </p:spPr>
        <p:txBody>
          <a:bodyPr wrap="none" lIns="0" rIns="0" tIns="0" bIns="0" anchor="t">
            <a:spAutoFit/>
          </a:bodyPr>
          <a:lstStyle/>
          <a:p>
            <a:pPr algn="ctr">
              <a:lnSpc>
                <a:spcPts val="2522"/>
              </a:lnSpc>
            </a:pPr>
            <a:r>
              <a:rPr sz="1900" b="0" i="0" lang="ar-AE">
                <a:solidFill>
                  <a:srgbClr val="C8A15A"/>
                </a:solidFill>
                <a:latin typeface="Arial"/>
                <a:cs typeface="Arial"/>
              </a:rPr>
              <a:t>ظل وشمس</a:t>
            </a:r>
          </a:p>
        </p:txBody>
      </p:sp>
      <p:sp>
        <p:nvSpPr>
          <p:cNvPr id="13" name="TextBox 12"/>
          <p:cNvSpPr txBox="1"/>
          <p:nvPr/>
        </p:nvSpPr>
        <p:spPr>
          <a:xfrm>
            <a:off x="0" y="5048250"/>
            <a:ext cx="12192000" cy="368300"/>
          </a:xfrm>
          <a:prstGeom prst="rect">
            <a:avLst/>
          </a:prstGeom>
          <a:noFill/>
        </p:spPr>
        <p:txBody>
          <a:bodyPr wrap="none" lIns="0" rIns="0" tIns="0" bIns="0" anchor="t">
            <a:spAutoFit/>
          </a:bodyPr>
          <a:lstStyle/>
          <a:p>
            <a:pPr algn="ctr">
              <a:lnSpc>
                <a:spcPts val="2813"/>
              </a:lnSpc>
            </a:pPr>
            <a:r>
              <a:rPr sz="1860" b="0" i="0">
                <a:solidFill>
                  <a:srgbClr val="F4EEE1"/>
                </a:solidFill>
                <a:latin typeface="Georgia"/>
              </a:rPr>
              <a:t>Shade when you need it. </a:t>
            </a:r>
            <a:r>
              <a:rPr sz="1860" b="0" i="0">
                <a:solidFill>
                  <a:srgbClr val="D07A35"/>
                </a:solidFill>
                <a:latin typeface="Georgia"/>
              </a:rPr>
              <a:t>Sun when you want it.</a:t>
            </a:r>
          </a:p>
        </p:txBody>
      </p:sp>
      <p:sp>
        <p:nvSpPr>
          <p:cNvPr id="14" name="TextBox 13"/>
          <p:cNvSpPr txBox="1"/>
          <p:nvPr/>
        </p:nvSpPr>
        <p:spPr>
          <a:xfrm>
            <a:off x="0" y="5778500"/>
            <a:ext cx="12192000" cy="146050"/>
          </a:xfrm>
          <a:prstGeom prst="rect">
            <a:avLst/>
          </a:prstGeom>
          <a:noFill/>
        </p:spPr>
        <p:txBody>
          <a:bodyPr wrap="none" lIns="0" rIns="0" tIns="0" bIns="0" anchor="t">
            <a:spAutoFit/>
          </a:bodyPr>
          <a:lstStyle/>
          <a:p>
            <a:pPr algn="ctr">
              <a:lnSpc>
                <a:spcPts val="1197"/>
              </a:lnSpc>
            </a:pPr>
            <a:r>
              <a:rPr sz="921" b="0" i="0" spc="171">
                <a:solidFill>
                  <a:srgbClr val="E9DCBC"/>
                </a:solidFill>
                <a:latin typeface="Calibri"/>
              </a:rPr>
              <a:t>ABHAMZAY, TEAM 13: MOHAMMED HAMZA ANSARI · ABHAY PREETHAN</a:t>
            </a:r>
          </a:p>
        </p:txBody>
      </p:sp>
      <p:sp>
        <p:nvSpPr>
          <p:cNvPr id="15" name="TextBox 14"/>
          <p:cNvSpPr txBox="1"/>
          <p:nvPr/>
        </p:nvSpPr>
        <p:spPr>
          <a:xfrm>
            <a:off x="0" y="6013450"/>
            <a:ext cx="12192000" cy="146050"/>
          </a:xfrm>
          <a:prstGeom prst="rect">
            <a:avLst/>
          </a:prstGeom>
          <a:noFill/>
        </p:spPr>
        <p:txBody>
          <a:bodyPr wrap="none" lIns="0" rIns="0" tIns="0" bIns="0" anchor="t">
            <a:spAutoFit/>
          </a:bodyPr>
          <a:lstStyle/>
          <a:p>
            <a:pPr algn="ctr">
              <a:lnSpc>
                <a:spcPts val="1197"/>
              </a:lnSpc>
            </a:pPr>
            <a:r>
              <a:rPr sz="921" b="0" i="0" spc="171">
                <a:solidFill>
                  <a:srgbClr val="C8A15A"/>
                </a:solidFill>
                <a:latin typeface="Calibri"/>
              </a:rPr>
              <a:t>TRY IT: ZILL.ITSHAMZA.ME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